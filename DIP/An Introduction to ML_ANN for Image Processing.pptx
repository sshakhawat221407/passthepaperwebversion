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81ED-586D-4D5A-A932-93123AD99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DC381-F8B0-47B2-AE6D-F3C6D56F7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07B9C-8440-48AE-8317-E8A0209A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ED9A-CD35-45FD-BEEB-D970F2FA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2964-5825-4A83-9BDE-F0B083B4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0E79-71AE-435E-92CC-CEC8651F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278E-4068-4190-B25F-A357068EF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F31B-6F13-4F9C-BFE3-BE1084EF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ED415-F16F-42F0-8E3C-82A0175F4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1624-4B5F-40FA-BDAA-57394CF2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2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DFDC-CAE8-4ED8-9696-E4FE4937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ED3A5-72E0-4A50-AE5D-B0E3AFCAB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18F4-4ACC-4612-B950-3691B7B0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5C02-E7F0-447D-A92C-336ED914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6EA71-B455-4AE0-82E4-4604D111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5864-4B2F-49ED-9979-6CF89E88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4563-14E8-4D15-A0BE-85C4AA3D9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685AC-E8F8-438D-8B76-6677B69F0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5570C-7C3D-405F-BA3B-B57E1B85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4A35B-F40A-4E9A-9BBB-D993849C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F838E-3FD2-4AF6-84FB-C0AFB78A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75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BD7-EFCA-4094-88C3-EBE98618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CBCB2-02E2-4C24-81CE-436A364B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8E352-1AB2-4BDA-B2FF-3619FD0ED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0ABF2-08D2-4DCF-A575-B7684D242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7CEC2-6787-4ED2-9C37-DD414D4EA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9053F-0A3C-405D-A18E-F78B82D8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B3F6D-B3B6-4EDF-ACBC-63B98B42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880ED-2442-45E4-97FA-40F95FDA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4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E1E0-35EE-4876-8F13-12DC8388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1B91B-C9E9-489E-AA85-79AD39C0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21AA8-BE56-4108-B450-EA8CA18D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B909C-6C39-4657-81B6-09B2D146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5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53544-EE2C-4507-BED0-B1241F4B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510F8-2EAA-4CE1-BB29-A20B2150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FECC-DD15-4601-800C-0AF69AE1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9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13C9-EF1F-4E7C-808B-37B99E7F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AAA96-74C3-4BFF-8A58-BBDF35BC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BDD50-24EA-4202-B95E-2D4CC9800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3507-587F-4C07-8208-C6DC080B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73D8-CB83-4696-837A-78C1BFE6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86CCA-E68D-4D2E-AC5F-4865C87E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1388-0CD4-4643-9233-E63269F0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B7ED4-D6D5-4859-9CBA-03EBDA5E0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7A741-211B-4C82-8990-716FC9428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0F474-BEB4-4717-B2DB-7DCA2D07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FD733-DDCD-4257-AA9D-5B78509D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BC0D5-1280-4DCB-9806-42B7553C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E45E-28CF-4C5D-9A1C-C1FEF3EB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CFC88-CDBA-40A2-B7A4-F63CE8A09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822F-3EFC-4BFB-B66B-C0F88584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F3DB3-15AD-4510-8858-8D0E2CF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A114-FD54-4AE8-A680-8B12FB08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0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2FC4F-FECA-4F0C-87D8-D1A7E535D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3F882-2509-48F1-99B1-09DBA7A16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00E99-9DA5-4658-A113-DD1039C2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C04D-3B4F-462D-8E93-8C83032C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A8397-3034-433E-9B52-971C7411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4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9FAF1-9B30-4C84-B6EF-B7287946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8A4AD-DF83-47BA-9387-99F4AD17F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EF67D-62E3-4C5F-B337-F01F0AF23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DF09A-480E-44E4-92D6-5E176D98B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CF39D-44C6-4CFB-8DCA-D38817E26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36CA6-2490-4CA9-B4B7-EE4B8E6A0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34250-B71E-487D-B05F-C8BF7597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4.jpg"/><Relationship Id="rId7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kaggle.com/code/raiyancs/cse-404b-cataract-detection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7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3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7659" y="4343400"/>
            <a:ext cx="9876367" cy="0"/>
          </a:xfrm>
          <a:custGeom>
            <a:avLst/>
            <a:gdLst/>
            <a:ahLst/>
            <a:cxnLst/>
            <a:rect l="l" t="t" r="r" b="b"/>
            <a:pathLst>
              <a:path w="7407275">
                <a:moveTo>
                  <a:pt x="0" y="0"/>
                </a:moveTo>
                <a:lnTo>
                  <a:pt x="7406699" y="0"/>
                </a:lnTo>
              </a:path>
            </a:pathLst>
          </a:custGeom>
          <a:ln w="952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721" y="615101"/>
            <a:ext cx="1631843" cy="1482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0581" y="2349521"/>
            <a:ext cx="9070521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2313036" marR="6773" indent="-2282556">
              <a:lnSpc>
                <a:spcPct val="100000"/>
              </a:lnSpc>
              <a:spcBef>
                <a:spcPts val="133"/>
              </a:spcBef>
            </a:pPr>
            <a:r>
              <a:rPr b="1" dirty="0"/>
              <a:t>Introduction</a:t>
            </a:r>
            <a:r>
              <a:rPr b="1" spc="-180" dirty="0"/>
              <a:t> </a:t>
            </a:r>
            <a:r>
              <a:rPr b="1" dirty="0"/>
              <a:t>to</a:t>
            </a:r>
            <a:r>
              <a:rPr b="1" spc="-180" dirty="0"/>
              <a:t> </a:t>
            </a:r>
            <a:r>
              <a:rPr b="1" dirty="0"/>
              <a:t>Artificial</a:t>
            </a:r>
            <a:r>
              <a:rPr b="1" spc="-180" dirty="0"/>
              <a:t> </a:t>
            </a:r>
            <a:r>
              <a:rPr b="1" dirty="0"/>
              <a:t>Neural</a:t>
            </a:r>
            <a:r>
              <a:rPr b="1" spc="-180" dirty="0"/>
              <a:t> </a:t>
            </a:r>
            <a:r>
              <a:rPr b="1" spc="-13" dirty="0"/>
              <a:t>Network </a:t>
            </a:r>
            <a:r>
              <a:rPr b="1" dirty="0"/>
              <a:t>and</a:t>
            </a:r>
            <a:r>
              <a:rPr b="1" spc="-73" dirty="0"/>
              <a:t> </a:t>
            </a:r>
            <a:r>
              <a:rPr b="1" dirty="0"/>
              <a:t>It’s</a:t>
            </a:r>
            <a:r>
              <a:rPr b="1" spc="-73" dirty="0"/>
              <a:t> </a:t>
            </a:r>
            <a:r>
              <a:rPr b="1" dirty="0"/>
              <a:t>Usage</a:t>
            </a:r>
            <a:r>
              <a:rPr b="1" spc="-67" dirty="0"/>
              <a:t> </a:t>
            </a:r>
            <a:r>
              <a:rPr b="1" dirty="0"/>
              <a:t>in</a:t>
            </a:r>
            <a:r>
              <a:rPr b="1" spc="-73" dirty="0"/>
              <a:t> </a:t>
            </a:r>
            <a:r>
              <a:rPr b="1" spc="-33" dirty="0"/>
              <a:t>DIP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2016" y="4292559"/>
            <a:ext cx="6995160" cy="17357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42000"/>
              </a:lnSpc>
              <a:spcBef>
                <a:spcPts val="133"/>
              </a:spcBef>
            </a:pP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CSE</a:t>
            </a:r>
            <a:r>
              <a:rPr sz="2667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4883:</a:t>
            </a:r>
            <a:r>
              <a:rPr sz="2667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Digital</a:t>
            </a:r>
            <a:r>
              <a:rPr sz="2667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Image</a:t>
            </a:r>
            <a:r>
              <a:rPr sz="2667" spc="-7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spc="-13" dirty="0">
                <a:solidFill>
                  <a:srgbClr val="3E3E3E"/>
                </a:solidFill>
                <a:latin typeface="Calibri"/>
                <a:cs typeface="Calibri"/>
              </a:rPr>
              <a:t>Processing</a:t>
            </a:r>
            <a:r>
              <a:rPr lang="en-US" sz="2667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</a:p>
          <a:p>
            <a:pPr marL="16933" marR="6773">
              <a:lnSpc>
                <a:spcPct val="142000"/>
              </a:lnSpc>
              <a:spcBef>
                <a:spcPts val="133"/>
              </a:spcBef>
            </a:pPr>
            <a:r>
              <a:rPr lang="en-US" sz="2667" spc="-80" dirty="0">
                <a:solidFill>
                  <a:srgbClr val="3E3E3E"/>
                </a:solidFill>
                <a:latin typeface="Calibri"/>
                <a:cs typeface="Calibri"/>
              </a:rPr>
              <a:t>Md. Tanvir Raihan</a:t>
            </a:r>
          </a:p>
          <a:p>
            <a:pPr marL="16933" marR="6773">
              <a:lnSpc>
                <a:spcPct val="142000"/>
              </a:lnSpc>
              <a:spcBef>
                <a:spcPts val="133"/>
              </a:spcBef>
            </a:pPr>
            <a:r>
              <a:rPr lang="en-US" sz="2667" spc="-80" dirty="0">
                <a:solidFill>
                  <a:srgbClr val="3E3E3E"/>
                </a:solidFill>
                <a:latin typeface="Calibri"/>
                <a:cs typeface="Calibri"/>
              </a:rPr>
              <a:t>Slide Credit: </a:t>
            </a:r>
            <a:r>
              <a:rPr lang="en-US" sz="2667" spc="-80" dirty="0" err="1">
                <a:solidFill>
                  <a:srgbClr val="3E3E3E"/>
                </a:solidFill>
                <a:latin typeface="Calibri"/>
                <a:cs typeface="Calibri"/>
              </a:rPr>
              <a:t>Raiyan</a:t>
            </a:r>
            <a:r>
              <a:rPr lang="en-US" sz="2667" spc="-80" dirty="0">
                <a:solidFill>
                  <a:srgbClr val="3E3E3E"/>
                </a:solidFill>
                <a:latin typeface="Calibri"/>
                <a:cs typeface="Calibri"/>
              </a:rPr>
              <a:t> Rahman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700" y="111204"/>
            <a:ext cx="12218247" cy="1295400"/>
            <a:chOff x="-9525" y="83403"/>
            <a:chExt cx="9163685" cy="971550"/>
          </a:xfrm>
        </p:grpSpPr>
        <p:sp>
          <p:nvSpPr>
            <p:cNvPr id="3" name="object 3"/>
            <p:cNvSpPr/>
            <p:nvPr/>
          </p:nvSpPr>
          <p:spPr>
            <a:xfrm>
              <a:off x="0" y="686262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187"/>
              <a:ext cx="6846955" cy="5632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6955" cy="5632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9" name="object 9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6246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Little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Inspiration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from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Biology!</a:t>
            </a:r>
            <a:endParaRPr sz="3200"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6967" y="1198834"/>
            <a:ext cx="8387796" cy="47181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367" y="6532543"/>
            <a:ext cx="241300" cy="215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753"/>
              </a:lnSpc>
            </a:pPr>
            <a:r>
              <a:rPr sz="1467" spc="-33" dirty="0">
                <a:latin typeface="Arial MT"/>
                <a:cs typeface="Arial MT"/>
              </a:rPr>
              <a:t>37</a:t>
            </a:r>
            <a:endParaRPr sz="146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550" y="1180866"/>
            <a:ext cx="7700433" cy="51485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93403" indent="-628211">
              <a:spcBef>
                <a:spcPts val="133"/>
              </a:spcBef>
              <a:buFont typeface="Segoe UI Symbol"/>
              <a:buChar char="❖"/>
              <a:tabLst>
                <a:tab pos="693403" algn="l"/>
              </a:tabLst>
            </a:pPr>
            <a:r>
              <a:rPr sz="2933" spc="-13" dirty="0">
                <a:latin typeface="Times New Roman"/>
                <a:cs typeface="Times New Roman"/>
              </a:rPr>
              <a:t>Learning</a:t>
            </a:r>
            <a:endParaRPr sz="2933">
              <a:latin typeface="Times New Roman"/>
              <a:cs typeface="Times New Roman"/>
            </a:endParaRPr>
          </a:p>
          <a:p>
            <a:pPr>
              <a:spcBef>
                <a:spcPts val="305"/>
              </a:spcBef>
              <a:buFont typeface="Segoe UI Symbol"/>
              <a:buChar char="❖"/>
            </a:pPr>
            <a:endParaRPr sz="2933">
              <a:latin typeface="Times New Roman"/>
              <a:cs typeface="Times New Roman"/>
            </a:endParaRPr>
          </a:p>
          <a:p>
            <a:pPr marL="693403" indent="-628211">
              <a:buFont typeface="Segoe UI Symbol"/>
              <a:buChar char="❖"/>
              <a:tabLst>
                <a:tab pos="693403" algn="l"/>
              </a:tabLst>
            </a:pPr>
            <a:r>
              <a:rPr sz="2933" dirty="0">
                <a:latin typeface="Times New Roman"/>
                <a:cs typeface="Times New Roman"/>
              </a:rPr>
              <a:t>Forms</a:t>
            </a:r>
            <a:r>
              <a:rPr sz="2933" spc="-73" dirty="0">
                <a:latin typeface="Times New Roman"/>
                <a:cs typeface="Times New Roman"/>
              </a:rPr>
              <a:t> </a:t>
            </a:r>
            <a:r>
              <a:rPr sz="2933" dirty="0">
                <a:latin typeface="Times New Roman"/>
                <a:cs typeface="Times New Roman"/>
              </a:rPr>
              <a:t>of</a:t>
            </a:r>
            <a:r>
              <a:rPr sz="2933" spc="-60" dirty="0">
                <a:latin typeface="Times New Roman"/>
                <a:cs typeface="Times New Roman"/>
              </a:rPr>
              <a:t> </a:t>
            </a:r>
            <a:r>
              <a:rPr sz="2933" spc="-13" dirty="0">
                <a:latin typeface="Times New Roman"/>
                <a:cs typeface="Times New Roman"/>
              </a:rPr>
              <a:t>Learning</a:t>
            </a:r>
            <a:endParaRPr sz="2933">
              <a:latin typeface="Times New Roman"/>
              <a:cs typeface="Times New Roman"/>
            </a:endParaRPr>
          </a:p>
          <a:p>
            <a:pPr>
              <a:spcBef>
                <a:spcPts val="305"/>
              </a:spcBef>
              <a:buFont typeface="Segoe UI Symbol"/>
              <a:buChar char="❖"/>
            </a:pPr>
            <a:endParaRPr sz="2933">
              <a:latin typeface="Times New Roman"/>
              <a:cs typeface="Times New Roman"/>
            </a:endParaRPr>
          </a:p>
          <a:p>
            <a:pPr marL="693403" indent="-628211">
              <a:buFont typeface="Segoe UI Symbol"/>
              <a:buChar char="❖"/>
              <a:tabLst>
                <a:tab pos="693403" algn="l"/>
              </a:tabLst>
            </a:pPr>
            <a:r>
              <a:rPr sz="2933" dirty="0">
                <a:latin typeface="Times New Roman"/>
                <a:cs typeface="Times New Roman"/>
              </a:rPr>
              <a:t>Supervised </a:t>
            </a:r>
            <a:r>
              <a:rPr sz="2933" spc="-13" dirty="0">
                <a:latin typeface="Times New Roman"/>
                <a:cs typeface="Times New Roman"/>
              </a:rPr>
              <a:t>Learning</a:t>
            </a:r>
            <a:endParaRPr sz="2933">
              <a:latin typeface="Times New Roman"/>
              <a:cs typeface="Times New Roman"/>
            </a:endParaRPr>
          </a:p>
          <a:p>
            <a:pPr>
              <a:spcBef>
                <a:spcPts val="305"/>
              </a:spcBef>
              <a:buFont typeface="Segoe UI Symbol"/>
              <a:buChar char="❖"/>
            </a:pPr>
            <a:endParaRPr sz="2933">
              <a:latin typeface="Times New Roman"/>
              <a:cs typeface="Times New Roman"/>
            </a:endParaRPr>
          </a:p>
          <a:p>
            <a:pPr marL="693403" indent="-628211">
              <a:buFont typeface="Segoe UI Symbol"/>
              <a:buChar char="❖"/>
              <a:tabLst>
                <a:tab pos="693403" algn="l"/>
              </a:tabLst>
            </a:pPr>
            <a:r>
              <a:rPr sz="2933" dirty="0">
                <a:latin typeface="Times New Roman"/>
                <a:cs typeface="Times New Roman"/>
              </a:rPr>
              <a:t>Artificial</a:t>
            </a:r>
            <a:r>
              <a:rPr sz="2933" spc="-152" dirty="0">
                <a:latin typeface="Times New Roman"/>
                <a:cs typeface="Times New Roman"/>
              </a:rPr>
              <a:t> </a:t>
            </a:r>
            <a:r>
              <a:rPr sz="2933" dirty="0">
                <a:latin typeface="Times New Roman"/>
                <a:cs typeface="Times New Roman"/>
              </a:rPr>
              <a:t>Neural</a:t>
            </a:r>
            <a:r>
              <a:rPr sz="2933" spc="-147" dirty="0">
                <a:latin typeface="Times New Roman"/>
                <a:cs typeface="Times New Roman"/>
              </a:rPr>
              <a:t> </a:t>
            </a:r>
            <a:r>
              <a:rPr sz="2933" spc="-13" dirty="0">
                <a:latin typeface="Times New Roman"/>
                <a:cs typeface="Times New Roman"/>
              </a:rPr>
              <a:t>Network</a:t>
            </a:r>
            <a:endParaRPr sz="2933">
              <a:latin typeface="Times New Roman"/>
              <a:cs typeface="Times New Roman"/>
            </a:endParaRPr>
          </a:p>
          <a:p>
            <a:pPr>
              <a:spcBef>
                <a:spcPts val="305"/>
              </a:spcBef>
              <a:buFont typeface="Segoe UI Symbol"/>
              <a:buChar char="❖"/>
            </a:pPr>
            <a:endParaRPr sz="2933">
              <a:latin typeface="Times New Roman"/>
              <a:cs typeface="Times New Roman"/>
            </a:endParaRPr>
          </a:p>
          <a:p>
            <a:pPr marL="693403" indent="-628211">
              <a:buFont typeface="Segoe UI Symbol"/>
              <a:buChar char="❖"/>
              <a:tabLst>
                <a:tab pos="693403" algn="l"/>
              </a:tabLst>
            </a:pPr>
            <a:r>
              <a:rPr sz="2933" dirty="0">
                <a:latin typeface="Times New Roman"/>
                <a:cs typeface="Times New Roman"/>
              </a:rPr>
              <a:t>Activation</a:t>
            </a:r>
            <a:r>
              <a:rPr sz="2933" spc="-33" dirty="0">
                <a:latin typeface="Times New Roman"/>
                <a:cs typeface="Times New Roman"/>
              </a:rPr>
              <a:t> </a:t>
            </a:r>
            <a:r>
              <a:rPr sz="2933" dirty="0">
                <a:latin typeface="Times New Roman"/>
                <a:cs typeface="Times New Roman"/>
              </a:rPr>
              <a:t>Functions</a:t>
            </a:r>
            <a:r>
              <a:rPr sz="2933" spc="-40" dirty="0">
                <a:latin typeface="Times New Roman"/>
                <a:cs typeface="Times New Roman"/>
              </a:rPr>
              <a:t> </a:t>
            </a:r>
            <a:r>
              <a:rPr sz="2933" dirty="0">
                <a:latin typeface="Times New Roman"/>
                <a:cs typeface="Times New Roman"/>
              </a:rPr>
              <a:t>and</a:t>
            </a:r>
            <a:r>
              <a:rPr sz="2933" spc="-27" dirty="0">
                <a:latin typeface="Times New Roman"/>
                <a:cs typeface="Times New Roman"/>
              </a:rPr>
              <a:t> </a:t>
            </a:r>
            <a:r>
              <a:rPr sz="2933" spc="-13" dirty="0">
                <a:latin typeface="Times New Roman"/>
                <a:cs typeface="Times New Roman"/>
              </a:rPr>
              <a:t>Performance</a:t>
            </a:r>
            <a:r>
              <a:rPr sz="2933" spc="-40" dirty="0">
                <a:latin typeface="Times New Roman"/>
                <a:cs typeface="Times New Roman"/>
              </a:rPr>
              <a:t> </a:t>
            </a:r>
            <a:r>
              <a:rPr sz="2933" spc="-13" dirty="0">
                <a:latin typeface="Times New Roman"/>
                <a:cs typeface="Times New Roman"/>
              </a:rPr>
              <a:t>Metrics</a:t>
            </a:r>
            <a:endParaRPr sz="2933">
              <a:latin typeface="Times New Roman"/>
              <a:cs typeface="Times New Roman"/>
            </a:endParaRPr>
          </a:p>
          <a:p>
            <a:pPr>
              <a:spcBef>
                <a:spcPts val="147"/>
              </a:spcBef>
              <a:buFont typeface="Segoe UI Symbol"/>
              <a:buChar char="❖"/>
            </a:pPr>
            <a:endParaRPr sz="2933">
              <a:latin typeface="Times New Roman"/>
              <a:cs typeface="Times New Roman"/>
            </a:endParaRPr>
          </a:p>
          <a:p>
            <a:pPr marL="693403" indent="-676470">
              <a:buFont typeface="SimSun-ExtB"/>
              <a:buChar char="❖"/>
              <a:tabLst>
                <a:tab pos="693403" algn="l"/>
              </a:tabLst>
            </a:pPr>
            <a:r>
              <a:rPr sz="2933" spc="-13" dirty="0">
                <a:latin typeface="Times New Roman"/>
                <a:cs typeface="Times New Roman"/>
              </a:rPr>
              <a:t>Code!</a:t>
            </a:r>
            <a:endParaRPr sz="2933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31326" algn="ctr">
              <a:lnSpc>
                <a:spcPct val="100000"/>
              </a:lnSpc>
              <a:spcBef>
                <a:spcPts val="80"/>
              </a:spcBef>
            </a:pPr>
            <a:r>
              <a:rPr sz="3200" spc="-13" dirty="0">
                <a:solidFill>
                  <a:srgbClr val="FFFFFF"/>
                </a:solidFill>
              </a:rPr>
              <a:t>Outline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8" name="object 8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634" y="1175568"/>
            <a:ext cx="10241279" cy="26200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82123">
              <a:spcBef>
                <a:spcPts val="133"/>
              </a:spcBef>
              <a:tabLst>
                <a:tab pos="1827908" algn="l"/>
                <a:tab pos="2437491" algn="l"/>
                <a:tab pos="4266247" algn="l"/>
                <a:tab pos="4875831" algn="l"/>
                <a:tab pos="5143371" algn="l"/>
                <a:tab pos="5485416" algn="l"/>
                <a:tab pos="7314170" algn="l"/>
                <a:tab pos="7923755" algn="l"/>
              </a:tabLst>
            </a:pPr>
            <a:r>
              <a:rPr sz="3333" dirty="0">
                <a:latin typeface="Times New Roman"/>
                <a:cs typeface="Times New Roman"/>
              </a:rPr>
              <a:t>An</a:t>
            </a:r>
            <a:r>
              <a:rPr sz="3333" spc="-24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agent</a:t>
            </a:r>
            <a:r>
              <a:rPr sz="3333" spc="-107" dirty="0">
                <a:latin typeface="Times New Roman"/>
                <a:cs typeface="Times New Roman"/>
              </a:rPr>
              <a:t> </a:t>
            </a:r>
            <a:r>
              <a:rPr sz="3333" spc="-33" dirty="0">
                <a:latin typeface="Times New Roman"/>
                <a:cs typeface="Times New Roman"/>
              </a:rPr>
              <a:t>is</a:t>
            </a:r>
            <a:r>
              <a:rPr sz="3333" dirty="0">
                <a:latin typeface="Times New Roman"/>
                <a:cs typeface="Times New Roman"/>
              </a:rPr>
              <a:t>	</a:t>
            </a:r>
            <a:r>
              <a:rPr sz="3333" b="1" spc="-13" dirty="0">
                <a:solidFill>
                  <a:srgbClr val="00AEEE"/>
                </a:solidFill>
                <a:latin typeface="Times New Roman"/>
                <a:cs typeface="Times New Roman"/>
              </a:rPr>
              <a:t>learning</a:t>
            </a:r>
            <a:r>
              <a:rPr sz="3333" b="1" dirty="0">
                <a:solidFill>
                  <a:srgbClr val="00AEEE"/>
                </a:solidFill>
                <a:latin typeface="Times New Roman"/>
                <a:cs typeface="Times New Roman"/>
              </a:rPr>
              <a:t>	</a:t>
            </a:r>
            <a:r>
              <a:rPr sz="3333" spc="-33" dirty="0">
                <a:latin typeface="Times New Roman"/>
                <a:cs typeface="Times New Roman"/>
              </a:rPr>
              <a:t>if</a:t>
            </a:r>
            <a:r>
              <a:rPr sz="3333" dirty="0">
                <a:latin typeface="Times New Roman"/>
                <a:cs typeface="Times New Roman"/>
              </a:rPr>
              <a:t>	</a:t>
            </a:r>
            <a:r>
              <a:rPr sz="3333" spc="-33" dirty="0">
                <a:latin typeface="Times New Roman"/>
                <a:cs typeface="Times New Roman"/>
              </a:rPr>
              <a:t>it</a:t>
            </a:r>
            <a:r>
              <a:rPr sz="3333" dirty="0">
                <a:latin typeface="Times New Roman"/>
                <a:cs typeface="Times New Roman"/>
              </a:rPr>
              <a:t>		</a:t>
            </a:r>
            <a:r>
              <a:rPr sz="3333" spc="-13" dirty="0">
                <a:latin typeface="Times New Roman"/>
                <a:cs typeface="Times New Roman"/>
              </a:rPr>
              <a:t>improves</a:t>
            </a:r>
            <a:r>
              <a:rPr sz="3333" dirty="0">
                <a:latin typeface="Times New Roman"/>
                <a:cs typeface="Times New Roman"/>
              </a:rPr>
              <a:t>	</a:t>
            </a:r>
            <a:r>
              <a:rPr sz="3333" spc="-33" dirty="0">
                <a:latin typeface="Times New Roman"/>
                <a:cs typeface="Times New Roman"/>
              </a:rPr>
              <a:t>its</a:t>
            </a:r>
            <a:r>
              <a:rPr sz="3333" dirty="0">
                <a:latin typeface="Times New Roman"/>
                <a:cs typeface="Times New Roman"/>
              </a:rPr>
              <a:t>	</a:t>
            </a:r>
            <a:r>
              <a:rPr sz="3333" spc="-13" dirty="0">
                <a:latin typeface="Times New Roman"/>
                <a:cs typeface="Times New Roman"/>
              </a:rPr>
              <a:t>performance </a:t>
            </a:r>
            <a:r>
              <a:rPr sz="3333" dirty="0">
                <a:latin typeface="Times New Roman"/>
                <a:cs typeface="Times New Roman"/>
              </a:rPr>
              <a:t>on</a:t>
            </a:r>
            <a:r>
              <a:rPr sz="3333" spc="500" dirty="0">
                <a:latin typeface="Times New Roman"/>
                <a:cs typeface="Times New Roman"/>
              </a:rPr>
              <a:t> </a:t>
            </a:r>
            <a:r>
              <a:rPr sz="3333" spc="-13" dirty="0">
                <a:latin typeface="Times New Roman"/>
                <a:cs typeface="Times New Roman"/>
              </a:rPr>
              <a:t>future</a:t>
            </a:r>
            <a:r>
              <a:rPr sz="3333" dirty="0">
                <a:latin typeface="Times New Roman"/>
                <a:cs typeface="Times New Roman"/>
              </a:rPr>
              <a:t>	tasks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after</a:t>
            </a:r>
            <a:r>
              <a:rPr sz="3333" spc="-80" dirty="0">
                <a:latin typeface="Times New Roman"/>
                <a:cs typeface="Times New Roman"/>
              </a:rPr>
              <a:t> </a:t>
            </a:r>
            <a:r>
              <a:rPr sz="3333" spc="-13" dirty="0">
                <a:latin typeface="Times New Roman"/>
                <a:cs typeface="Times New Roman"/>
              </a:rPr>
              <a:t>making</a:t>
            </a:r>
            <a:r>
              <a:rPr sz="3333" dirty="0">
                <a:latin typeface="Times New Roman"/>
                <a:cs typeface="Times New Roman"/>
              </a:rPr>
              <a:t>	</a:t>
            </a:r>
            <a:r>
              <a:rPr sz="3333" spc="-13" dirty="0">
                <a:latin typeface="Times New Roman"/>
                <a:cs typeface="Times New Roman"/>
              </a:rPr>
              <a:t>observations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about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the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spc="-13" dirty="0">
                <a:latin typeface="Times New Roman"/>
                <a:cs typeface="Times New Roman"/>
              </a:rPr>
              <a:t>world.</a:t>
            </a:r>
            <a:endParaRPr sz="3333">
              <a:latin typeface="Times New Roman"/>
              <a:cs typeface="Times New Roman"/>
            </a:endParaRPr>
          </a:p>
          <a:p>
            <a:pPr>
              <a:spcBef>
                <a:spcPts val="327"/>
              </a:spcBef>
            </a:pPr>
            <a:endParaRPr sz="3333">
              <a:latin typeface="Times New Roman"/>
              <a:cs typeface="Times New Roman"/>
            </a:endParaRPr>
          </a:p>
          <a:p>
            <a:pPr marL="16933" marR="6773">
              <a:tabLst>
                <a:tab pos="4422876" algn="l"/>
              </a:tabLst>
            </a:pPr>
            <a:r>
              <a:rPr sz="3333" dirty="0">
                <a:latin typeface="Times New Roman"/>
                <a:cs typeface="Times New Roman"/>
              </a:rPr>
              <a:t>In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which</a:t>
            </a:r>
            <a:r>
              <a:rPr sz="3333" spc="-80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we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describe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agents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that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can</a:t>
            </a:r>
            <a:r>
              <a:rPr sz="3333" spc="-80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improve</a:t>
            </a:r>
            <a:r>
              <a:rPr sz="3333" spc="-87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their</a:t>
            </a:r>
            <a:r>
              <a:rPr sz="3333" spc="-80" dirty="0">
                <a:latin typeface="Times New Roman"/>
                <a:cs typeface="Times New Roman"/>
              </a:rPr>
              <a:t> </a:t>
            </a:r>
            <a:r>
              <a:rPr sz="3333" spc="-13" dirty="0">
                <a:latin typeface="Times New Roman"/>
                <a:cs typeface="Times New Roman"/>
              </a:rPr>
              <a:t>behavior </a:t>
            </a:r>
            <a:r>
              <a:rPr sz="3333" dirty="0">
                <a:latin typeface="Times New Roman"/>
                <a:cs typeface="Times New Roman"/>
              </a:rPr>
              <a:t>through</a:t>
            </a:r>
            <a:r>
              <a:rPr sz="3333" spc="-113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diligent</a:t>
            </a:r>
            <a:r>
              <a:rPr sz="3333" spc="-113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study</a:t>
            </a:r>
            <a:r>
              <a:rPr sz="3333" spc="-107" dirty="0">
                <a:latin typeface="Times New Roman"/>
                <a:cs typeface="Times New Roman"/>
              </a:rPr>
              <a:t> </a:t>
            </a:r>
            <a:r>
              <a:rPr sz="3333" spc="-33" dirty="0">
                <a:latin typeface="Times New Roman"/>
                <a:cs typeface="Times New Roman"/>
              </a:rPr>
              <a:t>of</a:t>
            </a:r>
            <a:r>
              <a:rPr sz="3333" dirty="0">
                <a:latin typeface="Times New Roman"/>
                <a:cs typeface="Times New Roman"/>
              </a:rPr>
              <a:t>	their</a:t>
            </a:r>
            <a:r>
              <a:rPr sz="3333" spc="-33" dirty="0">
                <a:latin typeface="Times New Roman"/>
                <a:cs typeface="Times New Roman"/>
              </a:rPr>
              <a:t> </a:t>
            </a:r>
            <a:r>
              <a:rPr sz="3333" dirty="0">
                <a:latin typeface="Times New Roman"/>
                <a:cs typeface="Times New Roman"/>
              </a:rPr>
              <a:t>own</a:t>
            </a:r>
            <a:r>
              <a:rPr sz="3333" spc="-33" dirty="0">
                <a:latin typeface="Times New Roman"/>
                <a:cs typeface="Times New Roman"/>
              </a:rPr>
              <a:t> </a:t>
            </a:r>
            <a:r>
              <a:rPr sz="3333" spc="-13" dirty="0">
                <a:latin typeface="Times New Roman"/>
                <a:cs typeface="Times New Roman"/>
              </a:rPr>
              <a:t>experiences.</a:t>
            </a:r>
            <a:endParaRPr sz="3333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8786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What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is</a:t>
            </a:r>
            <a:r>
              <a:rPr sz="3200" spc="-67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“Learning”</a:t>
            </a:r>
            <a:r>
              <a:rPr sz="3200" spc="-67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in</a:t>
            </a:r>
            <a:r>
              <a:rPr sz="3200" spc="-67" dirty="0">
                <a:solidFill>
                  <a:srgbClr val="FFFFFF"/>
                </a:solidFill>
              </a:rPr>
              <a:t> </a:t>
            </a:r>
            <a:r>
              <a:rPr sz="3200" spc="-33" dirty="0">
                <a:solidFill>
                  <a:srgbClr val="FFFFFF"/>
                </a:solidFill>
              </a:rPr>
              <a:t>AI?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8" name="object 8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499" y="1180295"/>
            <a:ext cx="8511540" cy="30486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7315">
              <a:spcBef>
                <a:spcPts val="133"/>
              </a:spcBef>
            </a:pP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component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improved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solidFill>
                  <a:srgbClr val="00AE50"/>
                </a:solidFill>
                <a:latin typeface="Times New Roman"/>
                <a:cs typeface="Times New Roman"/>
              </a:rPr>
              <a:t>data</a:t>
            </a:r>
            <a:r>
              <a:rPr sz="2400" spc="-13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280"/>
              </a:spcBef>
            </a:pPr>
            <a:endParaRPr sz="2400">
              <a:latin typeface="Times New Roman"/>
              <a:cs typeface="Times New Roman"/>
            </a:endParaRPr>
          </a:p>
          <a:p>
            <a:pPr marL="147315"/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improvements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major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factors: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280"/>
              </a:spcBef>
            </a:pPr>
            <a:endParaRPr sz="2400">
              <a:latin typeface="Times New Roman"/>
              <a:cs typeface="Times New Roman"/>
            </a:endParaRPr>
          </a:p>
          <a:p>
            <a:pPr marL="16933">
              <a:tabLst>
                <a:tab pos="604505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component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improved.</a:t>
            </a:r>
            <a:endParaRPr sz="2400">
              <a:latin typeface="Times New Roman"/>
              <a:cs typeface="Times New Roman"/>
            </a:endParaRPr>
          </a:p>
          <a:p>
            <a:pPr marL="16933">
              <a:tabLst>
                <a:tab pos="604505" algn="l"/>
              </a:tabLst>
            </a:pPr>
            <a:r>
              <a:rPr sz="2400" spc="240" dirty="0">
                <a:solidFill>
                  <a:srgbClr val="006FC0"/>
                </a:solidFill>
                <a:latin typeface="Segoe UI Symbol"/>
                <a:cs typeface="Segoe UI Symbol"/>
              </a:rPr>
              <a:t>✔</a:t>
            </a:r>
            <a:r>
              <a:rPr sz="2400" dirty="0">
                <a:solidFill>
                  <a:srgbClr val="006FC0"/>
                </a:solidFill>
                <a:latin typeface="Segoe UI Symbol"/>
                <a:cs typeface="Segoe UI Symbol"/>
              </a:rPr>
              <a:t>	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2400" spc="-6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prior</a:t>
            </a:r>
            <a:r>
              <a:rPr sz="24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006FC0"/>
                </a:solidFill>
                <a:latin typeface="Times New Roman"/>
                <a:cs typeface="Times New Roman"/>
              </a:rPr>
              <a:t>knowledge</a:t>
            </a:r>
            <a:r>
              <a:rPr sz="2400" spc="-6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agent</a:t>
            </a:r>
            <a:r>
              <a:rPr sz="2400" spc="-6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already</a:t>
            </a:r>
            <a:r>
              <a:rPr sz="24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7" dirty="0">
                <a:solidFill>
                  <a:srgbClr val="006FC0"/>
                </a:solidFill>
                <a:latin typeface="Times New Roman"/>
                <a:cs typeface="Times New Roman"/>
              </a:rPr>
              <a:t>has.</a:t>
            </a:r>
            <a:endParaRPr sz="2400">
              <a:latin typeface="Times New Roman"/>
              <a:cs typeface="Times New Roman"/>
            </a:endParaRPr>
          </a:p>
          <a:p>
            <a:pPr marL="16933">
              <a:tabLst>
                <a:tab pos="604505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component.</a:t>
            </a:r>
            <a:endParaRPr sz="2400">
              <a:latin typeface="Times New Roman"/>
              <a:cs typeface="Times New Roman"/>
            </a:endParaRPr>
          </a:p>
          <a:p>
            <a:pPr marL="16933">
              <a:tabLst>
                <a:tab pos="604505" algn="l"/>
              </a:tabLst>
            </a:pPr>
            <a:r>
              <a:rPr sz="2400" spc="240" dirty="0">
                <a:solidFill>
                  <a:srgbClr val="006FC0"/>
                </a:solidFill>
                <a:latin typeface="Segoe UI Symbol"/>
                <a:cs typeface="Segoe UI Symbol"/>
              </a:rPr>
              <a:t>✔</a:t>
            </a:r>
            <a:r>
              <a:rPr sz="2400" dirty="0">
                <a:solidFill>
                  <a:srgbClr val="006FC0"/>
                </a:solidFill>
                <a:latin typeface="Segoe UI Symbol"/>
                <a:cs typeface="Segoe UI Symbol"/>
              </a:rPr>
              <a:t>	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2400" spc="-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feedback</a:t>
            </a:r>
            <a:r>
              <a:rPr sz="24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400" spc="-6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available</a:t>
            </a:r>
            <a:r>
              <a:rPr sz="2400" spc="-6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4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learn</a:t>
            </a:r>
            <a:r>
              <a:rPr sz="2400" spc="-53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006FC0"/>
                </a:solidFill>
                <a:latin typeface="Times New Roman"/>
                <a:cs typeface="Times New Roman"/>
              </a:rPr>
              <a:t>from.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8656" y="6556708"/>
            <a:ext cx="2040467" cy="308187"/>
            <a:chOff x="7618992" y="4917531"/>
            <a:chExt cx="1530350" cy="231140"/>
          </a:xfrm>
        </p:grpSpPr>
        <p:sp>
          <p:nvSpPr>
            <p:cNvPr id="4" name="object 4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1272588" y="221205"/>
                  </a:moveTo>
                  <a:lnTo>
                    <a:pt x="0" y="221205"/>
                  </a:ln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  <a:lnTo>
                    <a:pt x="1272588" y="221205"/>
                  </a:lnTo>
                  <a:close/>
                </a:path>
              </a:pathLst>
            </a:custGeom>
            <a:solidFill>
              <a:srgbClr val="2683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0" y="221205"/>
                  </a:move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</a:path>
              </a:pathLst>
            </a:custGeom>
            <a:ln w="9524">
              <a:solidFill>
                <a:srgbClr val="2683C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Forms</a:t>
            </a:r>
            <a:r>
              <a:rPr sz="3200" spc="-6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of</a:t>
            </a:r>
            <a:r>
              <a:rPr sz="3200" spc="-6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Learning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3" name="object 13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95081" y="6627981"/>
            <a:ext cx="158919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467"/>
              </a:lnSpc>
            </a:pPr>
            <a:r>
              <a:rPr sz="1400" b="1" spc="-247" dirty="0">
                <a:solidFill>
                  <a:srgbClr val="FFFFFF"/>
                </a:solidFill>
                <a:latin typeface="Calibri"/>
                <a:cs typeface="Calibri"/>
              </a:rPr>
              <a:t>LecDReapiytaonf,</a:t>
            </a:r>
            <a:r>
              <a:rPr sz="1400" b="1" spc="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3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2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967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2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-813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308" y="1180295"/>
            <a:ext cx="10489353" cy="4449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6837">
              <a:spcBef>
                <a:spcPts val="133"/>
              </a:spcBef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E50"/>
                </a:solidFill>
                <a:latin typeface="Times New Roman"/>
                <a:cs typeface="Times New Roman"/>
              </a:rPr>
              <a:t>three</a:t>
            </a:r>
            <a:r>
              <a:rPr sz="2400" spc="-47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feedback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determine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learning:</a:t>
            </a:r>
            <a:endParaRPr sz="2400">
              <a:latin typeface="Times New Roman"/>
              <a:cs typeface="Times New Roman"/>
            </a:endParaRPr>
          </a:p>
          <a:p>
            <a:pPr marL="455495" indent="-438562">
              <a:buFont typeface="Segoe UI Symbol"/>
              <a:buChar char="❑"/>
              <a:tabLst>
                <a:tab pos="455495" algn="l"/>
              </a:tabLst>
            </a:pPr>
            <a:r>
              <a:rPr sz="2400" dirty="0">
                <a:solidFill>
                  <a:srgbClr val="00AEEE"/>
                </a:solidFill>
                <a:latin typeface="Times New Roman"/>
                <a:cs typeface="Times New Roman"/>
              </a:rPr>
              <a:t>Unsupervised</a:t>
            </a:r>
            <a:r>
              <a:rPr sz="2400" spc="-133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00AEEE"/>
                </a:solidFill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442796">
              <a:tabLst>
                <a:tab pos="912684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though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explicit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feedback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supplied</a:t>
            </a:r>
            <a:endParaRPr sz="2400">
              <a:latin typeface="Times New Roman"/>
              <a:cs typeface="Times New Roman"/>
            </a:endParaRPr>
          </a:p>
          <a:p>
            <a:pPr marL="442796">
              <a:tabLst>
                <a:tab pos="912684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Clustering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“good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traffic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days”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“bad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traffic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days”</a:t>
            </a:r>
            <a:endParaRPr sz="2400">
              <a:latin typeface="Times New Roman"/>
              <a:cs typeface="Times New Roman"/>
            </a:endParaRPr>
          </a:p>
          <a:p>
            <a:pPr marL="455495" indent="-438562">
              <a:buFont typeface="Segoe UI Symbol"/>
              <a:buChar char="❑"/>
              <a:tabLst>
                <a:tab pos="455495" algn="l"/>
              </a:tabLst>
            </a:pPr>
            <a:r>
              <a:rPr sz="2400" spc="-13" dirty="0">
                <a:solidFill>
                  <a:srgbClr val="00AE50"/>
                </a:solidFill>
                <a:latin typeface="Times New Roman"/>
                <a:cs typeface="Times New Roman"/>
              </a:rPr>
              <a:t>Reinforcement</a:t>
            </a:r>
            <a:r>
              <a:rPr sz="2400" spc="-60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00AE50"/>
                </a:solidFill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442796">
              <a:tabLst>
                <a:tab pos="912684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learns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series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reinforcements—</a:t>
            </a:r>
            <a:r>
              <a:rPr sz="2400" dirty="0">
                <a:latin typeface="Times New Roman"/>
                <a:cs typeface="Times New Roman"/>
              </a:rPr>
              <a:t>rewards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punishments</a:t>
            </a:r>
            <a:endParaRPr sz="2400">
              <a:latin typeface="Times New Roman"/>
              <a:cs typeface="Times New Roman"/>
            </a:endParaRPr>
          </a:p>
          <a:p>
            <a:pPr marL="442796">
              <a:tabLst>
                <a:tab pos="912684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Getting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tips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taxi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chess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game</a:t>
            </a:r>
            <a:endParaRPr sz="2400">
              <a:latin typeface="Times New Roman"/>
              <a:cs typeface="Times New Roman"/>
            </a:endParaRPr>
          </a:p>
          <a:p>
            <a:pPr marL="455495" indent="-438562">
              <a:buFont typeface="Segoe UI Symbol"/>
              <a:buChar char="❑"/>
              <a:tabLst>
                <a:tab pos="455495" algn="l"/>
              </a:tabLst>
            </a:pPr>
            <a:r>
              <a:rPr sz="2400" dirty="0">
                <a:solidFill>
                  <a:srgbClr val="6F2F9F"/>
                </a:solidFill>
                <a:latin typeface="Times New Roman"/>
                <a:cs typeface="Times New Roman"/>
              </a:rPr>
              <a:t>Supervised</a:t>
            </a:r>
            <a:r>
              <a:rPr sz="2400" spc="-1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6F2F9F"/>
                </a:solidFill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912684" marR="489361" indent="-469888">
              <a:tabLst>
                <a:tab pos="912684" algn="l"/>
                <a:tab pos="1928658" algn="l"/>
                <a:tab pos="4366996" algn="l"/>
                <a:tab pos="5586166" algn="l"/>
                <a:tab pos="7414921" algn="l"/>
                <a:tab pos="8634091" algn="l"/>
                <a:tab pos="9853260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Agent</a:t>
            </a:r>
            <a:r>
              <a:rPr sz="2400" dirty="0">
                <a:latin typeface="Times New Roman"/>
                <a:cs typeface="Times New Roman"/>
              </a:rPr>
              <a:t>	observes</a:t>
            </a:r>
            <a:r>
              <a:rPr sz="2400" spc="467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some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input–output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pairsand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learns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0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maps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912684" marR="338658" indent="-469888">
              <a:tabLst>
                <a:tab pos="912684" algn="l"/>
              </a:tabLst>
            </a:pPr>
            <a:r>
              <a:rPr sz="2400" spc="240" dirty="0">
                <a:latin typeface="Segoe UI Symbol"/>
                <a:cs typeface="Segoe UI Symbol"/>
              </a:rPr>
              <a:t>✔</a:t>
            </a:r>
            <a:r>
              <a:rPr sz="2400" dirty="0">
                <a:latin typeface="Segoe UI Symbol"/>
                <a:cs typeface="Segoe UI Symbol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Semi-</a:t>
            </a:r>
            <a:r>
              <a:rPr sz="2400" dirty="0">
                <a:latin typeface="Times New Roman"/>
                <a:cs typeface="Times New Roman"/>
              </a:rPr>
              <a:t>supervised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labeled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examples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unlabeled</a:t>
            </a:r>
            <a:r>
              <a:rPr sz="2400" spc="-9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examples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8656" y="6556708"/>
            <a:ext cx="2040467" cy="308187"/>
            <a:chOff x="7618992" y="4917531"/>
            <a:chExt cx="1530350" cy="231140"/>
          </a:xfrm>
        </p:grpSpPr>
        <p:sp>
          <p:nvSpPr>
            <p:cNvPr id="4" name="object 4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1272588" y="221205"/>
                  </a:moveTo>
                  <a:lnTo>
                    <a:pt x="0" y="221205"/>
                  </a:ln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  <a:lnTo>
                    <a:pt x="1272588" y="221205"/>
                  </a:lnTo>
                  <a:close/>
                </a:path>
              </a:pathLst>
            </a:custGeom>
            <a:solidFill>
              <a:srgbClr val="2683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0" y="221205"/>
                  </a:move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</a:path>
              </a:pathLst>
            </a:custGeom>
            <a:ln w="9524">
              <a:solidFill>
                <a:srgbClr val="2683C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1486" algn="ctr">
              <a:lnSpc>
                <a:spcPts val="3807"/>
              </a:lnSpc>
            </a:pPr>
            <a:r>
              <a:rPr sz="3200" dirty="0"/>
              <a:t>Forms</a:t>
            </a:r>
            <a:r>
              <a:rPr sz="3200" spc="-60" dirty="0"/>
              <a:t> </a:t>
            </a:r>
            <a:r>
              <a:rPr sz="3200" dirty="0"/>
              <a:t>of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60" dirty="0"/>
              <a:t> </a:t>
            </a:r>
            <a:r>
              <a:rPr sz="3200" dirty="0"/>
              <a:t>Based</a:t>
            </a:r>
            <a:r>
              <a:rPr sz="3200" spc="-60" dirty="0"/>
              <a:t> </a:t>
            </a:r>
            <a:r>
              <a:rPr sz="3200" dirty="0"/>
              <a:t>on</a:t>
            </a:r>
            <a:r>
              <a:rPr sz="3200" spc="-60" dirty="0"/>
              <a:t> </a:t>
            </a:r>
            <a:r>
              <a:rPr sz="3200" spc="-13" dirty="0"/>
              <a:t>Feedback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3" name="object 13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95081" y="6627981"/>
            <a:ext cx="158919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467"/>
              </a:lnSpc>
            </a:pPr>
            <a:r>
              <a:rPr sz="1400" b="1" spc="-247" dirty="0">
                <a:solidFill>
                  <a:srgbClr val="FFFFFF"/>
                </a:solidFill>
                <a:latin typeface="Calibri"/>
                <a:cs typeface="Calibri"/>
              </a:rPr>
              <a:t>LecDReapiytaonf,</a:t>
            </a:r>
            <a:r>
              <a:rPr sz="1400" b="1" spc="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3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2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967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2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-813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400" y="1106295"/>
            <a:ext cx="10067712" cy="2919069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467348" indent="-450415">
              <a:spcBef>
                <a:spcPts val="1600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spc="-13" dirty="0">
                <a:solidFill>
                  <a:srgbClr val="00AEEE"/>
                </a:solidFill>
                <a:latin typeface="Times New Roman"/>
                <a:cs typeface="Times New Roman"/>
              </a:rPr>
              <a:t>Training</a:t>
            </a:r>
            <a:r>
              <a:rPr sz="2400" b="1" spc="-47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Set</a:t>
            </a:r>
            <a:r>
              <a:rPr sz="2400" b="1" spc="-40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–</a:t>
            </a:r>
            <a:r>
              <a:rPr sz="2400" b="1" spc="-47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input–output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pairs</a:t>
            </a:r>
            <a:endParaRPr sz="2400">
              <a:latin typeface="Times New Roman"/>
              <a:cs typeface="Times New Roman"/>
            </a:endParaRPr>
          </a:p>
          <a:p>
            <a:pPr marL="467348" indent="-450415">
              <a:spcBef>
                <a:spcPts val="1467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dirty="0">
                <a:solidFill>
                  <a:srgbClr val="00AE50"/>
                </a:solidFill>
                <a:latin typeface="Times New Roman"/>
                <a:cs typeface="Times New Roman"/>
              </a:rPr>
              <a:t>Hypothesis</a:t>
            </a:r>
            <a:r>
              <a:rPr sz="2400" b="1" spc="-53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–</a:t>
            </a:r>
            <a:r>
              <a:rPr sz="2400" b="1" spc="-47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467348" indent="-450415">
              <a:spcBef>
                <a:spcPts val="1467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spc="-40" dirty="0">
                <a:solidFill>
                  <a:srgbClr val="00AEEE"/>
                </a:solidFill>
                <a:latin typeface="Times New Roman"/>
                <a:cs typeface="Times New Roman"/>
              </a:rPr>
              <a:t>Test</a:t>
            </a:r>
            <a:r>
              <a:rPr sz="2400" b="1" spc="-60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Set</a:t>
            </a:r>
            <a:r>
              <a:rPr sz="2400" b="1" spc="-53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–</a:t>
            </a:r>
            <a:r>
              <a:rPr sz="2400" b="1" spc="-53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examples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distinct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  <a:p>
            <a:pPr marL="467348" marR="6773" indent="-451262">
              <a:lnSpc>
                <a:spcPct val="150000"/>
              </a:lnSpc>
              <a:spcBef>
                <a:spcPts val="1440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dirty="0">
                <a:solidFill>
                  <a:srgbClr val="00AE50"/>
                </a:solidFill>
                <a:latin typeface="Times New Roman"/>
                <a:cs typeface="Times New Roman"/>
              </a:rPr>
              <a:t>Learning</a:t>
            </a:r>
            <a:r>
              <a:rPr sz="2400" b="1" spc="-33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50"/>
                </a:solidFill>
                <a:latin typeface="Times New Roman"/>
                <a:cs typeface="Times New Roman"/>
              </a:rPr>
              <a:t>–</a:t>
            </a:r>
            <a:r>
              <a:rPr sz="2400" b="1" spc="-33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hypotheses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-127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well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8656" y="6556708"/>
            <a:ext cx="2040467" cy="308187"/>
            <a:chOff x="7618992" y="4917531"/>
            <a:chExt cx="1530350" cy="231140"/>
          </a:xfrm>
        </p:grpSpPr>
        <p:sp>
          <p:nvSpPr>
            <p:cNvPr id="4" name="object 4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1272588" y="221205"/>
                  </a:moveTo>
                  <a:lnTo>
                    <a:pt x="0" y="221205"/>
                  </a:ln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  <a:lnTo>
                    <a:pt x="1272588" y="221205"/>
                  </a:lnTo>
                  <a:close/>
                </a:path>
              </a:pathLst>
            </a:custGeom>
            <a:solidFill>
              <a:srgbClr val="2683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0" y="221205"/>
                  </a:move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</a:path>
              </a:pathLst>
            </a:custGeom>
            <a:ln w="9524">
              <a:solidFill>
                <a:srgbClr val="2683C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5719" algn="ctr">
              <a:lnSpc>
                <a:spcPts val="3807"/>
              </a:lnSpc>
            </a:pPr>
            <a:r>
              <a:rPr sz="3200" spc="-13" dirty="0"/>
              <a:t>Supervised</a:t>
            </a:r>
            <a:r>
              <a:rPr sz="3200" spc="-53" dirty="0"/>
              <a:t> </a:t>
            </a:r>
            <a:r>
              <a:rPr sz="3200" spc="-13" dirty="0"/>
              <a:t>Learning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3" name="object 13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95081" y="6627981"/>
            <a:ext cx="158919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467"/>
              </a:lnSpc>
            </a:pPr>
            <a:r>
              <a:rPr sz="1400" b="1" spc="-247" dirty="0">
                <a:solidFill>
                  <a:srgbClr val="FFFFFF"/>
                </a:solidFill>
                <a:latin typeface="Calibri"/>
                <a:cs typeface="Calibri"/>
              </a:rPr>
              <a:t>LecDReapiytaonf,</a:t>
            </a:r>
            <a:r>
              <a:rPr sz="1400" b="1" spc="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3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2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967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2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-813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401" y="1297643"/>
            <a:ext cx="71771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7348" indent="-450415">
              <a:spcBef>
                <a:spcPts val="133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dirty="0">
                <a:solidFill>
                  <a:srgbClr val="00AE50"/>
                </a:solidFill>
                <a:latin typeface="Times New Roman"/>
                <a:cs typeface="Times New Roman"/>
              </a:rPr>
              <a:t>Hypothesis</a:t>
            </a:r>
            <a:r>
              <a:rPr sz="2400" b="1" spc="-53" dirty="0">
                <a:solidFill>
                  <a:srgbClr val="00AE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EEE"/>
                </a:solidFill>
                <a:latin typeface="Times New Roman"/>
                <a:cs typeface="Times New Roman"/>
              </a:rPr>
              <a:t>–</a:t>
            </a:r>
            <a:r>
              <a:rPr sz="2400" b="1" spc="-47" dirty="0">
                <a:solidFill>
                  <a:srgbClr val="00AEE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077" y="2435851"/>
            <a:ext cx="10397599" cy="27135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158656" y="6556708"/>
            <a:ext cx="2040467" cy="308187"/>
            <a:chOff x="7618992" y="4917531"/>
            <a:chExt cx="1530350" cy="231140"/>
          </a:xfrm>
        </p:grpSpPr>
        <p:sp>
          <p:nvSpPr>
            <p:cNvPr id="5" name="object 5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1272588" y="221205"/>
                  </a:moveTo>
                  <a:lnTo>
                    <a:pt x="0" y="221205"/>
                  </a:ln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  <a:lnTo>
                    <a:pt x="1272588" y="221205"/>
                  </a:lnTo>
                  <a:close/>
                </a:path>
              </a:pathLst>
            </a:custGeom>
            <a:solidFill>
              <a:srgbClr val="2683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0" y="221205"/>
                  </a:move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</a:path>
              </a:pathLst>
            </a:custGeom>
            <a:ln w="9524">
              <a:solidFill>
                <a:srgbClr val="2683C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5719" algn="ctr">
              <a:lnSpc>
                <a:spcPts val="3807"/>
              </a:lnSpc>
            </a:pPr>
            <a:r>
              <a:rPr sz="3200" spc="-13" dirty="0"/>
              <a:t>Supervised</a:t>
            </a:r>
            <a:r>
              <a:rPr sz="3200" spc="-53" dirty="0"/>
              <a:t> </a:t>
            </a:r>
            <a:r>
              <a:rPr sz="3200" spc="-13" dirty="0"/>
              <a:t>Learning</a:t>
            </a:r>
            <a:endParaRPr sz="3200"/>
          </a:p>
        </p:txBody>
      </p:sp>
      <p:grpSp>
        <p:nvGrpSpPr>
          <p:cNvPr id="13" name="object 13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4" name="object 14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495081" y="6627981"/>
            <a:ext cx="158919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467"/>
              </a:lnSpc>
            </a:pPr>
            <a:r>
              <a:rPr sz="1400" b="1" spc="-247" dirty="0">
                <a:solidFill>
                  <a:srgbClr val="FFFFFF"/>
                </a:solidFill>
                <a:latin typeface="Calibri"/>
                <a:cs typeface="Calibri"/>
              </a:rPr>
              <a:t>LecDReapiytaonf,</a:t>
            </a:r>
            <a:r>
              <a:rPr sz="1400" b="1" spc="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3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2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967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2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-813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400" y="1180295"/>
            <a:ext cx="10701867" cy="26793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7348" marR="6773" indent="-451262" algn="just">
              <a:spcBef>
                <a:spcPts val="133"/>
              </a:spcBef>
              <a:buFont typeface="Yu Gothic UI"/>
              <a:buChar char="❖"/>
              <a:tabLst>
                <a:tab pos="467348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Classification</a:t>
            </a:r>
            <a:r>
              <a:rPr sz="2400" b="1" spc="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(such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9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sunny, </a:t>
            </a:r>
            <a:r>
              <a:rPr sz="2400" dirty="0">
                <a:latin typeface="Times New Roman"/>
                <a:cs typeface="Times New Roman"/>
              </a:rPr>
              <a:t>cloudy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rainy),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classification,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Boolean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values.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6FC0"/>
              </a:buClr>
              <a:buFont typeface="Yu Gothic UI"/>
              <a:buChar char="❖"/>
            </a:pPr>
            <a:endParaRPr sz="2400">
              <a:latin typeface="Times New Roman"/>
              <a:cs typeface="Times New Roman"/>
            </a:endParaRPr>
          </a:p>
          <a:p>
            <a:pPr>
              <a:spcBef>
                <a:spcPts val="560"/>
              </a:spcBef>
              <a:buClr>
                <a:srgbClr val="006FC0"/>
              </a:buClr>
              <a:buFont typeface="Yu Gothic UI"/>
              <a:buChar char="❖"/>
            </a:pPr>
            <a:endParaRPr sz="2400">
              <a:latin typeface="Times New Roman"/>
              <a:cs typeface="Times New Roman"/>
            </a:endParaRPr>
          </a:p>
          <a:p>
            <a:pPr marL="467348" marR="42332" indent="-451262" algn="just">
              <a:buFont typeface="Yu Gothic UI"/>
              <a:buChar char="❖"/>
              <a:tabLst>
                <a:tab pos="467348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Regression</a:t>
            </a:r>
            <a:r>
              <a:rPr sz="2400" b="1" spc="87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(such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tomorrow’s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temperature),</a:t>
            </a:r>
            <a:r>
              <a:rPr sz="2400" spc="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learning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7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regression.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8656" y="6556708"/>
            <a:ext cx="2040467" cy="308187"/>
            <a:chOff x="7618992" y="4917531"/>
            <a:chExt cx="1530350" cy="231140"/>
          </a:xfrm>
        </p:grpSpPr>
        <p:sp>
          <p:nvSpPr>
            <p:cNvPr id="4" name="object 4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1272588" y="221205"/>
                  </a:moveTo>
                  <a:lnTo>
                    <a:pt x="0" y="221205"/>
                  </a:ln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  <a:lnTo>
                    <a:pt x="1272588" y="221205"/>
                  </a:lnTo>
                  <a:close/>
                </a:path>
              </a:pathLst>
            </a:custGeom>
            <a:solidFill>
              <a:srgbClr val="2683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71411" y="4922294"/>
              <a:ext cx="1273175" cy="221615"/>
            </a:xfrm>
            <a:custGeom>
              <a:avLst/>
              <a:gdLst/>
              <a:ahLst/>
              <a:cxnLst/>
              <a:rect l="l" t="t" r="r" b="b"/>
              <a:pathLst>
                <a:path w="1273175" h="221614">
                  <a:moveTo>
                    <a:pt x="0" y="221205"/>
                  </a:moveTo>
                  <a:lnTo>
                    <a:pt x="92906" y="5064"/>
                  </a:lnTo>
                  <a:lnTo>
                    <a:pt x="1271519" y="0"/>
                  </a:lnTo>
                  <a:lnTo>
                    <a:pt x="1272588" y="27838"/>
                  </a:lnTo>
                </a:path>
              </a:pathLst>
            </a:custGeom>
            <a:ln w="9524">
              <a:solidFill>
                <a:srgbClr val="2683C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5719" algn="ctr">
              <a:lnSpc>
                <a:spcPts val="3807"/>
              </a:lnSpc>
            </a:pPr>
            <a:r>
              <a:rPr sz="3200" spc="-13" dirty="0"/>
              <a:t>Supervised</a:t>
            </a:r>
            <a:r>
              <a:rPr sz="3200" spc="-53" dirty="0"/>
              <a:t> </a:t>
            </a:r>
            <a:r>
              <a:rPr sz="3200" spc="-13" dirty="0"/>
              <a:t>Learning..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3" name="object 13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95081" y="6627981"/>
            <a:ext cx="158919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467"/>
              </a:lnSpc>
            </a:pPr>
            <a:r>
              <a:rPr sz="1400" b="1" spc="-247" dirty="0">
                <a:solidFill>
                  <a:srgbClr val="FFFFFF"/>
                </a:solidFill>
                <a:latin typeface="Calibri"/>
                <a:cs typeface="Calibri"/>
              </a:rPr>
              <a:t>LecDReapiytaonf,</a:t>
            </a:r>
            <a:r>
              <a:rPr sz="1400" b="1" spc="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3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2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967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2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-813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spc="7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29633" algn="ctr">
              <a:lnSpc>
                <a:spcPts val="3807"/>
              </a:lnSpc>
            </a:pPr>
            <a:r>
              <a:rPr sz="3200" dirty="0">
                <a:solidFill>
                  <a:srgbClr val="FFFFFF"/>
                </a:solidFill>
              </a:rPr>
              <a:t>What</a:t>
            </a:r>
            <a:r>
              <a:rPr sz="3200" spc="-87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is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spc="-27" dirty="0">
                <a:solidFill>
                  <a:srgbClr val="FFFFFF"/>
                </a:solidFill>
              </a:rPr>
              <a:t>ANN?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7914" y="2041132"/>
            <a:ext cx="7696199" cy="4005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187885"/>
            <a:ext cx="8994140" cy="526640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33867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67"/>
              </a:spcBef>
            </a:pPr>
            <a:r>
              <a:rPr sz="3200" dirty="0"/>
              <a:t>What</a:t>
            </a:r>
            <a:r>
              <a:rPr sz="3200" spc="-87" dirty="0"/>
              <a:t> </a:t>
            </a:r>
            <a:r>
              <a:rPr sz="3200" dirty="0"/>
              <a:t>is</a:t>
            </a:r>
            <a:r>
              <a:rPr sz="3200" spc="-80" dirty="0"/>
              <a:t> </a:t>
            </a:r>
            <a:r>
              <a:rPr sz="3200" spc="-27" dirty="0"/>
              <a:t>‘Artificial</a:t>
            </a:r>
            <a:r>
              <a:rPr sz="3200" spc="-87" dirty="0"/>
              <a:t> </a:t>
            </a:r>
            <a:r>
              <a:rPr sz="3200" dirty="0"/>
              <a:t>neural</a:t>
            </a:r>
            <a:r>
              <a:rPr sz="3200" spc="-80" dirty="0"/>
              <a:t> </a:t>
            </a:r>
            <a:r>
              <a:rPr sz="3200" spc="-13" dirty="0"/>
              <a:t>network’?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723570" y="1573328"/>
            <a:ext cx="10985500" cy="45317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19090" marR="6773" indent="-403003" algn="just">
              <a:spcBef>
                <a:spcPts val="133"/>
              </a:spcBef>
              <a:buFont typeface="Arial MT"/>
              <a:buChar char="•"/>
              <a:tabLst>
                <a:tab pos="422476" algn="l"/>
              </a:tabLst>
            </a:pPr>
            <a:r>
              <a:rPr sz="2667" dirty="0">
                <a:latin typeface="Calibri"/>
                <a:cs typeface="Calibri"/>
              </a:rPr>
              <a:t>Artificial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neural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networks</a:t>
            </a:r>
            <a:r>
              <a:rPr sz="2667" spc="107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one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main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tools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used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in</a:t>
            </a:r>
            <a:r>
              <a:rPr sz="2667" spc="100" dirty="0">
                <a:latin typeface="Calibri"/>
                <a:cs typeface="Calibri"/>
              </a:rPr>
              <a:t>  </a:t>
            </a:r>
            <a:r>
              <a:rPr sz="2667" spc="-13" dirty="0">
                <a:latin typeface="Calibri"/>
                <a:cs typeface="Calibri"/>
              </a:rPr>
              <a:t>machine 	learning.</a:t>
            </a:r>
            <a:endParaRPr sz="2667">
              <a:latin typeface="Calibri"/>
              <a:cs typeface="Calibri"/>
            </a:endParaRPr>
          </a:p>
          <a:p>
            <a:pPr marL="419090" marR="29633" indent="-403003" algn="just">
              <a:spcBef>
                <a:spcPts val="3200"/>
              </a:spcBef>
              <a:buFont typeface="Arial MT"/>
              <a:buChar char="•"/>
              <a:tabLst>
                <a:tab pos="422476" algn="l"/>
              </a:tabLst>
            </a:pPr>
            <a:r>
              <a:rPr sz="2667" dirty="0">
                <a:latin typeface="Calibri"/>
                <a:cs typeface="Calibri"/>
              </a:rPr>
              <a:t>As</a:t>
            </a:r>
            <a:r>
              <a:rPr sz="2667" spc="1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“neural”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part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1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their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name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suggests,</a:t>
            </a:r>
            <a:r>
              <a:rPr sz="2667" spc="1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they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7" dirty="0">
                <a:latin typeface="Calibri"/>
                <a:cs typeface="Calibri"/>
              </a:rPr>
              <a:t> </a:t>
            </a:r>
            <a:r>
              <a:rPr sz="2667" spc="-33" dirty="0">
                <a:latin typeface="Calibri"/>
                <a:cs typeface="Calibri"/>
              </a:rPr>
              <a:t>brain-</a:t>
            </a:r>
            <a:r>
              <a:rPr sz="2667" dirty="0">
                <a:latin typeface="Calibri"/>
                <a:cs typeface="Calibri"/>
              </a:rPr>
              <a:t>inspired</a:t>
            </a:r>
            <a:r>
              <a:rPr sz="2667" spc="13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systems 	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intended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</a:t>
            </a:r>
            <a:r>
              <a:rPr sz="2667" spc="-8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replicate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way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-8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humans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learn.</a:t>
            </a:r>
            <a:endParaRPr sz="2667">
              <a:latin typeface="Calibri"/>
              <a:cs typeface="Calibri"/>
            </a:endParaRPr>
          </a:p>
          <a:p>
            <a:pPr marL="419090" marR="27093" indent="-403003" algn="just">
              <a:spcBef>
                <a:spcPts val="3200"/>
              </a:spcBef>
              <a:buFont typeface="Arial MT"/>
              <a:buChar char="•"/>
              <a:tabLst>
                <a:tab pos="422476" algn="l"/>
              </a:tabLst>
            </a:pPr>
            <a:r>
              <a:rPr sz="2667" spc="-13" dirty="0">
                <a:latin typeface="Calibri"/>
                <a:cs typeface="Calibri"/>
              </a:rPr>
              <a:t>Neural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networks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consist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input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output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layers,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as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well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as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(in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most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cases) 	</a:t>
            </a:r>
            <a:r>
              <a:rPr sz="2667" dirty="0">
                <a:latin typeface="Calibri"/>
                <a:cs typeface="Calibri"/>
              </a:rPr>
              <a:t>a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hidden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layer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consisting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units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transform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input</a:t>
            </a:r>
            <a:r>
              <a:rPr sz="2667" spc="2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into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something 	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output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layer</a:t>
            </a:r>
            <a:r>
              <a:rPr sz="2667" spc="1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can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use.</a:t>
            </a:r>
            <a:r>
              <a:rPr sz="2667" spc="1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They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excellent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tools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for</a:t>
            </a:r>
            <a:r>
              <a:rPr sz="2667" spc="17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finding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patterns 	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far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too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complex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or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numerous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for</a:t>
            </a:r>
            <a:r>
              <a:rPr sz="2667" spc="1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human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programmer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</a:t>
            </a:r>
            <a:r>
              <a:rPr sz="2667" spc="16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extract 	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teach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-8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machine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</a:t>
            </a:r>
            <a:r>
              <a:rPr sz="2667" spc="-8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recognize.</a:t>
            </a:r>
            <a:endParaRPr sz="266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617" y="1234878"/>
            <a:ext cx="10419079" cy="30486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b="1" dirty="0">
                <a:latin typeface="Times New Roman"/>
                <a:cs typeface="Times New Roman"/>
              </a:rPr>
              <a:t>Input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layer:</a:t>
            </a:r>
            <a:r>
              <a:rPr sz="2400" b="1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neurons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corresponds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9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neuronal</a:t>
            </a:r>
            <a:r>
              <a:rPr sz="2400" spc="-93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280"/>
              </a:spcBef>
            </a:pPr>
            <a:endParaRPr sz="2400">
              <a:latin typeface="Times New Roman"/>
              <a:cs typeface="Times New Roman"/>
            </a:endParaRPr>
          </a:p>
          <a:p>
            <a:pPr marL="16933" marR="454649"/>
            <a:r>
              <a:rPr sz="2400" b="1" dirty="0">
                <a:latin typeface="Times New Roman"/>
                <a:cs typeface="Times New Roman"/>
              </a:rPr>
              <a:t>Hidden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layer: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arbitrary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arbitrary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of </a:t>
            </a:r>
            <a:r>
              <a:rPr sz="2400" spc="-13" dirty="0">
                <a:latin typeface="Times New Roman"/>
                <a:cs typeface="Times New Roman"/>
              </a:rPr>
              <a:t>neurons.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280"/>
              </a:spcBef>
            </a:pPr>
            <a:endParaRPr sz="2400">
              <a:latin typeface="Times New Roman"/>
              <a:cs typeface="Times New Roman"/>
            </a:endParaRPr>
          </a:p>
          <a:p>
            <a:pPr marL="609585" marR="12700" indent="-592652">
              <a:tabLst>
                <a:tab pos="1218323" algn="l"/>
                <a:tab pos="2437491" algn="l"/>
                <a:tab pos="6095001" algn="l"/>
                <a:tab pos="6704586" algn="l"/>
                <a:tab pos="7923755" algn="l"/>
              </a:tabLst>
            </a:pPr>
            <a:r>
              <a:rPr sz="2400" b="1" spc="-13" dirty="0">
                <a:latin typeface="Times New Roman"/>
                <a:cs typeface="Times New Roman"/>
              </a:rPr>
              <a:t>Output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3" dirty="0">
                <a:latin typeface="Times New Roman"/>
                <a:cs typeface="Times New Roman"/>
              </a:rPr>
              <a:t>layer: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neurons</a:t>
            </a:r>
            <a:r>
              <a:rPr sz="2400" spc="272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3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" dirty="0">
                <a:latin typeface="Times New Roman"/>
                <a:cs typeface="Times New Roman"/>
              </a:rPr>
              <a:t>output</a:t>
            </a:r>
            <a:r>
              <a:rPr sz="2400" dirty="0">
                <a:latin typeface="Times New Roman"/>
                <a:cs typeface="Times New Roman"/>
              </a:rPr>
              <a:t>	layer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corresponds</a:t>
            </a:r>
            <a:r>
              <a:rPr sz="2400" spc="-47" dirty="0">
                <a:latin typeface="Times New Roman"/>
                <a:cs typeface="Times New Roman"/>
              </a:rPr>
              <a:t> </a:t>
            </a:r>
            <a:r>
              <a:rPr sz="2400" spc="-33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4872" algn="ctr">
              <a:lnSpc>
                <a:spcPts val="3807"/>
              </a:lnSpc>
            </a:pPr>
            <a:r>
              <a:rPr sz="3200" dirty="0"/>
              <a:t>Artificial</a:t>
            </a:r>
            <a:r>
              <a:rPr sz="3200" spc="-100" dirty="0"/>
              <a:t> </a:t>
            </a:r>
            <a:r>
              <a:rPr sz="3200" dirty="0"/>
              <a:t>Neural</a:t>
            </a:r>
            <a:r>
              <a:rPr sz="3200" spc="-100" dirty="0"/>
              <a:t> </a:t>
            </a:r>
            <a:r>
              <a:rPr sz="3200" spc="-13" dirty="0"/>
              <a:t>Network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8" name="object 8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01" y="111205"/>
            <a:ext cx="10992273" cy="5632873"/>
            <a:chOff x="446625" y="83403"/>
            <a:chExt cx="8244205" cy="4224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625" y="828675"/>
              <a:ext cx="8243699" cy="34790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085745" y="6441651"/>
            <a:ext cx="1888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33" dirty="0">
                <a:solidFill>
                  <a:srgbClr val="888888"/>
                </a:solidFill>
                <a:latin typeface="Times New Roman"/>
                <a:cs typeface="Times New Roman"/>
              </a:rPr>
              <a:t>48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2332" algn="ctr">
              <a:lnSpc>
                <a:spcPts val="3793"/>
              </a:lnSpc>
            </a:pPr>
            <a:r>
              <a:rPr sz="3600" dirty="0">
                <a:latin typeface="Times New Roman"/>
                <a:cs typeface="Times New Roman"/>
              </a:rPr>
              <a:t>Artificial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Neural</a:t>
            </a:r>
            <a:r>
              <a:rPr sz="3600" spc="-173" dirty="0">
                <a:latin typeface="Times New Roman"/>
                <a:cs typeface="Times New Roman"/>
              </a:rPr>
              <a:t> </a:t>
            </a:r>
            <a:r>
              <a:rPr sz="3600" spc="-13" dirty="0">
                <a:latin typeface="Times New Roman"/>
                <a:cs typeface="Times New Roman"/>
              </a:rPr>
              <a:t>Network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9" name="object 9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400" y="1303400"/>
            <a:ext cx="2981960" cy="282128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585879" indent="-568946">
              <a:spcBef>
                <a:spcPts val="1600"/>
              </a:spcBef>
              <a:buFont typeface="Segoe UI Symbol"/>
              <a:buChar char="❖"/>
              <a:tabLst>
                <a:tab pos="585879" algn="l"/>
              </a:tabLst>
            </a:pPr>
            <a:r>
              <a:rPr sz="2400" spc="-13" dirty="0">
                <a:latin typeface="Times New Roman"/>
                <a:cs typeface="Times New Roman"/>
              </a:rPr>
              <a:t>Units</a:t>
            </a:r>
            <a:endParaRPr sz="2400">
              <a:latin typeface="Times New Roman"/>
              <a:cs typeface="Times New Roman"/>
            </a:endParaRPr>
          </a:p>
          <a:p>
            <a:pPr marL="585879" indent="-568946">
              <a:spcBef>
                <a:spcPts val="1467"/>
              </a:spcBef>
              <a:buFont typeface="Segoe UI Symbol"/>
              <a:buChar char="❖"/>
              <a:tabLst>
                <a:tab pos="585879" algn="l"/>
              </a:tabLst>
            </a:pPr>
            <a:r>
              <a:rPr sz="2400" spc="-13" dirty="0">
                <a:latin typeface="Times New Roman"/>
                <a:cs typeface="Times New Roman"/>
              </a:rPr>
              <a:t>Links</a:t>
            </a:r>
            <a:endParaRPr sz="2400">
              <a:latin typeface="Times New Roman"/>
              <a:cs typeface="Times New Roman"/>
            </a:endParaRPr>
          </a:p>
          <a:p>
            <a:pPr marL="585879" indent="-568946">
              <a:spcBef>
                <a:spcPts val="1467"/>
              </a:spcBef>
              <a:buFont typeface="Segoe UI Symbol"/>
              <a:buChar char="❖"/>
              <a:tabLst>
                <a:tab pos="585879" algn="l"/>
              </a:tabLst>
            </a:pPr>
            <a:r>
              <a:rPr sz="2400" spc="-13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585879" indent="-568946">
              <a:spcBef>
                <a:spcPts val="1467"/>
              </a:spcBef>
              <a:buFont typeface="Segoe UI Symbol"/>
              <a:buChar char="❖"/>
              <a:tabLst>
                <a:tab pos="585879" algn="l"/>
              </a:tabLst>
            </a:pPr>
            <a:r>
              <a:rPr sz="2400" spc="-13" dirty="0">
                <a:latin typeface="Times New Roman"/>
                <a:cs typeface="Times New Roman"/>
              </a:rPr>
              <a:t>Activation</a:t>
            </a:r>
            <a:endParaRPr sz="2400">
              <a:latin typeface="Times New Roman"/>
              <a:cs typeface="Times New Roman"/>
            </a:endParaRPr>
          </a:p>
          <a:p>
            <a:pPr marL="585879" indent="-568946">
              <a:spcBef>
                <a:spcPts val="1467"/>
              </a:spcBef>
              <a:buFont typeface="Segoe UI Symbol"/>
              <a:buChar char="❖"/>
              <a:tabLst>
                <a:tab pos="585879" algn="l"/>
              </a:tabLst>
            </a:pPr>
            <a:r>
              <a:rPr sz="2400" dirty="0">
                <a:latin typeface="Times New Roman"/>
                <a:cs typeface="Times New Roman"/>
              </a:rPr>
              <a:t>Activation</a:t>
            </a:r>
            <a:r>
              <a:rPr sz="2400" spc="-107" dirty="0">
                <a:latin typeface="Times New Roman"/>
                <a:cs typeface="Times New Roman"/>
              </a:rPr>
              <a:t> </a:t>
            </a:r>
            <a:r>
              <a:rPr sz="2400" spc="-13" dirty="0"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4872" algn="ctr">
              <a:lnSpc>
                <a:spcPts val="3807"/>
              </a:lnSpc>
            </a:pPr>
            <a:r>
              <a:rPr sz="3200" dirty="0"/>
              <a:t>Artificial</a:t>
            </a:r>
            <a:r>
              <a:rPr sz="3200" spc="-100" dirty="0"/>
              <a:t> </a:t>
            </a:r>
            <a:r>
              <a:rPr sz="3200" dirty="0"/>
              <a:t>Neural</a:t>
            </a:r>
            <a:r>
              <a:rPr sz="3200" spc="-100" dirty="0"/>
              <a:t> </a:t>
            </a:r>
            <a:r>
              <a:rPr sz="3200" spc="-13" dirty="0"/>
              <a:t>Network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8" name="object 8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7511" y="2892551"/>
            <a:ext cx="2612813" cy="1176867"/>
          </a:xfrm>
          <a:custGeom>
            <a:avLst/>
            <a:gdLst/>
            <a:ahLst/>
            <a:cxnLst/>
            <a:rect l="l" t="t" r="r" b="b"/>
            <a:pathLst>
              <a:path w="1959610" h="882650">
                <a:moveTo>
                  <a:pt x="0" y="441197"/>
                </a:moveTo>
                <a:lnTo>
                  <a:pt x="4757" y="397439"/>
                </a:lnTo>
                <a:lnTo>
                  <a:pt x="18730" y="354899"/>
                </a:lnTo>
                <a:lnTo>
                  <a:pt x="41470" y="313780"/>
                </a:lnTo>
                <a:lnTo>
                  <a:pt x="72528" y="274283"/>
                </a:lnTo>
                <a:lnTo>
                  <a:pt x="111455" y="236612"/>
                </a:lnTo>
                <a:lnTo>
                  <a:pt x="157803" y="200968"/>
                </a:lnTo>
                <a:lnTo>
                  <a:pt x="211123" y="167554"/>
                </a:lnTo>
                <a:lnTo>
                  <a:pt x="270965" y="136571"/>
                </a:lnTo>
                <a:lnTo>
                  <a:pt x="336881" y="108224"/>
                </a:lnTo>
                <a:lnTo>
                  <a:pt x="408422" y="82712"/>
                </a:lnTo>
                <a:lnTo>
                  <a:pt x="446161" y="71083"/>
                </a:lnTo>
                <a:lnTo>
                  <a:pt x="485139" y="60239"/>
                </a:lnTo>
                <a:lnTo>
                  <a:pt x="525299" y="50206"/>
                </a:lnTo>
                <a:lnTo>
                  <a:pt x="566583" y="41008"/>
                </a:lnTo>
                <a:lnTo>
                  <a:pt x="608938" y="32671"/>
                </a:lnTo>
                <a:lnTo>
                  <a:pt x="652307" y="25220"/>
                </a:lnTo>
                <a:lnTo>
                  <a:pt x="696633" y="18680"/>
                </a:lnTo>
                <a:lnTo>
                  <a:pt x="741859" y="13077"/>
                </a:lnTo>
                <a:lnTo>
                  <a:pt x="787931" y="8437"/>
                </a:lnTo>
                <a:lnTo>
                  <a:pt x="834793" y="4783"/>
                </a:lnTo>
                <a:lnTo>
                  <a:pt x="882387" y="2142"/>
                </a:lnTo>
                <a:lnTo>
                  <a:pt x="930658" y="539"/>
                </a:lnTo>
                <a:lnTo>
                  <a:pt x="979550" y="0"/>
                </a:lnTo>
                <a:lnTo>
                  <a:pt x="1028442" y="539"/>
                </a:lnTo>
                <a:lnTo>
                  <a:pt x="1076713" y="2142"/>
                </a:lnTo>
                <a:lnTo>
                  <a:pt x="1124307" y="4783"/>
                </a:lnTo>
                <a:lnTo>
                  <a:pt x="1171169" y="8437"/>
                </a:lnTo>
                <a:lnTo>
                  <a:pt x="1217241" y="13077"/>
                </a:lnTo>
                <a:lnTo>
                  <a:pt x="1262468" y="18680"/>
                </a:lnTo>
                <a:lnTo>
                  <a:pt x="1306794" y="25220"/>
                </a:lnTo>
                <a:lnTo>
                  <a:pt x="1350162" y="32671"/>
                </a:lnTo>
                <a:lnTo>
                  <a:pt x="1392517" y="41008"/>
                </a:lnTo>
                <a:lnTo>
                  <a:pt x="1433801" y="50206"/>
                </a:lnTo>
                <a:lnTo>
                  <a:pt x="1473961" y="60239"/>
                </a:lnTo>
                <a:lnTo>
                  <a:pt x="1512938" y="71083"/>
                </a:lnTo>
                <a:lnTo>
                  <a:pt x="1550678" y="82712"/>
                </a:lnTo>
                <a:lnTo>
                  <a:pt x="1587124" y="95100"/>
                </a:lnTo>
                <a:lnTo>
                  <a:pt x="1655909" y="122055"/>
                </a:lnTo>
                <a:lnTo>
                  <a:pt x="1718844" y="151746"/>
                </a:lnTo>
                <a:lnTo>
                  <a:pt x="1775480" y="183969"/>
                </a:lnTo>
                <a:lnTo>
                  <a:pt x="1825370" y="218524"/>
                </a:lnTo>
                <a:lnTo>
                  <a:pt x="1886572" y="274283"/>
                </a:lnTo>
                <a:lnTo>
                  <a:pt x="1917630" y="313780"/>
                </a:lnTo>
                <a:lnTo>
                  <a:pt x="1940370" y="354899"/>
                </a:lnTo>
                <a:lnTo>
                  <a:pt x="1954344" y="397439"/>
                </a:lnTo>
                <a:lnTo>
                  <a:pt x="1959101" y="441197"/>
                </a:lnTo>
                <a:lnTo>
                  <a:pt x="1957902" y="463216"/>
                </a:lnTo>
                <a:lnTo>
                  <a:pt x="1948481" y="506390"/>
                </a:lnTo>
                <a:lnTo>
                  <a:pt x="1930068" y="548245"/>
                </a:lnTo>
                <a:lnTo>
                  <a:pt x="1903112" y="588578"/>
                </a:lnTo>
                <a:lnTo>
                  <a:pt x="1868064" y="627188"/>
                </a:lnTo>
                <a:lnTo>
                  <a:pt x="1825370" y="663870"/>
                </a:lnTo>
                <a:lnTo>
                  <a:pt x="1775480" y="698425"/>
                </a:lnTo>
                <a:lnTo>
                  <a:pt x="1718844" y="730648"/>
                </a:lnTo>
                <a:lnTo>
                  <a:pt x="1655909" y="760339"/>
                </a:lnTo>
                <a:lnTo>
                  <a:pt x="1587124" y="787294"/>
                </a:lnTo>
                <a:lnTo>
                  <a:pt x="1550678" y="799682"/>
                </a:lnTo>
                <a:lnTo>
                  <a:pt x="1512938" y="811311"/>
                </a:lnTo>
                <a:lnTo>
                  <a:pt x="1473961" y="822155"/>
                </a:lnTo>
                <a:lnTo>
                  <a:pt x="1433801" y="832188"/>
                </a:lnTo>
                <a:lnTo>
                  <a:pt x="1392517" y="841386"/>
                </a:lnTo>
                <a:lnTo>
                  <a:pt x="1350162" y="849723"/>
                </a:lnTo>
                <a:lnTo>
                  <a:pt x="1306794" y="857174"/>
                </a:lnTo>
                <a:lnTo>
                  <a:pt x="1262468" y="863714"/>
                </a:lnTo>
                <a:lnTo>
                  <a:pt x="1217241" y="869317"/>
                </a:lnTo>
                <a:lnTo>
                  <a:pt x="1171169" y="873957"/>
                </a:lnTo>
                <a:lnTo>
                  <a:pt x="1124307" y="877611"/>
                </a:lnTo>
                <a:lnTo>
                  <a:pt x="1076713" y="880252"/>
                </a:lnTo>
                <a:lnTo>
                  <a:pt x="1028442" y="881855"/>
                </a:lnTo>
                <a:lnTo>
                  <a:pt x="979550" y="882395"/>
                </a:lnTo>
                <a:lnTo>
                  <a:pt x="930658" y="881855"/>
                </a:lnTo>
                <a:lnTo>
                  <a:pt x="882387" y="880252"/>
                </a:lnTo>
                <a:lnTo>
                  <a:pt x="834793" y="877611"/>
                </a:lnTo>
                <a:lnTo>
                  <a:pt x="787931" y="873957"/>
                </a:lnTo>
                <a:lnTo>
                  <a:pt x="741859" y="869317"/>
                </a:lnTo>
                <a:lnTo>
                  <a:pt x="696633" y="863714"/>
                </a:lnTo>
                <a:lnTo>
                  <a:pt x="652307" y="857174"/>
                </a:lnTo>
                <a:lnTo>
                  <a:pt x="608938" y="849723"/>
                </a:lnTo>
                <a:lnTo>
                  <a:pt x="566583" y="841386"/>
                </a:lnTo>
                <a:lnTo>
                  <a:pt x="525299" y="832188"/>
                </a:lnTo>
                <a:lnTo>
                  <a:pt x="485139" y="822155"/>
                </a:lnTo>
                <a:lnTo>
                  <a:pt x="446161" y="811311"/>
                </a:lnTo>
                <a:lnTo>
                  <a:pt x="408422" y="799682"/>
                </a:lnTo>
                <a:lnTo>
                  <a:pt x="371976" y="787294"/>
                </a:lnTo>
                <a:lnTo>
                  <a:pt x="303192" y="760339"/>
                </a:lnTo>
                <a:lnTo>
                  <a:pt x="240257" y="730648"/>
                </a:lnTo>
                <a:lnTo>
                  <a:pt x="183620" y="698425"/>
                </a:lnTo>
                <a:lnTo>
                  <a:pt x="133730" y="663870"/>
                </a:lnTo>
                <a:lnTo>
                  <a:pt x="72528" y="608111"/>
                </a:lnTo>
                <a:lnTo>
                  <a:pt x="41470" y="568614"/>
                </a:lnTo>
                <a:lnTo>
                  <a:pt x="18730" y="527495"/>
                </a:lnTo>
                <a:lnTo>
                  <a:pt x="4757" y="484955"/>
                </a:lnTo>
                <a:lnTo>
                  <a:pt x="0" y="441197"/>
                </a:lnTo>
                <a:close/>
              </a:path>
            </a:pathLst>
          </a:custGeom>
          <a:ln w="12174">
            <a:solidFill>
              <a:srgbClr val="6FAB4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968620" y="3298909"/>
            <a:ext cx="7586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Verdana"/>
                <a:cs typeface="Verdana"/>
              </a:rPr>
              <a:t>wx+b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661" y="3298909"/>
            <a:ext cx="55626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Verdana"/>
                <a:cs typeface="Verdana"/>
              </a:rPr>
              <a:t>g(z)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6467" y="2706750"/>
            <a:ext cx="5692140" cy="1604433"/>
            <a:chOff x="1849850" y="2030062"/>
            <a:chExt cx="4269105" cy="1203325"/>
          </a:xfrm>
        </p:grpSpPr>
        <p:sp>
          <p:nvSpPr>
            <p:cNvPr id="6" name="object 6"/>
            <p:cNvSpPr/>
            <p:nvPr/>
          </p:nvSpPr>
          <p:spPr>
            <a:xfrm>
              <a:off x="4337685" y="2169414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4">
                  <a:moveTo>
                    <a:pt x="0" y="0"/>
                  </a:moveTo>
                  <a:lnTo>
                    <a:pt x="0" y="881729"/>
                  </a:lnTo>
                </a:path>
              </a:pathLst>
            </a:custGeom>
            <a:ln w="952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849844" y="2030069"/>
              <a:ext cx="4269105" cy="1203325"/>
            </a:xfrm>
            <a:custGeom>
              <a:avLst/>
              <a:gdLst/>
              <a:ahLst/>
              <a:cxnLst/>
              <a:rect l="l" t="t" r="r" b="b"/>
              <a:pathLst>
                <a:path w="4269105" h="1203325">
                  <a:moveTo>
                    <a:pt x="1507528" y="579970"/>
                  </a:moveTo>
                  <a:lnTo>
                    <a:pt x="1506385" y="579399"/>
                  </a:lnTo>
                  <a:lnTo>
                    <a:pt x="1464373" y="533590"/>
                  </a:lnTo>
                  <a:lnTo>
                    <a:pt x="1456474" y="554253"/>
                  </a:lnTo>
                  <a:lnTo>
                    <a:pt x="1450467" y="551205"/>
                  </a:lnTo>
                  <a:lnTo>
                    <a:pt x="1450454" y="553758"/>
                  </a:lnTo>
                  <a:lnTo>
                    <a:pt x="3530" y="0"/>
                  </a:lnTo>
                  <a:lnTo>
                    <a:pt x="101" y="8953"/>
                  </a:lnTo>
                  <a:lnTo>
                    <a:pt x="1450416" y="563918"/>
                  </a:lnTo>
                  <a:lnTo>
                    <a:pt x="1450390" y="570166"/>
                  </a:lnTo>
                  <a:lnTo>
                    <a:pt x="1448536" y="575005"/>
                  </a:lnTo>
                  <a:lnTo>
                    <a:pt x="1816" y="571207"/>
                  </a:lnTo>
                  <a:lnTo>
                    <a:pt x="1816" y="580732"/>
                  </a:lnTo>
                  <a:lnTo>
                    <a:pt x="1444904" y="584517"/>
                  </a:lnTo>
                  <a:lnTo>
                    <a:pt x="1443990" y="586930"/>
                  </a:lnTo>
                  <a:lnTo>
                    <a:pt x="1448193" y="586524"/>
                  </a:lnTo>
                  <a:lnTo>
                    <a:pt x="1450327" y="591693"/>
                  </a:lnTo>
                  <a:lnTo>
                    <a:pt x="1450289" y="598944"/>
                  </a:lnTo>
                  <a:lnTo>
                    <a:pt x="0" y="1194333"/>
                  </a:lnTo>
                  <a:lnTo>
                    <a:pt x="3619" y="1203096"/>
                  </a:lnTo>
                  <a:lnTo>
                    <a:pt x="1456474" y="606666"/>
                  </a:lnTo>
                  <a:lnTo>
                    <a:pt x="1465516" y="628650"/>
                  </a:lnTo>
                  <a:lnTo>
                    <a:pt x="1495539" y="594258"/>
                  </a:lnTo>
                  <a:lnTo>
                    <a:pt x="1507426" y="580656"/>
                  </a:lnTo>
                  <a:lnTo>
                    <a:pt x="1507096" y="580186"/>
                  </a:lnTo>
                  <a:lnTo>
                    <a:pt x="1507528" y="579970"/>
                  </a:lnTo>
                  <a:close/>
                </a:path>
                <a:path w="4269105" h="1203325">
                  <a:moveTo>
                    <a:pt x="4260443" y="598639"/>
                  </a:moveTo>
                  <a:lnTo>
                    <a:pt x="4211434" y="598639"/>
                  </a:lnTo>
                  <a:lnTo>
                    <a:pt x="4211002" y="622261"/>
                  </a:lnTo>
                  <a:lnTo>
                    <a:pt x="4260443" y="598639"/>
                  </a:lnTo>
                  <a:close/>
                </a:path>
                <a:path w="4269105" h="1203325">
                  <a:moveTo>
                    <a:pt x="4268635" y="594741"/>
                  </a:moveTo>
                  <a:lnTo>
                    <a:pt x="4212056" y="565111"/>
                  </a:lnTo>
                  <a:lnTo>
                    <a:pt x="4211612" y="588962"/>
                  </a:lnTo>
                  <a:lnTo>
                    <a:pt x="3467481" y="575779"/>
                  </a:lnTo>
                  <a:lnTo>
                    <a:pt x="3467290" y="585304"/>
                  </a:lnTo>
                  <a:lnTo>
                    <a:pt x="4211434" y="598487"/>
                  </a:lnTo>
                  <a:lnTo>
                    <a:pt x="4260799" y="598487"/>
                  </a:lnTo>
                  <a:lnTo>
                    <a:pt x="4268635" y="59474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72767" y="2578860"/>
            <a:ext cx="152400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467" spc="-67" dirty="0">
                <a:latin typeface="Verdana"/>
                <a:cs typeface="Verdana"/>
              </a:rPr>
              <a:t>x 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2767" y="3342131"/>
            <a:ext cx="152400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467" spc="-67" dirty="0">
                <a:latin typeface="Verdana"/>
                <a:cs typeface="Verdana"/>
              </a:rPr>
              <a:t>x 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2767" y="4171823"/>
            <a:ext cx="152400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467" spc="-67" dirty="0">
                <a:latin typeface="Verdana"/>
                <a:cs typeface="Verdana"/>
              </a:rPr>
              <a:t>x 3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7981" y="3312879"/>
            <a:ext cx="5071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60" dirty="0">
                <a:latin typeface="Verdana"/>
                <a:cs typeface="Verdana"/>
              </a:rPr>
              <a:t>a=</a:t>
            </a:r>
            <a:r>
              <a:rPr sz="2000" spc="-360" dirty="0">
                <a:latin typeface="Arial MT"/>
                <a:cs typeface="Arial MT"/>
              </a:rPr>
              <a:t>𝑦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4872" algn="ctr">
              <a:lnSpc>
                <a:spcPts val="3807"/>
              </a:lnSpc>
            </a:pPr>
            <a:r>
              <a:rPr sz="3200" dirty="0"/>
              <a:t>Artificial</a:t>
            </a:r>
            <a:r>
              <a:rPr sz="3200" spc="-100" dirty="0"/>
              <a:t> </a:t>
            </a:r>
            <a:r>
              <a:rPr sz="3200" dirty="0"/>
              <a:t>Neural</a:t>
            </a:r>
            <a:r>
              <a:rPr sz="3200" spc="-100" dirty="0"/>
              <a:t> </a:t>
            </a:r>
            <a:r>
              <a:rPr sz="3200" spc="-13" dirty="0"/>
              <a:t>Network</a:t>
            </a:r>
            <a:endParaRPr sz="3200"/>
          </a:p>
        </p:txBody>
      </p:sp>
      <p:grpSp>
        <p:nvGrpSpPr>
          <p:cNvPr id="16" name="object 16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17" name="object 17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21" name="object 21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72069" y="1930915"/>
            <a:ext cx="998220" cy="829733"/>
          </a:xfrm>
          <a:custGeom>
            <a:avLst/>
            <a:gdLst/>
            <a:ahLst/>
            <a:cxnLst/>
            <a:rect l="l" t="t" r="r" b="b"/>
            <a:pathLst>
              <a:path w="748664" h="622300">
                <a:moveTo>
                  <a:pt x="0" y="310895"/>
                </a:moveTo>
                <a:lnTo>
                  <a:pt x="8629" y="244190"/>
                </a:lnTo>
                <a:lnTo>
                  <a:pt x="33300" y="182477"/>
                </a:lnTo>
                <a:lnTo>
                  <a:pt x="72187" y="127270"/>
                </a:lnTo>
                <a:lnTo>
                  <a:pt x="123461" y="80085"/>
                </a:lnTo>
                <a:lnTo>
                  <a:pt x="185296" y="42438"/>
                </a:lnTo>
                <a:lnTo>
                  <a:pt x="255865" y="15845"/>
                </a:lnTo>
                <a:lnTo>
                  <a:pt x="293854" y="7168"/>
                </a:lnTo>
                <a:lnTo>
                  <a:pt x="333342" y="1823"/>
                </a:lnTo>
                <a:lnTo>
                  <a:pt x="374099" y="0"/>
                </a:lnTo>
                <a:lnTo>
                  <a:pt x="414856" y="1823"/>
                </a:lnTo>
                <a:lnTo>
                  <a:pt x="454344" y="7168"/>
                </a:lnTo>
                <a:lnTo>
                  <a:pt x="492333" y="15845"/>
                </a:lnTo>
                <a:lnTo>
                  <a:pt x="528595" y="27665"/>
                </a:lnTo>
                <a:lnTo>
                  <a:pt x="595026" y="59975"/>
                </a:lnTo>
                <a:lnTo>
                  <a:pt x="651809" y="102580"/>
                </a:lnTo>
                <a:lnTo>
                  <a:pt x="697117" y="153965"/>
                </a:lnTo>
                <a:lnTo>
                  <a:pt x="729125" y="212615"/>
                </a:lnTo>
                <a:lnTo>
                  <a:pt x="746003" y="277014"/>
                </a:lnTo>
                <a:lnTo>
                  <a:pt x="748199" y="310895"/>
                </a:lnTo>
                <a:lnTo>
                  <a:pt x="746003" y="344776"/>
                </a:lnTo>
                <a:lnTo>
                  <a:pt x="729125" y="409175"/>
                </a:lnTo>
                <a:lnTo>
                  <a:pt x="697117" y="467825"/>
                </a:lnTo>
                <a:lnTo>
                  <a:pt x="651809" y="519210"/>
                </a:lnTo>
                <a:lnTo>
                  <a:pt x="595026" y="561815"/>
                </a:lnTo>
                <a:lnTo>
                  <a:pt x="528595" y="594125"/>
                </a:lnTo>
                <a:lnTo>
                  <a:pt x="492333" y="605945"/>
                </a:lnTo>
                <a:lnTo>
                  <a:pt x="454344" y="614622"/>
                </a:lnTo>
                <a:lnTo>
                  <a:pt x="414856" y="619967"/>
                </a:lnTo>
                <a:lnTo>
                  <a:pt x="374099" y="621791"/>
                </a:lnTo>
                <a:lnTo>
                  <a:pt x="333342" y="619967"/>
                </a:lnTo>
                <a:lnTo>
                  <a:pt x="293854" y="614622"/>
                </a:lnTo>
                <a:lnTo>
                  <a:pt x="255865" y="605945"/>
                </a:lnTo>
                <a:lnTo>
                  <a:pt x="219603" y="594125"/>
                </a:lnTo>
                <a:lnTo>
                  <a:pt x="153173" y="561815"/>
                </a:lnTo>
                <a:lnTo>
                  <a:pt x="96389" y="519210"/>
                </a:lnTo>
                <a:lnTo>
                  <a:pt x="51081" y="467825"/>
                </a:lnTo>
                <a:lnTo>
                  <a:pt x="19074" y="409175"/>
                </a:lnTo>
                <a:lnTo>
                  <a:pt x="2195" y="344776"/>
                </a:lnTo>
                <a:lnTo>
                  <a:pt x="0" y="310895"/>
                </a:lnTo>
                <a:close/>
              </a:path>
            </a:pathLst>
          </a:custGeom>
          <a:ln w="12174">
            <a:solidFill>
              <a:srgbClr val="6FAB4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80358" y="2163486"/>
            <a:ext cx="34798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latin typeface="Verdana"/>
                <a:cs typeface="Verdana"/>
              </a:rPr>
              <a:t>a1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33517" y="1344563"/>
            <a:ext cx="4935220" cy="3132667"/>
            <a:chOff x="1000137" y="1008422"/>
            <a:chExt cx="3701415" cy="2349500"/>
          </a:xfrm>
        </p:grpSpPr>
        <p:sp>
          <p:nvSpPr>
            <p:cNvPr id="5" name="object 5"/>
            <p:cNvSpPr/>
            <p:nvPr/>
          </p:nvSpPr>
          <p:spPr>
            <a:xfrm>
              <a:off x="1000125" y="1008430"/>
              <a:ext cx="3701415" cy="1362075"/>
            </a:xfrm>
            <a:custGeom>
              <a:avLst/>
              <a:gdLst/>
              <a:ahLst/>
              <a:cxnLst/>
              <a:rect l="l" t="t" r="r" b="b"/>
              <a:pathLst>
                <a:path w="3701415" h="1362075">
                  <a:moveTo>
                    <a:pt x="1754111" y="750658"/>
                  </a:moveTo>
                  <a:lnTo>
                    <a:pt x="1753616" y="750582"/>
                  </a:lnTo>
                  <a:lnTo>
                    <a:pt x="1739874" y="734847"/>
                  </a:lnTo>
                  <a:lnTo>
                    <a:pt x="1710029" y="700659"/>
                  </a:lnTo>
                  <a:lnTo>
                    <a:pt x="1699475" y="720166"/>
                  </a:lnTo>
                  <a:lnTo>
                    <a:pt x="1693735" y="716851"/>
                  </a:lnTo>
                  <a:lnTo>
                    <a:pt x="1693329" y="719988"/>
                  </a:lnTo>
                  <a:lnTo>
                    <a:pt x="4724" y="0"/>
                  </a:lnTo>
                  <a:lnTo>
                    <a:pt x="0" y="8572"/>
                  </a:lnTo>
                  <a:lnTo>
                    <a:pt x="1692059" y="730034"/>
                  </a:lnTo>
                  <a:lnTo>
                    <a:pt x="1691424" y="735037"/>
                  </a:lnTo>
                  <a:lnTo>
                    <a:pt x="1688769" y="739940"/>
                  </a:lnTo>
                  <a:lnTo>
                    <a:pt x="1683334" y="739038"/>
                  </a:lnTo>
                  <a:lnTo>
                    <a:pt x="1683562" y="739762"/>
                  </a:lnTo>
                  <a:lnTo>
                    <a:pt x="3009" y="572160"/>
                  </a:lnTo>
                  <a:lnTo>
                    <a:pt x="1727" y="581685"/>
                  </a:lnTo>
                  <a:lnTo>
                    <a:pt x="1683702" y="749312"/>
                  </a:lnTo>
                  <a:lnTo>
                    <a:pt x="1682153" y="752182"/>
                  </a:lnTo>
                  <a:lnTo>
                    <a:pt x="1687563" y="752119"/>
                  </a:lnTo>
                  <a:lnTo>
                    <a:pt x="1688782" y="755865"/>
                  </a:lnTo>
                  <a:lnTo>
                    <a:pt x="1687931" y="762584"/>
                  </a:lnTo>
                  <a:lnTo>
                    <a:pt x="863" y="1193571"/>
                  </a:lnTo>
                  <a:lnTo>
                    <a:pt x="3860" y="1202715"/>
                  </a:lnTo>
                  <a:lnTo>
                    <a:pt x="1686636" y="772833"/>
                  </a:lnTo>
                  <a:lnTo>
                    <a:pt x="1686534" y="773620"/>
                  </a:lnTo>
                  <a:lnTo>
                    <a:pt x="1693773" y="771271"/>
                  </a:lnTo>
                  <a:lnTo>
                    <a:pt x="1701139" y="793902"/>
                  </a:lnTo>
                  <a:lnTo>
                    <a:pt x="1743595" y="759231"/>
                  </a:lnTo>
                  <a:lnTo>
                    <a:pt x="1752155" y="752259"/>
                  </a:lnTo>
                  <a:lnTo>
                    <a:pt x="1754111" y="751611"/>
                  </a:lnTo>
                  <a:lnTo>
                    <a:pt x="1753412" y="751230"/>
                  </a:lnTo>
                  <a:lnTo>
                    <a:pt x="1754111" y="751141"/>
                  </a:lnTo>
                  <a:lnTo>
                    <a:pt x="1753870" y="750862"/>
                  </a:lnTo>
                  <a:lnTo>
                    <a:pt x="1754111" y="750658"/>
                  </a:lnTo>
                  <a:close/>
                </a:path>
                <a:path w="3701415" h="1362075">
                  <a:moveTo>
                    <a:pt x="3701034" y="1362075"/>
                  </a:moveTo>
                  <a:lnTo>
                    <a:pt x="3686441" y="1342542"/>
                  </a:lnTo>
                  <a:lnTo>
                    <a:pt x="3661245" y="1308823"/>
                  </a:lnTo>
                  <a:lnTo>
                    <a:pt x="3647871" y="1329524"/>
                  </a:lnTo>
                  <a:lnTo>
                    <a:pt x="2504135" y="746569"/>
                  </a:lnTo>
                  <a:lnTo>
                    <a:pt x="2498775" y="754761"/>
                  </a:lnTo>
                  <a:lnTo>
                    <a:pt x="3642512" y="1337818"/>
                  </a:lnTo>
                  <a:lnTo>
                    <a:pt x="3629177" y="1358455"/>
                  </a:lnTo>
                  <a:lnTo>
                    <a:pt x="3701034" y="136207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753920" y="2747783"/>
              <a:ext cx="692785" cy="603885"/>
            </a:xfrm>
            <a:custGeom>
              <a:avLst/>
              <a:gdLst/>
              <a:ahLst/>
              <a:cxnLst/>
              <a:rect l="l" t="t" r="r" b="b"/>
              <a:pathLst>
                <a:path w="692785" h="603885">
                  <a:moveTo>
                    <a:pt x="0" y="301751"/>
                  </a:moveTo>
                  <a:lnTo>
                    <a:pt x="9140" y="232551"/>
                  </a:lnTo>
                  <a:lnTo>
                    <a:pt x="35180" y="169033"/>
                  </a:lnTo>
                  <a:lnTo>
                    <a:pt x="76040" y="113006"/>
                  </a:lnTo>
                  <a:lnTo>
                    <a:pt x="129646" y="66280"/>
                  </a:lnTo>
                  <a:lnTo>
                    <a:pt x="193920" y="30663"/>
                  </a:lnTo>
                  <a:lnTo>
                    <a:pt x="266785" y="7967"/>
                  </a:lnTo>
                  <a:lnTo>
                    <a:pt x="305791" y="2029"/>
                  </a:lnTo>
                  <a:lnTo>
                    <a:pt x="346165" y="0"/>
                  </a:lnTo>
                  <a:lnTo>
                    <a:pt x="386540" y="2029"/>
                  </a:lnTo>
                  <a:lnTo>
                    <a:pt x="425547" y="7967"/>
                  </a:lnTo>
                  <a:lnTo>
                    <a:pt x="462923" y="17587"/>
                  </a:lnTo>
                  <a:lnTo>
                    <a:pt x="531753" y="46970"/>
                  </a:lnTo>
                  <a:lnTo>
                    <a:pt x="590952" y="88367"/>
                  </a:lnTo>
                  <a:lnTo>
                    <a:pt x="638445" y="139970"/>
                  </a:lnTo>
                  <a:lnTo>
                    <a:pt x="672154" y="199969"/>
                  </a:lnTo>
                  <a:lnTo>
                    <a:pt x="690004" y="266554"/>
                  </a:lnTo>
                  <a:lnTo>
                    <a:pt x="692333" y="301751"/>
                  </a:lnTo>
                  <a:lnTo>
                    <a:pt x="690004" y="336948"/>
                  </a:lnTo>
                  <a:lnTo>
                    <a:pt x="672154" y="403533"/>
                  </a:lnTo>
                  <a:lnTo>
                    <a:pt x="638445" y="463532"/>
                  </a:lnTo>
                  <a:lnTo>
                    <a:pt x="590952" y="515135"/>
                  </a:lnTo>
                  <a:lnTo>
                    <a:pt x="531753" y="556533"/>
                  </a:lnTo>
                  <a:lnTo>
                    <a:pt x="462923" y="585915"/>
                  </a:lnTo>
                  <a:lnTo>
                    <a:pt x="425547" y="595535"/>
                  </a:lnTo>
                  <a:lnTo>
                    <a:pt x="386540" y="601473"/>
                  </a:lnTo>
                  <a:lnTo>
                    <a:pt x="346165" y="603502"/>
                  </a:lnTo>
                  <a:lnTo>
                    <a:pt x="305791" y="601473"/>
                  </a:lnTo>
                  <a:lnTo>
                    <a:pt x="266785" y="595535"/>
                  </a:lnTo>
                  <a:lnTo>
                    <a:pt x="229409" y="585915"/>
                  </a:lnTo>
                  <a:lnTo>
                    <a:pt x="160579" y="556533"/>
                  </a:lnTo>
                  <a:lnTo>
                    <a:pt x="101380" y="515135"/>
                  </a:lnTo>
                  <a:lnTo>
                    <a:pt x="53887" y="463532"/>
                  </a:lnTo>
                  <a:lnTo>
                    <a:pt x="20177" y="403533"/>
                  </a:lnTo>
                  <a:lnTo>
                    <a:pt x="2327" y="336948"/>
                  </a:lnTo>
                  <a:lnTo>
                    <a:pt x="0" y="301751"/>
                  </a:lnTo>
                  <a:close/>
                </a:path>
              </a:pathLst>
            </a:custGeom>
            <a:ln w="12174">
              <a:solidFill>
                <a:srgbClr val="6FAB4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9336" y="1216416"/>
            <a:ext cx="2624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x1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336" y="1979429"/>
            <a:ext cx="2624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x2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1833" y="2808991"/>
            <a:ext cx="279400" cy="6353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x3</a:t>
            </a:r>
            <a:endParaRPr sz="1467">
              <a:latin typeface="Verdana"/>
              <a:cs typeface="Verdana"/>
            </a:endParaRPr>
          </a:p>
          <a:p>
            <a:pPr marL="16933">
              <a:spcBef>
                <a:spcPts val="1333"/>
              </a:spcBef>
            </a:pPr>
            <a:r>
              <a:rPr sz="1467" spc="-33" dirty="0">
                <a:latin typeface="Verdana"/>
                <a:cs typeface="Verdana"/>
              </a:rPr>
              <a:t>x1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39786" y="2974303"/>
            <a:ext cx="50715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60" dirty="0">
                <a:latin typeface="Verdana"/>
                <a:cs typeface="Verdana"/>
              </a:rPr>
              <a:t>a=</a:t>
            </a:r>
            <a:r>
              <a:rPr sz="2000" spc="-360" dirty="0">
                <a:latin typeface="Arial MT"/>
                <a:cs typeface="Arial MT"/>
              </a:rPr>
              <a:t>𝑦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1894" y="3884762"/>
            <a:ext cx="34798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latin typeface="Verdana"/>
                <a:cs typeface="Verdana"/>
              </a:rPr>
              <a:t>a2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16787" y="2500052"/>
            <a:ext cx="6512560" cy="2429933"/>
            <a:chOff x="987590" y="1875039"/>
            <a:chExt cx="4884420" cy="1822450"/>
          </a:xfrm>
        </p:grpSpPr>
        <p:sp>
          <p:nvSpPr>
            <p:cNvPr id="13" name="object 13"/>
            <p:cNvSpPr/>
            <p:nvPr/>
          </p:nvSpPr>
          <p:spPr>
            <a:xfrm>
              <a:off x="987590" y="2370594"/>
              <a:ext cx="3713479" cy="1326515"/>
            </a:xfrm>
            <a:custGeom>
              <a:avLst/>
              <a:gdLst/>
              <a:ahLst/>
              <a:cxnLst/>
              <a:rect l="l" t="t" r="r" b="b"/>
              <a:pathLst>
                <a:path w="3713479" h="1326514">
                  <a:moveTo>
                    <a:pt x="1766862" y="678942"/>
                  </a:moveTo>
                  <a:lnTo>
                    <a:pt x="1766265" y="678700"/>
                  </a:lnTo>
                  <a:lnTo>
                    <a:pt x="1754517" y="667893"/>
                  </a:lnTo>
                  <a:lnTo>
                    <a:pt x="1716887" y="633323"/>
                  </a:lnTo>
                  <a:lnTo>
                    <a:pt x="1708708" y="653986"/>
                  </a:lnTo>
                  <a:lnTo>
                    <a:pt x="1702092" y="651129"/>
                  </a:lnTo>
                  <a:lnTo>
                    <a:pt x="1702117" y="653973"/>
                  </a:lnTo>
                  <a:lnTo>
                    <a:pt x="3860" y="123545"/>
                  </a:lnTo>
                  <a:lnTo>
                    <a:pt x="241" y="132499"/>
                  </a:lnTo>
                  <a:lnTo>
                    <a:pt x="1702269" y="664083"/>
                  </a:lnTo>
                  <a:lnTo>
                    <a:pt x="1702371" y="669988"/>
                  </a:lnTo>
                  <a:lnTo>
                    <a:pt x="1700555" y="674547"/>
                  </a:lnTo>
                  <a:lnTo>
                    <a:pt x="1695107" y="674179"/>
                  </a:lnTo>
                  <a:lnTo>
                    <a:pt x="1695513" y="675081"/>
                  </a:lnTo>
                  <a:lnTo>
                    <a:pt x="1955" y="695134"/>
                  </a:lnTo>
                  <a:lnTo>
                    <a:pt x="2108" y="704659"/>
                  </a:lnTo>
                  <a:lnTo>
                    <a:pt x="1696580" y="684580"/>
                  </a:lnTo>
                  <a:lnTo>
                    <a:pt x="1695551" y="687235"/>
                  </a:lnTo>
                  <a:lnTo>
                    <a:pt x="1700860" y="686638"/>
                  </a:lnTo>
                  <a:lnTo>
                    <a:pt x="1702650" y="690524"/>
                  </a:lnTo>
                  <a:lnTo>
                    <a:pt x="1702765" y="697230"/>
                  </a:lnTo>
                  <a:lnTo>
                    <a:pt x="0" y="1317688"/>
                  </a:lnTo>
                  <a:lnTo>
                    <a:pt x="4064" y="1326451"/>
                  </a:lnTo>
                  <a:lnTo>
                    <a:pt x="1702930" y="707415"/>
                  </a:lnTo>
                  <a:lnTo>
                    <a:pt x="1702943" y="708279"/>
                  </a:lnTo>
                  <a:lnTo>
                    <a:pt x="1709483" y="705281"/>
                  </a:lnTo>
                  <a:lnTo>
                    <a:pt x="1719567" y="727049"/>
                  </a:lnTo>
                  <a:lnTo>
                    <a:pt x="1753374" y="692658"/>
                  </a:lnTo>
                  <a:lnTo>
                    <a:pt x="1766544" y="679272"/>
                  </a:lnTo>
                  <a:lnTo>
                    <a:pt x="1766862" y="679234"/>
                  </a:lnTo>
                  <a:lnTo>
                    <a:pt x="1766709" y="679107"/>
                  </a:lnTo>
                  <a:lnTo>
                    <a:pt x="1766862" y="678942"/>
                  </a:lnTo>
                  <a:close/>
                </a:path>
                <a:path w="3713479" h="1326514">
                  <a:moveTo>
                    <a:pt x="3713353" y="0"/>
                  </a:moveTo>
                  <a:lnTo>
                    <a:pt x="3641712" y="5334"/>
                  </a:lnTo>
                  <a:lnTo>
                    <a:pt x="3655631" y="25628"/>
                  </a:lnTo>
                  <a:lnTo>
                    <a:pt x="2455875" y="674751"/>
                  </a:lnTo>
                  <a:lnTo>
                    <a:pt x="2461450" y="682942"/>
                  </a:lnTo>
                  <a:lnTo>
                    <a:pt x="3661232" y="33794"/>
                  </a:lnTo>
                  <a:lnTo>
                    <a:pt x="3675176" y="54102"/>
                  </a:lnTo>
                  <a:lnTo>
                    <a:pt x="3698760" y="20675"/>
                  </a:lnTo>
                  <a:lnTo>
                    <a:pt x="371335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0947" y="1881389"/>
              <a:ext cx="1165225" cy="979805"/>
            </a:xfrm>
            <a:custGeom>
              <a:avLst/>
              <a:gdLst/>
              <a:ahLst/>
              <a:cxnLst/>
              <a:rect l="l" t="t" r="r" b="b"/>
              <a:pathLst>
                <a:path w="1165225" h="979805">
                  <a:moveTo>
                    <a:pt x="0" y="489775"/>
                  </a:moveTo>
                  <a:lnTo>
                    <a:pt x="5781" y="420479"/>
                  </a:lnTo>
                  <a:lnTo>
                    <a:pt x="22603" y="354173"/>
                  </a:lnTo>
                  <a:lnTo>
                    <a:pt x="49676" y="291516"/>
                  </a:lnTo>
                  <a:lnTo>
                    <a:pt x="86212" y="233173"/>
                  </a:lnTo>
                  <a:lnTo>
                    <a:pt x="131423" y="179806"/>
                  </a:lnTo>
                  <a:lnTo>
                    <a:pt x="184519" y="132079"/>
                  </a:lnTo>
                  <a:lnTo>
                    <a:pt x="244715" y="90653"/>
                  </a:lnTo>
                  <a:lnTo>
                    <a:pt x="311221" y="56192"/>
                  </a:lnTo>
                  <a:lnTo>
                    <a:pt x="346594" y="41781"/>
                  </a:lnTo>
                  <a:lnTo>
                    <a:pt x="383249" y="29360"/>
                  </a:lnTo>
                  <a:lnTo>
                    <a:pt x="421087" y="19010"/>
                  </a:lnTo>
                  <a:lnTo>
                    <a:pt x="460011" y="10817"/>
                  </a:lnTo>
                  <a:lnTo>
                    <a:pt x="499921" y="4862"/>
                  </a:lnTo>
                  <a:lnTo>
                    <a:pt x="540719" y="1229"/>
                  </a:lnTo>
                  <a:lnTo>
                    <a:pt x="582305" y="0"/>
                  </a:lnTo>
                  <a:lnTo>
                    <a:pt x="623893" y="1229"/>
                  </a:lnTo>
                  <a:lnTo>
                    <a:pt x="664691" y="4862"/>
                  </a:lnTo>
                  <a:lnTo>
                    <a:pt x="704601" y="10817"/>
                  </a:lnTo>
                  <a:lnTo>
                    <a:pt x="743524" y="19010"/>
                  </a:lnTo>
                  <a:lnTo>
                    <a:pt x="781363" y="29360"/>
                  </a:lnTo>
                  <a:lnTo>
                    <a:pt x="818017" y="41781"/>
                  </a:lnTo>
                  <a:lnTo>
                    <a:pt x="853391" y="56192"/>
                  </a:lnTo>
                  <a:lnTo>
                    <a:pt x="919897" y="90653"/>
                  </a:lnTo>
                  <a:lnTo>
                    <a:pt x="980092" y="132079"/>
                  </a:lnTo>
                  <a:lnTo>
                    <a:pt x="1033189" y="179806"/>
                  </a:lnTo>
                  <a:lnTo>
                    <a:pt x="1078400" y="233173"/>
                  </a:lnTo>
                  <a:lnTo>
                    <a:pt x="1114935" y="291516"/>
                  </a:lnTo>
                  <a:lnTo>
                    <a:pt x="1142009" y="354173"/>
                  </a:lnTo>
                  <a:lnTo>
                    <a:pt x="1158830" y="420479"/>
                  </a:lnTo>
                  <a:lnTo>
                    <a:pt x="1164612" y="489775"/>
                  </a:lnTo>
                  <a:lnTo>
                    <a:pt x="1163151" y="524754"/>
                  </a:lnTo>
                  <a:lnTo>
                    <a:pt x="1151750" y="592638"/>
                  </a:lnTo>
                  <a:lnTo>
                    <a:pt x="1129704" y="657203"/>
                  </a:lnTo>
                  <a:lnTo>
                    <a:pt x="1097801" y="717785"/>
                  </a:lnTo>
                  <a:lnTo>
                    <a:pt x="1056830" y="773723"/>
                  </a:lnTo>
                  <a:lnTo>
                    <a:pt x="1007577" y="824353"/>
                  </a:lnTo>
                  <a:lnTo>
                    <a:pt x="950832" y="869012"/>
                  </a:lnTo>
                  <a:lnTo>
                    <a:pt x="887383" y="907038"/>
                  </a:lnTo>
                  <a:lnTo>
                    <a:pt x="818017" y="937768"/>
                  </a:lnTo>
                  <a:lnTo>
                    <a:pt x="781363" y="950189"/>
                  </a:lnTo>
                  <a:lnTo>
                    <a:pt x="743524" y="960539"/>
                  </a:lnTo>
                  <a:lnTo>
                    <a:pt x="704601" y="968732"/>
                  </a:lnTo>
                  <a:lnTo>
                    <a:pt x="664691" y="974687"/>
                  </a:lnTo>
                  <a:lnTo>
                    <a:pt x="623893" y="978320"/>
                  </a:lnTo>
                  <a:lnTo>
                    <a:pt x="582305" y="979550"/>
                  </a:lnTo>
                  <a:lnTo>
                    <a:pt x="540719" y="978320"/>
                  </a:lnTo>
                  <a:lnTo>
                    <a:pt x="499921" y="974687"/>
                  </a:lnTo>
                  <a:lnTo>
                    <a:pt x="460011" y="968732"/>
                  </a:lnTo>
                  <a:lnTo>
                    <a:pt x="421087" y="960539"/>
                  </a:lnTo>
                  <a:lnTo>
                    <a:pt x="383249" y="950189"/>
                  </a:lnTo>
                  <a:lnTo>
                    <a:pt x="346594" y="937768"/>
                  </a:lnTo>
                  <a:lnTo>
                    <a:pt x="311221" y="923357"/>
                  </a:lnTo>
                  <a:lnTo>
                    <a:pt x="244715" y="888896"/>
                  </a:lnTo>
                  <a:lnTo>
                    <a:pt x="184519" y="847470"/>
                  </a:lnTo>
                  <a:lnTo>
                    <a:pt x="131423" y="799743"/>
                  </a:lnTo>
                  <a:lnTo>
                    <a:pt x="86212" y="746376"/>
                  </a:lnTo>
                  <a:lnTo>
                    <a:pt x="49676" y="688033"/>
                  </a:lnTo>
                  <a:lnTo>
                    <a:pt x="22603" y="625376"/>
                  </a:lnTo>
                  <a:lnTo>
                    <a:pt x="5781" y="559070"/>
                  </a:lnTo>
                  <a:lnTo>
                    <a:pt x="0" y="489775"/>
                  </a:lnTo>
                  <a:close/>
                </a:path>
              </a:pathLst>
            </a:custGeom>
            <a:ln w="12174">
              <a:solidFill>
                <a:srgbClr val="6FAB4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1833" y="3961132"/>
            <a:ext cx="2624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x2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833" y="4790819"/>
            <a:ext cx="2624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x3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4490" y="2979510"/>
            <a:ext cx="34798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latin typeface="Verdana"/>
                <a:cs typeface="Verdana"/>
              </a:rPr>
              <a:t>a3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21100" y="3122692"/>
            <a:ext cx="929640" cy="76200"/>
          </a:xfrm>
          <a:custGeom>
            <a:avLst/>
            <a:gdLst/>
            <a:ahLst/>
            <a:cxnLst/>
            <a:rect l="l" t="t" r="r" b="b"/>
            <a:pathLst>
              <a:path w="697229" h="57150">
                <a:moveTo>
                  <a:pt x="697115" y="28575"/>
                </a:moveTo>
                <a:lnTo>
                  <a:pt x="686384" y="23812"/>
                </a:lnTo>
                <a:lnTo>
                  <a:pt x="632726" y="0"/>
                </a:lnTo>
                <a:lnTo>
                  <a:pt x="632726" y="23812"/>
                </a:lnTo>
                <a:lnTo>
                  <a:pt x="0" y="23812"/>
                </a:lnTo>
                <a:lnTo>
                  <a:pt x="0" y="33337"/>
                </a:lnTo>
                <a:lnTo>
                  <a:pt x="632726" y="33337"/>
                </a:lnTo>
                <a:lnTo>
                  <a:pt x="632726" y="57150"/>
                </a:lnTo>
                <a:lnTo>
                  <a:pt x="686384" y="33337"/>
                </a:lnTo>
                <a:lnTo>
                  <a:pt x="69711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2430615" y="1350273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W11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67221" y="1836681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W21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7221" y="2374399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W31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02205" y="3621027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W12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8811" y="4107435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W22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38811" y="4645149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W32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20430" y="2370716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W13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0430" y="3762123"/>
            <a:ext cx="454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Verdana"/>
                <a:cs typeface="Verdana"/>
              </a:rPr>
              <a:t>W23</a:t>
            </a:r>
            <a:endParaRPr sz="1467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4872" algn="ctr">
              <a:lnSpc>
                <a:spcPts val="3807"/>
              </a:lnSpc>
            </a:pPr>
            <a:r>
              <a:rPr sz="3200" dirty="0"/>
              <a:t>Artificial</a:t>
            </a:r>
            <a:r>
              <a:rPr sz="3200" spc="-100" dirty="0"/>
              <a:t> </a:t>
            </a:r>
            <a:r>
              <a:rPr sz="3200" dirty="0"/>
              <a:t>Neural</a:t>
            </a:r>
            <a:r>
              <a:rPr sz="3200" spc="-100" dirty="0"/>
              <a:t> </a:t>
            </a:r>
            <a:r>
              <a:rPr sz="3200" spc="-13" dirty="0"/>
              <a:t>Network</a:t>
            </a:r>
            <a:endParaRPr sz="3200"/>
          </a:p>
        </p:txBody>
      </p:sp>
      <p:grpSp>
        <p:nvGrpSpPr>
          <p:cNvPr id="31" name="object 31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32" name="object 32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36" name="object 36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6" y="1087078"/>
            <a:ext cx="1981200" cy="22330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9473" indent="-532540">
              <a:spcBef>
                <a:spcPts val="133"/>
              </a:spcBef>
              <a:buAutoNum type="arabicPeriod"/>
              <a:tabLst>
                <a:tab pos="549473" algn="l"/>
              </a:tabLst>
            </a:pPr>
            <a:r>
              <a:rPr sz="2400" spc="-27" dirty="0">
                <a:latin typeface="Times New Roman"/>
                <a:cs typeface="Times New Roman"/>
              </a:rPr>
              <a:t>tanh</a:t>
            </a:r>
            <a:endParaRPr sz="2400">
              <a:latin typeface="Times New Roman"/>
              <a:cs typeface="Times New Roman"/>
            </a:endParaRPr>
          </a:p>
          <a:p>
            <a:pPr marL="549473" indent="-532540">
              <a:buAutoNum type="arabicPeriod"/>
              <a:tabLst>
                <a:tab pos="549473" algn="l"/>
              </a:tabLst>
            </a:pPr>
            <a:r>
              <a:rPr sz="2400" spc="-13" dirty="0">
                <a:latin typeface="Times New Roman"/>
                <a:cs typeface="Times New Roman"/>
              </a:rPr>
              <a:t>Sigmoid</a:t>
            </a:r>
            <a:endParaRPr sz="2400">
              <a:latin typeface="Times New Roman"/>
              <a:cs typeface="Times New Roman"/>
            </a:endParaRPr>
          </a:p>
          <a:p>
            <a:pPr marL="549473" indent="-532540">
              <a:buAutoNum type="arabicPeriod"/>
              <a:tabLst>
                <a:tab pos="549473" algn="l"/>
              </a:tabLst>
            </a:pPr>
            <a:r>
              <a:rPr sz="2400" spc="-27" dirty="0">
                <a:latin typeface="Times New Roman"/>
                <a:cs typeface="Times New Roman"/>
              </a:rPr>
              <a:t>Relu</a:t>
            </a:r>
            <a:endParaRPr sz="2400">
              <a:latin typeface="Times New Roman"/>
              <a:cs typeface="Times New Roman"/>
            </a:endParaRPr>
          </a:p>
          <a:p>
            <a:pPr marL="549473" indent="-532540">
              <a:buAutoNum type="arabicPeriod"/>
              <a:tabLst>
                <a:tab pos="549473" algn="l"/>
              </a:tabLst>
            </a:pPr>
            <a:r>
              <a:rPr sz="2400" dirty="0">
                <a:latin typeface="Times New Roman"/>
                <a:cs typeface="Times New Roman"/>
              </a:rPr>
              <a:t>Leaky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7" dirty="0">
                <a:latin typeface="Times New Roman"/>
                <a:cs typeface="Times New Roman"/>
              </a:rPr>
              <a:t>Relu</a:t>
            </a:r>
            <a:endParaRPr sz="2400">
              <a:latin typeface="Times New Roman"/>
              <a:cs typeface="Times New Roman"/>
            </a:endParaRPr>
          </a:p>
          <a:p>
            <a:pPr marL="549473" indent="-532540">
              <a:buAutoNum type="arabicPeriod"/>
              <a:tabLst>
                <a:tab pos="549473" algn="l"/>
              </a:tabLst>
            </a:pPr>
            <a:r>
              <a:rPr sz="2400" spc="-13" dirty="0">
                <a:latin typeface="Times New Roman"/>
                <a:cs typeface="Times New Roman"/>
              </a:rPr>
              <a:t>Softmax</a:t>
            </a:r>
            <a:endParaRPr sz="2400">
              <a:latin typeface="Times New Roman"/>
              <a:cs typeface="Times New Roman"/>
            </a:endParaRPr>
          </a:p>
          <a:p>
            <a:pPr marL="549473" indent="-532540">
              <a:buAutoNum type="arabicPeriod"/>
              <a:tabLst>
                <a:tab pos="549473" algn="l"/>
              </a:tabLst>
            </a:pPr>
            <a:r>
              <a:rPr sz="2400" spc="-13" dirty="0">
                <a:latin typeface="Times New Roman"/>
                <a:cs typeface="Times New Roman"/>
              </a:rPr>
              <a:t>Identity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43178" algn="ctr">
              <a:lnSpc>
                <a:spcPts val="3807"/>
              </a:lnSpc>
            </a:pPr>
            <a:r>
              <a:rPr sz="3200" dirty="0"/>
              <a:t>ANN</a:t>
            </a:r>
            <a:r>
              <a:rPr sz="3200" spc="-40" dirty="0"/>
              <a:t> </a:t>
            </a:r>
            <a:r>
              <a:rPr sz="3200" dirty="0"/>
              <a:t>-</a:t>
            </a:r>
            <a:r>
              <a:rPr sz="3200" spc="-33" dirty="0"/>
              <a:t> </a:t>
            </a:r>
            <a:r>
              <a:rPr sz="3200" spc="-13" dirty="0"/>
              <a:t>Activation</a:t>
            </a:r>
            <a:r>
              <a:rPr sz="3200" spc="-33" dirty="0"/>
              <a:t> </a:t>
            </a:r>
            <a:r>
              <a:rPr sz="3200" spc="-13" dirty="0"/>
              <a:t>Functions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-12700" y="121715"/>
            <a:ext cx="12218247" cy="907627"/>
            <a:chOff x="-9525" y="91286"/>
            <a:chExt cx="9163685" cy="680720"/>
          </a:xfrm>
        </p:grpSpPr>
        <p:sp>
          <p:nvSpPr>
            <p:cNvPr id="8" name="object 8"/>
            <p:cNvSpPr/>
            <p:nvPr/>
          </p:nvSpPr>
          <p:spPr>
            <a:xfrm>
              <a:off x="0" y="686261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28786" algn="ctr">
              <a:lnSpc>
                <a:spcPts val="3807"/>
              </a:lnSpc>
            </a:pPr>
            <a:r>
              <a:rPr sz="3200" dirty="0">
                <a:solidFill>
                  <a:srgbClr val="FFFFFF"/>
                </a:solidFill>
              </a:rPr>
              <a:t>Basic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Structure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of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spc="-33" dirty="0">
                <a:solidFill>
                  <a:srgbClr val="FFFFFF"/>
                </a:solidFill>
              </a:rPr>
              <a:t>ANN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361742" y="1146583"/>
            <a:ext cx="11407140" cy="1178955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501214" marR="6773" indent="-485128" algn="just">
              <a:lnSpc>
                <a:spcPts val="2880"/>
              </a:lnSpc>
              <a:spcBef>
                <a:spcPts val="493"/>
              </a:spcBef>
              <a:buSzPct val="90000"/>
              <a:buFont typeface="Courier New"/>
              <a:buChar char="o"/>
              <a:tabLst>
                <a:tab pos="504601" algn="l"/>
              </a:tabLst>
            </a:pPr>
            <a:r>
              <a:rPr sz="2667" dirty="0">
                <a:latin typeface="Calibri"/>
                <a:cs typeface="Calibri"/>
              </a:rPr>
              <a:t>The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idea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ANNs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is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based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on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belief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that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working</a:t>
            </a:r>
            <a:r>
              <a:rPr sz="2667" spc="2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2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human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brain</a:t>
            </a:r>
            <a:r>
              <a:rPr sz="2667" spc="227" dirty="0">
                <a:latin typeface="Calibri"/>
                <a:cs typeface="Calibri"/>
              </a:rPr>
              <a:t> </a:t>
            </a:r>
            <a:r>
              <a:rPr sz="2667" spc="-33" dirty="0">
                <a:latin typeface="Calibri"/>
                <a:cs typeface="Calibri"/>
              </a:rPr>
              <a:t>by 	</a:t>
            </a:r>
            <a:r>
              <a:rPr sz="2667" dirty="0">
                <a:latin typeface="Calibri"/>
                <a:cs typeface="Calibri"/>
              </a:rPr>
              <a:t>making</a:t>
            </a:r>
            <a:r>
              <a:rPr sz="2667" spc="1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right</a:t>
            </a:r>
            <a:r>
              <a:rPr sz="2667" spc="1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connections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can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be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imitated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using</a:t>
            </a:r>
            <a:r>
              <a:rPr sz="2667" spc="12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silicon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wires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as</a:t>
            </a:r>
            <a:r>
              <a:rPr sz="2667" spc="133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living 	</a:t>
            </a:r>
            <a:r>
              <a:rPr sz="2667" dirty="0">
                <a:latin typeface="Calibri"/>
                <a:cs typeface="Calibri"/>
              </a:rPr>
              <a:t>neurons</a:t>
            </a:r>
            <a:r>
              <a:rPr sz="2667" spc="-1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-10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dendrites.</a:t>
            </a:r>
            <a:endParaRPr sz="2667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70029" y="2418532"/>
            <a:ext cx="6642947" cy="4211320"/>
            <a:chOff x="2452522" y="1813899"/>
            <a:chExt cx="4982210" cy="31584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2048" y="1912468"/>
              <a:ext cx="4887925" cy="29384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57285" y="1818661"/>
              <a:ext cx="4972685" cy="3148965"/>
            </a:xfrm>
            <a:custGeom>
              <a:avLst/>
              <a:gdLst/>
              <a:ahLst/>
              <a:cxnLst/>
              <a:rect l="l" t="t" r="r" b="b"/>
              <a:pathLst>
                <a:path w="4972684" h="3148965">
                  <a:moveTo>
                    <a:pt x="0" y="0"/>
                  </a:moveTo>
                  <a:lnTo>
                    <a:pt x="4972649" y="0"/>
                  </a:lnTo>
                  <a:lnTo>
                    <a:pt x="4972649" y="3148349"/>
                  </a:lnTo>
                  <a:lnTo>
                    <a:pt x="0" y="3148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207549"/>
            <a:ext cx="8994140" cy="487313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28786" algn="ctr">
              <a:lnSpc>
                <a:spcPts val="3807"/>
              </a:lnSpc>
            </a:pPr>
            <a:r>
              <a:rPr sz="3200" dirty="0">
                <a:solidFill>
                  <a:srgbClr val="FFFFFF"/>
                </a:solidFill>
              </a:rPr>
              <a:t>Basic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Structure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of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spc="-33" dirty="0">
                <a:solidFill>
                  <a:srgbClr val="FFFFFF"/>
                </a:solidFill>
              </a:rPr>
              <a:t>ANN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514151" y="1146574"/>
            <a:ext cx="7453207" cy="4308017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501214" marR="6773" indent="-485128" algn="just">
              <a:lnSpc>
                <a:spcPts val="2880"/>
              </a:lnSpc>
              <a:spcBef>
                <a:spcPts val="493"/>
              </a:spcBef>
              <a:buSzPct val="90000"/>
              <a:buFont typeface="Courier New"/>
              <a:buChar char="o"/>
              <a:tabLst>
                <a:tab pos="504601" algn="l"/>
              </a:tabLst>
            </a:pPr>
            <a:r>
              <a:rPr sz="2667" dirty="0">
                <a:latin typeface="Calibri"/>
                <a:cs typeface="Calibri"/>
              </a:rPr>
              <a:t>ANNs</a:t>
            </a:r>
            <a:r>
              <a:rPr sz="2667" spc="11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12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composed</a:t>
            </a:r>
            <a:r>
              <a:rPr sz="2667" spc="12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12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multiple</a:t>
            </a:r>
            <a:r>
              <a:rPr sz="2667" spc="-13" dirty="0">
                <a:latin typeface="Calibri"/>
                <a:cs typeface="Calibri"/>
              </a:rPr>
              <a:t> </a:t>
            </a:r>
            <a:r>
              <a:rPr sz="2667" b="1" dirty="0">
                <a:latin typeface="Calibri"/>
                <a:cs typeface="Calibri"/>
              </a:rPr>
              <a:t>nodes</a:t>
            </a:r>
            <a:r>
              <a:rPr sz="2667" dirty="0">
                <a:latin typeface="Calibri"/>
                <a:cs typeface="Calibri"/>
              </a:rPr>
              <a:t>,</a:t>
            </a:r>
            <a:r>
              <a:rPr sz="2667" spc="120" dirty="0">
                <a:latin typeface="Calibri"/>
                <a:cs typeface="Calibri"/>
              </a:rPr>
              <a:t>  </a:t>
            </a:r>
            <a:r>
              <a:rPr sz="2667" spc="-13" dirty="0">
                <a:latin typeface="Calibri"/>
                <a:cs typeface="Calibri"/>
              </a:rPr>
              <a:t>which 	</a:t>
            </a:r>
            <a:r>
              <a:rPr sz="2667" dirty="0">
                <a:latin typeface="Calibri"/>
                <a:cs typeface="Calibri"/>
              </a:rPr>
              <a:t>imitate</a:t>
            </a:r>
            <a:r>
              <a:rPr sz="2667" spc="107" dirty="0">
                <a:latin typeface="Calibri"/>
                <a:cs typeface="Calibri"/>
              </a:rPr>
              <a:t>  </a:t>
            </a:r>
            <a:r>
              <a:rPr sz="2667" spc="-13" dirty="0">
                <a:latin typeface="Calibri"/>
                <a:cs typeface="Calibri"/>
              </a:rPr>
              <a:t>biological </a:t>
            </a:r>
            <a:r>
              <a:rPr sz="2667" b="1" spc="-13" dirty="0">
                <a:latin typeface="Calibri"/>
                <a:cs typeface="Calibri"/>
              </a:rPr>
              <a:t>neurons</a:t>
            </a:r>
            <a:r>
              <a:rPr sz="2667" b="1" spc="-4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11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1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human</a:t>
            </a:r>
            <a:r>
              <a:rPr sz="2667" spc="107" dirty="0">
                <a:latin typeface="Calibri"/>
                <a:cs typeface="Calibri"/>
              </a:rPr>
              <a:t>  </a:t>
            </a:r>
            <a:r>
              <a:rPr sz="2667" spc="-13" dirty="0">
                <a:latin typeface="Calibri"/>
                <a:cs typeface="Calibri"/>
              </a:rPr>
              <a:t>brain. 	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neurons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are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connected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by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links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93" dirty="0">
                <a:latin typeface="Calibri"/>
                <a:cs typeface="Calibri"/>
              </a:rPr>
              <a:t>  </a:t>
            </a:r>
            <a:r>
              <a:rPr sz="2667" spc="-27" dirty="0">
                <a:latin typeface="Calibri"/>
                <a:cs typeface="Calibri"/>
              </a:rPr>
              <a:t>they 	</a:t>
            </a:r>
            <a:r>
              <a:rPr sz="2667" spc="-13" dirty="0">
                <a:latin typeface="Calibri"/>
                <a:cs typeface="Calibri"/>
              </a:rPr>
              <a:t>interact</a:t>
            </a:r>
            <a:r>
              <a:rPr sz="2667" spc="-9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with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each</a:t>
            </a:r>
            <a:r>
              <a:rPr sz="2667" spc="-93" dirty="0">
                <a:latin typeface="Calibri"/>
                <a:cs typeface="Calibri"/>
              </a:rPr>
              <a:t> </a:t>
            </a:r>
            <a:r>
              <a:rPr sz="2667" spc="-47" dirty="0">
                <a:latin typeface="Calibri"/>
                <a:cs typeface="Calibri"/>
              </a:rPr>
              <a:t>other.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nodes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can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take</a:t>
            </a:r>
            <a:r>
              <a:rPr sz="2667" spc="-87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input 	</a:t>
            </a:r>
            <a:r>
              <a:rPr sz="2667" dirty="0">
                <a:latin typeface="Calibri"/>
                <a:cs typeface="Calibri"/>
              </a:rPr>
              <a:t>data</a:t>
            </a:r>
            <a:r>
              <a:rPr sz="2667" spc="14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and</a:t>
            </a:r>
            <a:r>
              <a:rPr sz="2667" spc="152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perform</a:t>
            </a:r>
            <a:r>
              <a:rPr sz="2667" spc="14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simple</a:t>
            </a:r>
            <a:r>
              <a:rPr sz="2667" spc="152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operations</a:t>
            </a:r>
            <a:r>
              <a:rPr sz="2667" spc="152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on</a:t>
            </a:r>
            <a:r>
              <a:rPr sz="2667" spc="147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52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data. 	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19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result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these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operations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is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passed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to</a:t>
            </a:r>
            <a:r>
              <a:rPr sz="2667" spc="20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other 	</a:t>
            </a:r>
            <a:r>
              <a:rPr sz="2667" dirty="0">
                <a:latin typeface="Calibri"/>
                <a:cs typeface="Calibri"/>
              </a:rPr>
              <a:t>neurons.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The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output</a:t>
            </a:r>
            <a:r>
              <a:rPr sz="2667" spc="272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at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each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node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is</a:t>
            </a:r>
            <a:r>
              <a:rPr sz="2667" spc="280" dirty="0">
                <a:latin typeface="Calibri"/>
                <a:cs typeface="Calibri"/>
              </a:rPr>
              <a:t>  </a:t>
            </a:r>
            <a:r>
              <a:rPr sz="2667" spc="-13" dirty="0">
                <a:latin typeface="Calibri"/>
                <a:cs typeface="Calibri"/>
              </a:rPr>
              <a:t>called 	</a:t>
            </a:r>
            <a:r>
              <a:rPr sz="2667" dirty="0">
                <a:latin typeface="Calibri"/>
                <a:cs typeface="Calibri"/>
              </a:rPr>
              <a:t>its</a:t>
            </a:r>
            <a:r>
              <a:rPr sz="2667" spc="-73" dirty="0">
                <a:latin typeface="Calibri"/>
                <a:cs typeface="Calibri"/>
              </a:rPr>
              <a:t> </a:t>
            </a:r>
            <a:r>
              <a:rPr sz="2667" b="1" dirty="0">
                <a:latin typeface="Calibri"/>
                <a:cs typeface="Calibri"/>
              </a:rPr>
              <a:t>activation</a:t>
            </a:r>
            <a:r>
              <a:rPr sz="2667" b="1" spc="-6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or</a:t>
            </a:r>
            <a:r>
              <a:rPr sz="2667" spc="-67" dirty="0">
                <a:latin typeface="Calibri"/>
                <a:cs typeface="Calibri"/>
              </a:rPr>
              <a:t> </a:t>
            </a:r>
            <a:r>
              <a:rPr sz="2667" b="1" dirty="0">
                <a:latin typeface="Calibri"/>
                <a:cs typeface="Calibri"/>
              </a:rPr>
              <a:t>node</a:t>
            </a:r>
            <a:r>
              <a:rPr sz="2667" b="1" spc="-67" dirty="0">
                <a:latin typeface="Calibri"/>
                <a:cs typeface="Calibri"/>
              </a:rPr>
              <a:t> </a:t>
            </a:r>
            <a:r>
              <a:rPr sz="2667" b="1" spc="-13" dirty="0">
                <a:latin typeface="Calibri"/>
                <a:cs typeface="Calibri"/>
              </a:rPr>
              <a:t>value.</a:t>
            </a:r>
            <a:endParaRPr sz="2667">
              <a:latin typeface="Calibri"/>
              <a:cs typeface="Calibri"/>
            </a:endParaRPr>
          </a:p>
          <a:p>
            <a:pPr marL="501214" marR="16086" indent="-485128" algn="just">
              <a:lnSpc>
                <a:spcPts val="2880"/>
              </a:lnSpc>
              <a:spcBef>
                <a:spcPts val="1200"/>
              </a:spcBef>
              <a:buSzPct val="90000"/>
              <a:buFont typeface="Courier New"/>
              <a:buChar char="o"/>
              <a:tabLst>
                <a:tab pos="504601" algn="l"/>
              </a:tabLst>
            </a:pPr>
            <a:r>
              <a:rPr sz="2667" dirty="0">
                <a:latin typeface="Calibri"/>
                <a:cs typeface="Calibri"/>
              </a:rPr>
              <a:t>Each</a:t>
            </a:r>
            <a:r>
              <a:rPr sz="2667" spc="160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link</a:t>
            </a:r>
            <a:r>
              <a:rPr sz="2667" spc="167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is</a:t>
            </a:r>
            <a:r>
              <a:rPr sz="2667" spc="167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associated</a:t>
            </a:r>
            <a:r>
              <a:rPr sz="2667" spc="167" dirty="0">
                <a:latin typeface="Calibri"/>
                <a:cs typeface="Calibri"/>
              </a:rPr>
              <a:t>  </a:t>
            </a:r>
            <a:r>
              <a:rPr sz="2667" dirty="0">
                <a:latin typeface="Calibri"/>
                <a:cs typeface="Calibri"/>
              </a:rPr>
              <a:t>with</a:t>
            </a:r>
            <a:r>
              <a:rPr sz="2667" spc="-27" dirty="0">
                <a:latin typeface="Calibri"/>
                <a:cs typeface="Calibri"/>
              </a:rPr>
              <a:t> </a:t>
            </a:r>
            <a:r>
              <a:rPr sz="2667" b="1" dirty="0">
                <a:latin typeface="Calibri"/>
                <a:cs typeface="Calibri"/>
              </a:rPr>
              <a:t>weight.</a:t>
            </a:r>
            <a:r>
              <a:rPr sz="2667" b="1" spc="-4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ANNs</a:t>
            </a:r>
            <a:r>
              <a:rPr sz="2667" spc="167" dirty="0">
                <a:latin typeface="Calibri"/>
                <a:cs typeface="Calibri"/>
              </a:rPr>
              <a:t>  </a:t>
            </a:r>
            <a:r>
              <a:rPr sz="2667" spc="-33" dirty="0">
                <a:latin typeface="Calibri"/>
                <a:cs typeface="Calibri"/>
              </a:rPr>
              <a:t>are 	</a:t>
            </a:r>
            <a:r>
              <a:rPr sz="2667" dirty="0">
                <a:latin typeface="Calibri"/>
                <a:cs typeface="Calibri"/>
              </a:rPr>
              <a:t>capable</a:t>
            </a:r>
            <a:r>
              <a:rPr sz="2667" spc="113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of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learning,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which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takes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place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dirty="0">
                <a:latin typeface="Calibri"/>
                <a:cs typeface="Calibri"/>
              </a:rPr>
              <a:t>by</a:t>
            </a:r>
            <a:r>
              <a:rPr sz="2667" spc="12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altering 	</a:t>
            </a:r>
            <a:r>
              <a:rPr sz="2667" dirty="0">
                <a:latin typeface="Calibri"/>
                <a:cs typeface="Calibri"/>
              </a:rPr>
              <a:t>weight</a:t>
            </a:r>
            <a:r>
              <a:rPr sz="2667" spc="-140" dirty="0">
                <a:latin typeface="Calibri"/>
                <a:cs typeface="Calibri"/>
              </a:rPr>
              <a:t> </a:t>
            </a:r>
            <a:r>
              <a:rPr sz="2667" spc="-13" dirty="0">
                <a:latin typeface="Calibri"/>
                <a:cs typeface="Calibri"/>
              </a:rPr>
              <a:t>values</a:t>
            </a:r>
            <a:endParaRPr sz="2667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40465" y="2002399"/>
            <a:ext cx="3464560" cy="2853267"/>
            <a:chOff x="6255349" y="1501799"/>
            <a:chExt cx="2598420" cy="21399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4875" y="1567136"/>
              <a:ext cx="2542841" cy="20092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60112" y="1506562"/>
              <a:ext cx="2588895" cy="2130425"/>
            </a:xfrm>
            <a:custGeom>
              <a:avLst/>
              <a:gdLst/>
              <a:ahLst/>
              <a:cxnLst/>
              <a:rect l="l" t="t" r="r" b="b"/>
              <a:pathLst>
                <a:path w="2588895" h="2130425">
                  <a:moveTo>
                    <a:pt x="0" y="0"/>
                  </a:moveTo>
                  <a:lnTo>
                    <a:pt x="2588349" y="0"/>
                  </a:lnTo>
                  <a:lnTo>
                    <a:pt x="2588349" y="2130374"/>
                  </a:lnTo>
                  <a:lnTo>
                    <a:pt x="0" y="21303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334" y="1181803"/>
            <a:ext cx="94564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0048" indent="-463115">
              <a:spcBef>
                <a:spcPts val="133"/>
              </a:spcBef>
              <a:buSzPct val="96875"/>
              <a:buFont typeface="Arial MT"/>
              <a:buChar char="●"/>
              <a:tabLst>
                <a:tab pos="480048" algn="l"/>
              </a:tabLst>
            </a:pPr>
            <a:r>
              <a:rPr sz="2133" dirty="0">
                <a:latin typeface="Calibri"/>
                <a:cs typeface="Calibri"/>
              </a:rPr>
              <a:t>There</a:t>
            </a:r>
            <a:r>
              <a:rPr sz="2133" spc="-10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are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two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Artificial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Neural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Network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topologies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spc="-900" dirty="0">
                <a:latin typeface="Arial MT"/>
                <a:cs typeface="Arial MT"/>
              </a:rPr>
              <a:t>−</a:t>
            </a:r>
            <a:r>
              <a:rPr sz="2133" spc="-113" dirty="0">
                <a:latin typeface="Arial MT"/>
                <a:cs typeface="Arial MT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FeedForward</a:t>
            </a:r>
            <a:r>
              <a:rPr sz="2133" b="1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and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Feedback.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6246" algn="ctr">
              <a:lnSpc>
                <a:spcPct val="100000"/>
              </a:lnSpc>
              <a:spcBef>
                <a:spcPts val="80"/>
              </a:spcBef>
            </a:pPr>
            <a:r>
              <a:rPr sz="3200" spc="-13" dirty="0">
                <a:solidFill>
                  <a:srgbClr val="FFFFFF"/>
                </a:solidFill>
              </a:rPr>
              <a:t>Types</a:t>
            </a:r>
            <a:r>
              <a:rPr sz="3200" spc="-9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of</a:t>
            </a:r>
            <a:r>
              <a:rPr sz="3200" spc="-87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Artificial</a:t>
            </a:r>
            <a:r>
              <a:rPr sz="3200" spc="-9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Neural</a:t>
            </a:r>
            <a:r>
              <a:rPr sz="3200" spc="-87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Networks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568" y="2582024"/>
            <a:ext cx="4064000" cy="29083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41180" y="2215891"/>
            <a:ext cx="4969981" cy="3808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334" y="1181803"/>
            <a:ext cx="10640060" cy="20641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0048" indent="-463115">
              <a:spcBef>
                <a:spcPts val="133"/>
              </a:spcBef>
              <a:buSzPct val="96875"/>
              <a:buFont typeface="Arial MT"/>
              <a:buChar char="●"/>
              <a:tabLst>
                <a:tab pos="480048" algn="l"/>
              </a:tabLst>
            </a:pPr>
            <a:r>
              <a:rPr sz="2133" dirty="0">
                <a:latin typeface="Calibri"/>
                <a:cs typeface="Calibri"/>
              </a:rPr>
              <a:t>Considering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40" dirty="0">
                <a:latin typeface="Calibri"/>
                <a:cs typeface="Calibri"/>
              </a:rPr>
              <a:t>layer,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there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are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two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Artificial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Neural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Network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topologies: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</a:t>
            </a:r>
            <a:r>
              <a:rPr sz="2133" spc="-7" dirty="0">
                <a:latin typeface="Calibri"/>
                <a:cs typeface="Calibri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single-layer</a:t>
            </a:r>
            <a:endParaRPr sz="2133">
              <a:latin typeface="Calibri"/>
              <a:cs typeface="Calibri"/>
            </a:endParaRPr>
          </a:p>
          <a:p>
            <a:pPr marL="480048">
              <a:spcBef>
                <a:spcPts val="1713"/>
              </a:spcBef>
            </a:pPr>
            <a:r>
              <a:rPr sz="2133" b="1" spc="-13" dirty="0">
                <a:latin typeface="Calibri"/>
                <a:cs typeface="Calibri"/>
              </a:rPr>
              <a:t>perceptron</a:t>
            </a:r>
            <a:r>
              <a:rPr sz="2133" b="1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and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multi-</a:t>
            </a:r>
            <a:r>
              <a:rPr sz="2133" b="1" dirty="0">
                <a:latin typeface="Calibri"/>
                <a:cs typeface="Calibri"/>
              </a:rPr>
              <a:t>layer</a:t>
            </a:r>
            <a:r>
              <a:rPr sz="2133" b="1" spc="-47" dirty="0">
                <a:latin typeface="Calibri"/>
                <a:cs typeface="Calibri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perceptron</a:t>
            </a:r>
            <a:r>
              <a:rPr sz="2133" spc="-13" dirty="0">
                <a:latin typeface="Calibri"/>
                <a:cs typeface="Calibri"/>
              </a:rPr>
              <a:t>.</a:t>
            </a:r>
            <a:endParaRPr sz="2133">
              <a:latin typeface="Calibri"/>
              <a:cs typeface="Calibri"/>
            </a:endParaRPr>
          </a:p>
          <a:p>
            <a:pPr marL="480048" marR="6773" indent="-463962">
              <a:lnSpc>
                <a:spcPct val="167000"/>
              </a:lnSpc>
              <a:spcBef>
                <a:spcPts val="1067"/>
              </a:spcBef>
              <a:buSzPct val="96875"/>
              <a:buFont typeface="Arial MT"/>
              <a:buChar char="●"/>
              <a:tabLst>
                <a:tab pos="480048" algn="l"/>
              </a:tabLst>
            </a:pPr>
            <a:r>
              <a:rPr sz="2133" dirty="0">
                <a:latin typeface="Calibri"/>
                <a:cs typeface="Calibri"/>
              </a:rPr>
              <a:t>A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single-layer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perceptron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is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more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suitable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for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simple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and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linear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problems,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while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multi-</a:t>
            </a:r>
            <a:r>
              <a:rPr sz="2133" spc="-13" dirty="0">
                <a:latin typeface="Calibri"/>
                <a:cs typeface="Calibri"/>
              </a:rPr>
              <a:t>layer perceptron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is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more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suitable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for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complex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and</a:t>
            </a:r>
            <a:r>
              <a:rPr sz="2133" spc="-6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non-</a:t>
            </a:r>
            <a:r>
              <a:rPr sz="2133" dirty="0">
                <a:latin typeface="Calibri"/>
                <a:cs typeface="Calibri"/>
              </a:rPr>
              <a:t>linear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problems.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6246" algn="ctr">
              <a:lnSpc>
                <a:spcPct val="100000"/>
              </a:lnSpc>
              <a:spcBef>
                <a:spcPts val="80"/>
              </a:spcBef>
            </a:pPr>
            <a:r>
              <a:rPr sz="3200" spc="-13" dirty="0">
                <a:solidFill>
                  <a:srgbClr val="FFFFFF"/>
                </a:solidFill>
              </a:rPr>
              <a:t>Types</a:t>
            </a:r>
            <a:r>
              <a:rPr sz="3200" spc="-9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of</a:t>
            </a:r>
            <a:r>
              <a:rPr sz="3200" spc="-87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Artificial</a:t>
            </a:r>
            <a:r>
              <a:rPr sz="3200" spc="-9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Neural</a:t>
            </a:r>
            <a:r>
              <a:rPr sz="3200" spc="-87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Networks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48769" y="3814766"/>
            <a:ext cx="6886031" cy="25991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2" y="1035365"/>
            <a:ext cx="11224260" cy="5574176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47412">
              <a:spcBef>
                <a:spcPts val="1047"/>
              </a:spcBef>
            </a:pP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Activation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Function?</a:t>
            </a:r>
            <a:endParaRPr sz="2400">
              <a:latin typeface="Calibri"/>
              <a:cs typeface="Calibri"/>
            </a:endParaRPr>
          </a:p>
          <a:p>
            <a:pPr marL="504601" marR="1164984" indent="-488514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node.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known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Transfer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Function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504601" marR="725575" indent="-488514">
              <a:lnSpc>
                <a:spcPts val="2585"/>
              </a:lnSpc>
              <a:spcBef>
                <a:spcPts val="1207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i="1" dirty="0">
                <a:latin typeface="Calibri"/>
                <a:cs typeface="Calibri"/>
              </a:rPr>
              <a:t>Their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main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purpose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convert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input</a:t>
            </a:r>
            <a:r>
              <a:rPr sz="2400" i="1" spc="-3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signal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node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3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alibri"/>
                <a:cs typeface="Calibri"/>
              </a:rPr>
              <a:t>output </a:t>
            </a:r>
            <a:r>
              <a:rPr sz="2400" i="1" dirty="0">
                <a:latin typeface="Calibri"/>
                <a:cs typeface="Calibri"/>
              </a:rPr>
              <a:t>signal.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504601" marR="283626" indent="-488514">
              <a:lnSpc>
                <a:spcPts val="2585"/>
              </a:lnSpc>
              <a:spcBef>
                <a:spcPts val="1213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spc="-13" dirty="0">
                <a:latin typeface="Calibri"/>
                <a:cs typeface="Calibri"/>
              </a:rPr>
              <a:t>Specifically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A-</a:t>
            </a:r>
            <a:r>
              <a:rPr sz="2400" dirty="0">
                <a:latin typeface="Calibri"/>
                <a:cs typeface="Calibri"/>
              </a:rPr>
              <a:t>NN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products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inputs(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corresponding Weights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f(x)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layer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layer.</a:t>
            </a:r>
            <a:endParaRPr sz="2400">
              <a:latin typeface="Calibri"/>
              <a:cs typeface="Calibri"/>
            </a:endParaRPr>
          </a:p>
          <a:p>
            <a:pPr marL="47412" marR="6773">
              <a:lnSpc>
                <a:spcPts val="2585"/>
              </a:lnSpc>
              <a:spcBef>
                <a:spcPts val="1213"/>
              </a:spcBef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determine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no.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maps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resulting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(depending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function).</a:t>
            </a:r>
            <a:endParaRPr sz="2400">
              <a:latin typeface="Calibri"/>
              <a:cs typeface="Calibri"/>
            </a:endParaRPr>
          </a:p>
          <a:p>
            <a:pPr marL="47412">
              <a:spcBef>
                <a:spcPts val="88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Functions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types-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913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913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spc="-27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4553" algn="ctr">
              <a:lnSpc>
                <a:spcPct val="100000"/>
              </a:lnSpc>
              <a:spcBef>
                <a:spcPts val="80"/>
              </a:spcBef>
            </a:pPr>
            <a:r>
              <a:rPr sz="3200" spc="-13" dirty="0">
                <a:solidFill>
                  <a:srgbClr val="FFFFFF"/>
                </a:solidFill>
              </a:rPr>
              <a:t>Activation</a:t>
            </a:r>
            <a:r>
              <a:rPr sz="3200" spc="-8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Functions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and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their</a:t>
            </a:r>
            <a:r>
              <a:rPr sz="3200" spc="-73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Types</a:t>
            </a:r>
            <a:endParaRPr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2" y="1151188"/>
            <a:ext cx="11209020" cy="1695336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47412" marR="6773">
              <a:lnSpc>
                <a:spcPts val="2585"/>
              </a:lnSpc>
              <a:spcBef>
                <a:spcPts val="460"/>
              </a:spcBef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linear.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Therefore,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will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confined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range.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880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b="1" dirty="0">
                <a:latin typeface="Calibri"/>
                <a:cs typeface="Calibri"/>
              </a:rPr>
              <a:t>Equation: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f(x)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913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b="1" dirty="0">
                <a:latin typeface="Calibri"/>
                <a:cs typeface="Calibri"/>
              </a:rPr>
              <a:t>Range: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(-</a:t>
            </a:r>
            <a:r>
              <a:rPr sz="2400" dirty="0">
                <a:latin typeface="Calibri"/>
                <a:cs typeface="Calibri"/>
              </a:rPr>
              <a:t>infinity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infinity)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6246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Linear</a:t>
            </a:r>
            <a:r>
              <a:rPr sz="3200" spc="-6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Activation</a:t>
            </a:r>
            <a:r>
              <a:rPr sz="3200" spc="-53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Functions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8454" y="3416674"/>
            <a:ext cx="4571999" cy="29464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1" y="1151188"/>
            <a:ext cx="112471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3754" indent="-486821">
              <a:spcBef>
                <a:spcPts val="133"/>
              </a:spcBef>
              <a:buFont typeface="Courier New"/>
              <a:buChar char="o"/>
              <a:tabLst>
                <a:tab pos="503754" algn="l"/>
                <a:tab pos="1200543" algn="l"/>
                <a:tab pos="2656774" algn="l"/>
                <a:tab pos="4138403" algn="l"/>
                <a:tab pos="5576007" algn="l"/>
                <a:tab pos="6211838" algn="l"/>
                <a:tab pos="6862062" algn="l"/>
                <a:tab pos="7720560" algn="l"/>
                <a:tab pos="8547733" algn="l"/>
                <a:tab pos="9998883" algn="l"/>
              </a:tabLst>
            </a:pPr>
            <a:r>
              <a:rPr sz="2400" spc="-33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3" dirty="0">
                <a:latin typeface="Calibri"/>
                <a:cs typeface="Calibri"/>
              </a:rPr>
              <a:t>Nonlinear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3" dirty="0">
                <a:latin typeface="Calibri"/>
                <a:cs typeface="Calibri"/>
              </a:rPr>
              <a:t>Functions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3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3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7" dirty="0">
                <a:latin typeface="Calibri"/>
                <a:cs typeface="Calibri"/>
              </a:rPr>
              <a:t>most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7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3" dirty="0">
                <a:latin typeface="Calibri"/>
                <a:cs typeface="Calibri"/>
              </a:rPr>
              <a:t>functions.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142" y="1364548"/>
            <a:ext cx="11208173" cy="1324294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504601">
              <a:spcBef>
                <a:spcPts val="1047"/>
              </a:spcBef>
            </a:pPr>
            <a:r>
              <a:rPr sz="2400" spc="-13" dirty="0">
                <a:latin typeface="Calibri"/>
                <a:cs typeface="Calibri"/>
              </a:rPr>
              <a:t>Nonlinearity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something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this</a:t>
            </a:r>
            <a:endParaRPr sz="2400">
              <a:latin typeface="Calibri"/>
              <a:cs typeface="Calibri"/>
            </a:endParaRPr>
          </a:p>
          <a:p>
            <a:pPr marL="504601" marR="6773" indent="-488514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3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generalize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adapt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variety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</a:t>
            </a:r>
            <a:r>
              <a:rPr sz="2400" spc="-27" dirty="0">
                <a:latin typeface="Calibri"/>
                <a:cs typeface="Calibri"/>
              </a:rPr>
              <a:t>differentiate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outputs.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5399" algn="ctr">
              <a:lnSpc>
                <a:spcPct val="100000"/>
              </a:lnSpc>
              <a:spcBef>
                <a:spcPts val="80"/>
              </a:spcBef>
            </a:pPr>
            <a:r>
              <a:rPr sz="3200" spc="-13" dirty="0">
                <a:solidFill>
                  <a:srgbClr val="FFFFFF"/>
                </a:solidFill>
              </a:rPr>
              <a:t>Non-</a:t>
            </a:r>
            <a:r>
              <a:rPr sz="3200" dirty="0">
                <a:solidFill>
                  <a:srgbClr val="FFFFFF"/>
                </a:solidFill>
              </a:rPr>
              <a:t>linear</a:t>
            </a:r>
            <a:r>
              <a:rPr sz="3200" spc="-47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Activation</a:t>
            </a:r>
            <a:r>
              <a:rPr sz="3200" spc="-4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Functions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2780" y="3148461"/>
            <a:ext cx="4787899" cy="27431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1" y="1035364"/>
            <a:ext cx="11216640" cy="1991144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47412" algn="just">
              <a:spcBef>
                <a:spcPts val="1047"/>
              </a:spcBef>
            </a:pPr>
            <a:r>
              <a:rPr sz="2400" b="1" dirty="0">
                <a:latin typeface="Calibri"/>
                <a:cs typeface="Calibri"/>
              </a:rPr>
              <a:t>Sigmoid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Activation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501214" marR="6773" indent="-485128" algn="just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(0</a:t>
            </a:r>
            <a:r>
              <a:rPr sz="2400" b="1" spc="413" dirty="0">
                <a:latin typeface="Calibri"/>
                <a:cs typeface="Calibri"/>
              </a:rPr>
              <a:t> </a:t>
            </a:r>
            <a:r>
              <a:rPr sz="2400" b="1" spc="-33" dirty="0">
                <a:latin typeface="Calibri"/>
                <a:cs typeface="Calibri"/>
              </a:rPr>
              <a:t>to 	</a:t>
            </a:r>
            <a:r>
              <a:rPr sz="2400" b="1" dirty="0">
                <a:latin typeface="Calibri"/>
                <a:cs typeface="Calibri"/>
              </a:rPr>
              <a:t>1).</a:t>
            </a:r>
            <a:r>
              <a:rPr sz="2400" b="1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Therefore,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predict</a:t>
            </a:r>
            <a:r>
              <a:rPr sz="2400" b="1" spc="187" dirty="0">
                <a:latin typeface="Calibri"/>
                <a:cs typeface="Calibri"/>
              </a:rPr>
              <a:t>  </a:t>
            </a:r>
            <a:r>
              <a:rPr sz="2400" b="1" spc="-33" dirty="0">
                <a:latin typeface="Calibri"/>
                <a:cs typeface="Calibri"/>
              </a:rPr>
              <a:t>the 	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output.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spc="-13" dirty="0">
                <a:latin typeface="Calibri"/>
                <a:cs typeface="Calibri"/>
              </a:rPr>
              <a:t>range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choice.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22"/>
            <a:ext cx="8994140" cy="502766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91440" rIns="0" bIns="0" rtlCol="0" anchor="ctr">
            <a:spAutoFit/>
          </a:bodyPr>
          <a:lstStyle/>
          <a:p>
            <a:pPr marL="990575">
              <a:lnSpc>
                <a:spcPct val="100000"/>
              </a:lnSpc>
              <a:spcBef>
                <a:spcPts val="720"/>
              </a:spcBef>
            </a:pPr>
            <a:r>
              <a:rPr sz="2667" spc="-13" dirty="0">
                <a:solidFill>
                  <a:srgbClr val="FFFFFF"/>
                </a:solidFill>
              </a:rPr>
              <a:t>Different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13" dirty="0">
                <a:solidFill>
                  <a:srgbClr val="FFFFFF"/>
                </a:solidFill>
              </a:rPr>
              <a:t>Types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of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Activation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function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in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27" dirty="0">
                <a:solidFill>
                  <a:srgbClr val="FFFFFF"/>
                </a:solidFill>
              </a:rPr>
              <a:t>non-</a:t>
            </a:r>
            <a:r>
              <a:rPr sz="2667" spc="-13" dirty="0">
                <a:solidFill>
                  <a:srgbClr val="FFFFFF"/>
                </a:solidFill>
              </a:rPr>
              <a:t>Linear</a:t>
            </a:r>
            <a:endParaRPr sz="2667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2581" y="3861173"/>
            <a:ext cx="5816599" cy="25526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2" y="1035364"/>
            <a:ext cx="11238653" cy="1809043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47412">
              <a:spcBef>
                <a:spcPts val="1047"/>
              </a:spcBef>
            </a:pPr>
            <a:r>
              <a:rPr sz="2400" b="1" spc="-27" dirty="0">
                <a:latin typeface="Calibri"/>
                <a:cs typeface="Calibri"/>
              </a:rPr>
              <a:t>Tanh</a:t>
            </a:r>
            <a:r>
              <a:rPr sz="2400" b="1" spc="-11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Activation</a:t>
            </a:r>
            <a:r>
              <a:rPr sz="2400" b="1" spc="-10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504601" marR="6773" indent="-488514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tanh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logistic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47" dirty="0">
                <a:latin typeface="Calibri"/>
                <a:cs typeface="Calibri"/>
              </a:rPr>
              <a:t>better.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range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tanh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(-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1).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tanh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sigmoidal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(s-</a:t>
            </a:r>
            <a:r>
              <a:rPr sz="2400" spc="-13" dirty="0">
                <a:latin typeface="Calibri"/>
                <a:cs typeface="Calibri"/>
              </a:rPr>
              <a:t>shaped).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880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logistic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feed-</a:t>
            </a:r>
            <a:r>
              <a:rPr sz="2400" spc="-13" dirty="0">
                <a:latin typeface="Calibri"/>
                <a:cs typeface="Calibri"/>
              </a:rPr>
              <a:t>forward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nets.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22"/>
            <a:ext cx="8994140" cy="502766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91440" rIns="0" bIns="0" rtlCol="0" anchor="ctr">
            <a:spAutoFit/>
          </a:bodyPr>
          <a:lstStyle/>
          <a:p>
            <a:pPr marL="990575">
              <a:lnSpc>
                <a:spcPct val="100000"/>
              </a:lnSpc>
              <a:spcBef>
                <a:spcPts val="720"/>
              </a:spcBef>
            </a:pPr>
            <a:r>
              <a:rPr sz="2667" spc="-13" dirty="0">
                <a:solidFill>
                  <a:srgbClr val="FFFFFF"/>
                </a:solidFill>
              </a:rPr>
              <a:t>Different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13" dirty="0">
                <a:solidFill>
                  <a:srgbClr val="FFFFFF"/>
                </a:solidFill>
              </a:rPr>
              <a:t>Types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of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Activation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function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in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27" dirty="0">
                <a:solidFill>
                  <a:srgbClr val="FFFFFF"/>
                </a:solidFill>
              </a:rPr>
              <a:t>non-</a:t>
            </a:r>
            <a:r>
              <a:rPr sz="2667" spc="-13" dirty="0">
                <a:solidFill>
                  <a:srgbClr val="FFFFFF"/>
                </a:solidFill>
              </a:rPr>
              <a:t>Linear</a:t>
            </a:r>
            <a:endParaRPr sz="2667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3125" y="3232054"/>
            <a:ext cx="5182305" cy="33790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141" y="1035365"/>
            <a:ext cx="11214947" cy="2629780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47412">
              <a:spcBef>
                <a:spcPts val="1047"/>
              </a:spcBef>
            </a:pPr>
            <a:r>
              <a:rPr sz="2400" b="1" dirty="0">
                <a:latin typeface="Calibri"/>
                <a:cs typeface="Calibri"/>
              </a:rPr>
              <a:t>ReLU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(Rectified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Linear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Unit)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Activation</a:t>
            </a:r>
            <a:r>
              <a:rPr sz="2400" b="1" spc="-8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504601" marR="6773" indent="-488514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now.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almost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convolutional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learning.</a:t>
            </a:r>
            <a:endParaRPr sz="2400">
              <a:latin typeface="Calibri"/>
              <a:cs typeface="Calibri"/>
            </a:endParaRPr>
          </a:p>
          <a:p>
            <a:pPr marL="504601" marR="129537" indent="-488514">
              <a:lnSpc>
                <a:spcPts val="2585"/>
              </a:lnSpc>
              <a:spcBef>
                <a:spcPts val="1207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rectified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bottom).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f(z)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zero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than </a:t>
            </a:r>
            <a:r>
              <a:rPr sz="2400" spc="-13" dirty="0">
                <a:latin typeface="Calibri"/>
                <a:cs typeface="Calibri"/>
              </a:rPr>
              <a:t>zero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f(z)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zero.</a:t>
            </a:r>
            <a:endParaRPr sz="2400">
              <a:latin typeface="Calibri"/>
              <a:cs typeface="Calibri"/>
            </a:endParaRPr>
          </a:p>
          <a:p>
            <a:pPr marL="503754" indent="-486821">
              <a:spcBef>
                <a:spcPts val="880"/>
              </a:spcBef>
              <a:buFont typeface="Courier New"/>
              <a:buChar char="o"/>
              <a:tabLst>
                <a:tab pos="503754" algn="l"/>
              </a:tabLst>
            </a:pPr>
            <a:r>
              <a:rPr sz="2400" b="1" dirty="0">
                <a:latin typeface="Calibri"/>
                <a:cs typeface="Calibri"/>
              </a:rPr>
              <a:t>Range:</a:t>
            </a:r>
            <a:r>
              <a:rPr sz="2400" b="1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infinity)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87611" y="199822"/>
            <a:ext cx="8994140" cy="502766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91440" rIns="0" bIns="0" rtlCol="0" anchor="ctr">
            <a:spAutoFit/>
          </a:bodyPr>
          <a:lstStyle/>
          <a:p>
            <a:pPr marL="990575">
              <a:lnSpc>
                <a:spcPct val="100000"/>
              </a:lnSpc>
              <a:spcBef>
                <a:spcPts val="720"/>
              </a:spcBef>
            </a:pPr>
            <a:r>
              <a:rPr sz="2667" spc="-13" dirty="0">
                <a:solidFill>
                  <a:srgbClr val="FFFFFF"/>
                </a:solidFill>
              </a:rPr>
              <a:t>Different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13" dirty="0">
                <a:solidFill>
                  <a:srgbClr val="FFFFFF"/>
                </a:solidFill>
              </a:rPr>
              <a:t>Types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of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Activation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function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dirty="0">
                <a:solidFill>
                  <a:srgbClr val="FFFFFF"/>
                </a:solidFill>
              </a:rPr>
              <a:t>in</a:t>
            </a:r>
            <a:r>
              <a:rPr sz="2667" spc="-87" dirty="0">
                <a:solidFill>
                  <a:srgbClr val="FFFFFF"/>
                </a:solidFill>
              </a:rPr>
              <a:t> </a:t>
            </a:r>
            <a:r>
              <a:rPr sz="2667" spc="-27" dirty="0">
                <a:solidFill>
                  <a:srgbClr val="FFFFFF"/>
                </a:solidFill>
              </a:rPr>
              <a:t>non-</a:t>
            </a:r>
            <a:r>
              <a:rPr sz="2667" spc="-13" dirty="0">
                <a:solidFill>
                  <a:srgbClr val="FFFFFF"/>
                </a:solidFill>
              </a:rPr>
              <a:t>Linear</a:t>
            </a:r>
            <a:endParaRPr sz="2667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8446" y="3493214"/>
            <a:ext cx="3744356" cy="31593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8786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Methodology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2100" y="1042900"/>
            <a:ext cx="7256352" cy="58150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1005" y="178088"/>
            <a:ext cx="6586847" cy="646425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700" y="111204"/>
            <a:ext cx="12218247" cy="1295400"/>
            <a:chOff x="-9525" y="83403"/>
            <a:chExt cx="9163685" cy="971550"/>
          </a:xfrm>
        </p:grpSpPr>
        <p:sp>
          <p:nvSpPr>
            <p:cNvPr id="3" name="object 3"/>
            <p:cNvSpPr/>
            <p:nvPr/>
          </p:nvSpPr>
          <p:spPr>
            <a:xfrm>
              <a:off x="0" y="686262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187"/>
              <a:ext cx="6846955" cy="5632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6955" cy="5632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7367" y="6514899"/>
            <a:ext cx="2413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Arial MT"/>
                <a:cs typeface="Arial MT"/>
              </a:rPr>
              <a:t>65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0" name="object 10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495080" y="6583539"/>
            <a:ext cx="1524000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Lec</a:t>
            </a:r>
            <a:r>
              <a:rPr sz="1400" b="1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Raiyan,</a:t>
            </a:r>
            <a:r>
              <a:rPr sz="1400" b="1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400" b="1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33" dirty="0">
                <a:solidFill>
                  <a:srgbClr val="FFFFFF"/>
                </a:solidFill>
                <a:latin typeface="Calibri"/>
                <a:cs typeface="Calibri"/>
              </a:rPr>
              <a:t>UIU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142" y="1035365"/>
            <a:ext cx="11254740" cy="5422852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502061" indent="-485128" algn="just">
              <a:spcBef>
                <a:spcPts val="1047"/>
              </a:spcBef>
              <a:buFont typeface="Courier New"/>
              <a:buChar char="o"/>
              <a:tabLst>
                <a:tab pos="50206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Randomly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Weights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0).</a:t>
            </a:r>
            <a:endParaRPr sz="2400">
              <a:latin typeface="Calibri"/>
              <a:cs typeface="Calibri"/>
            </a:endParaRPr>
          </a:p>
          <a:p>
            <a:pPr marL="501214" marR="88051" indent="-485128" algn="just">
              <a:lnSpc>
                <a:spcPts val="2585"/>
              </a:lnSpc>
              <a:spcBef>
                <a:spcPts val="124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observation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layer,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feature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501214" marR="6773" indent="-485128" algn="just">
              <a:lnSpc>
                <a:spcPts val="2585"/>
              </a:lnSpc>
              <a:spcBef>
                <a:spcPts val="1207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3: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Forward-</a:t>
            </a:r>
            <a:r>
              <a:rPr sz="2400" spc="-13" dirty="0">
                <a:latin typeface="Calibri"/>
                <a:cs typeface="Calibri"/>
              </a:rPr>
              <a:t>Propagation: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neurons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neuron’s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activation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limited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weights.</a:t>
            </a:r>
            <a:r>
              <a:rPr sz="2400" spc="4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Propagates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spc="-13" dirty="0">
                <a:latin typeface="Calibri"/>
                <a:cs typeface="Calibri"/>
              </a:rPr>
              <a:t>activations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getting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predicted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y.</a:t>
            </a:r>
            <a:endParaRPr sz="2400">
              <a:latin typeface="Calibri"/>
              <a:cs typeface="Calibri"/>
            </a:endParaRPr>
          </a:p>
          <a:p>
            <a:pPr marL="501214" marR="71965" indent="-485128" algn="just">
              <a:lnSpc>
                <a:spcPts val="2585"/>
              </a:lnSpc>
              <a:spcBef>
                <a:spcPts val="1220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36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3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predicted</a:t>
            </a:r>
            <a:r>
              <a:rPr sz="2400" spc="3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3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result.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</a:t>
            </a:r>
            <a:r>
              <a:rPr sz="2400" spc="3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generated 	error.</a:t>
            </a:r>
            <a:endParaRPr sz="2400">
              <a:latin typeface="Calibri"/>
              <a:cs typeface="Calibri"/>
            </a:endParaRPr>
          </a:p>
          <a:p>
            <a:pPr marL="501214" marR="75351" indent="-485128" algn="just">
              <a:lnSpc>
                <a:spcPts val="2585"/>
              </a:lnSpc>
              <a:spcBef>
                <a:spcPts val="1207"/>
              </a:spcBef>
              <a:buFont typeface="Courier New"/>
              <a:buChar char="o"/>
              <a:tabLst>
                <a:tab pos="50460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4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5: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Back-</a:t>
            </a:r>
            <a:r>
              <a:rPr sz="2400" spc="-13" dirty="0">
                <a:latin typeface="Calibri"/>
                <a:cs typeface="Calibri"/>
              </a:rPr>
              <a:t>Propagation: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back-</a:t>
            </a:r>
            <a:r>
              <a:rPr sz="2400" spc="-13" dirty="0">
                <a:latin typeface="Calibri"/>
                <a:cs typeface="Calibri"/>
              </a:rPr>
              <a:t>Propagated.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according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responsible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error.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rate 	</a:t>
            </a:r>
            <a:r>
              <a:rPr sz="2400" dirty="0">
                <a:latin typeface="Calibri"/>
                <a:cs typeface="Calibri"/>
              </a:rPr>
              <a:t>decides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weights.</a:t>
            </a:r>
            <a:endParaRPr sz="2400">
              <a:latin typeface="Calibri"/>
              <a:cs typeface="Calibri"/>
            </a:endParaRPr>
          </a:p>
          <a:p>
            <a:pPr marL="502061" indent="-485128" algn="just">
              <a:spcBef>
                <a:spcPts val="887"/>
              </a:spcBef>
              <a:buFont typeface="Courier New"/>
              <a:buChar char="o"/>
              <a:tabLst>
                <a:tab pos="50206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7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6: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weights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observation.</a:t>
            </a:r>
            <a:endParaRPr sz="2400">
              <a:latin typeface="Calibri"/>
              <a:cs typeface="Calibri"/>
            </a:endParaRPr>
          </a:p>
          <a:p>
            <a:pPr marL="502061" indent="-485128" algn="just">
              <a:spcBef>
                <a:spcPts val="913"/>
              </a:spcBef>
              <a:buFont typeface="Courier New"/>
              <a:buChar char="o"/>
              <a:tabLst>
                <a:tab pos="502061" algn="l"/>
              </a:tabLst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7: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passed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ANN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epoch.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1852" y="6344979"/>
            <a:ext cx="22995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Redo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epoch.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87611" y="199822"/>
            <a:ext cx="8994140" cy="502766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91440" rIns="0" bIns="0" rtlCol="0" anchor="ctr">
            <a:spAutoFit/>
          </a:bodyPr>
          <a:lstStyle/>
          <a:p>
            <a:pPr marL="182875" algn="ctr">
              <a:lnSpc>
                <a:spcPct val="100000"/>
              </a:lnSpc>
              <a:spcBef>
                <a:spcPts val="720"/>
              </a:spcBef>
            </a:pPr>
            <a:r>
              <a:rPr sz="2667" dirty="0">
                <a:solidFill>
                  <a:srgbClr val="FFFFFF"/>
                </a:solidFill>
              </a:rPr>
              <a:t>ANN</a:t>
            </a:r>
            <a:r>
              <a:rPr sz="2667" spc="-20" dirty="0">
                <a:solidFill>
                  <a:srgbClr val="FFFFFF"/>
                </a:solidFill>
              </a:rPr>
              <a:t> </a:t>
            </a:r>
            <a:r>
              <a:rPr sz="2667" spc="-13" dirty="0">
                <a:solidFill>
                  <a:srgbClr val="FFFFFF"/>
                </a:solidFill>
              </a:rPr>
              <a:t>Methodology</a:t>
            </a:r>
            <a:endParaRPr sz="2667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080" y="1403872"/>
            <a:ext cx="7734299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grpSp>
        <p:nvGrpSpPr>
          <p:cNvPr id="5" name="object 5"/>
          <p:cNvGrpSpPr/>
          <p:nvPr/>
        </p:nvGrpSpPr>
        <p:grpSpPr>
          <a:xfrm>
            <a:off x="399217" y="1104686"/>
            <a:ext cx="11327553" cy="5375487"/>
            <a:chOff x="299412" y="828514"/>
            <a:chExt cx="8495665" cy="403161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412" y="828514"/>
              <a:ext cx="3484093" cy="10311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5777" y="2685253"/>
              <a:ext cx="3996754" cy="19451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412" y="1703989"/>
              <a:ext cx="3484093" cy="9229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7578" y="1043497"/>
              <a:ext cx="4147098" cy="13209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9957" y="2202829"/>
              <a:ext cx="3778271" cy="9648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75660" y="3031972"/>
              <a:ext cx="3618572" cy="1827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9924" y="1298630"/>
            <a:ext cx="8381761" cy="53118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2511" y="1273834"/>
            <a:ext cx="7526163" cy="53365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5734" y="1238286"/>
            <a:ext cx="8630292" cy="53731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35</a:t>
            </a:fld>
            <a:endParaRPr spc="-3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2910" y="1767048"/>
            <a:ext cx="8199351" cy="433528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36</a:t>
            </a:fld>
            <a:endParaRPr spc="-3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11" y="199854"/>
            <a:ext cx="8994140" cy="502702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10160" rIns="0" bIns="0" rtlCol="0" anchor="ctr">
            <a:spAutoFit/>
          </a:bodyPr>
          <a:lstStyle/>
          <a:p>
            <a:pPr marL="29633"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</a:rPr>
              <a:t>ANN</a:t>
            </a:r>
            <a:r>
              <a:rPr sz="3200" spc="-20" dirty="0">
                <a:solidFill>
                  <a:srgbClr val="FFFFFF"/>
                </a:solidFill>
              </a:rPr>
              <a:t> </a:t>
            </a:r>
            <a:r>
              <a:rPr sz="3200" spc="-13" dirty="0">
                <a:solidFill>
                  <a:srgbClr val="FFFFFF"/>
                </a:solidFill>
              </a:rPr>
              <a:t>Architecture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9589" y="1186417"/>
            <a:ext cx="8162579" cy="54225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37</a:t>
            </a:fld>
            <a:endParaRPr spc="-3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F1992D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marL="754361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Practical</a:t>
            </a:r>
            <a:r>
              <a:rPr sz="2667" spc="-100" dirty="0"/>
              <a:t> </a:t>
            </a:r>
            <a:r>
              <a:rPr sz="2667" spc="-13" dirty="0"/>
              <a:t>Implementation</a:t>
            </a:r>
            <a:r>
              <a:rPr sz="2667" spc="-93" dirty="0"/>
              <a:t> </a:t>
            </a:r>
            <a:r>
              <a:rPr sz="2667" dirty="0"/>
              <a:t>of</a:t>
            </a:r>
            <a:r>
              <a:rPr sz="2667" spc="-93" dirty="0"/>
              <a:t> </a:t>
            </a:r>
            <a:r>
              <a:rPr sz="2667" dirty="0"/>
              <a:t>Artificial</a:t>
            </a:r>
            <a:r>
              <a:rPr sz="2667" spc="-93" dirty="0"/>
              <a:t> </a:t>
            </a:r>
            <a:r>
              <a:rPr sz="2667" dirty="0"/>
              <a:t>Neural</a:t>
            </a:r>
            <a:r>
              <a:rPr sz="2667" spc="-93" dirty="0"/>
              <a:t> </a:t>
            </a:r>
            <a:r>
              <a:rPr sz="2667" spc="-13" dirty="0"/>
              <a:t>Network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4381829" y="1225580"/>
            <a:ext cx="3426460" cy="5506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467" b="1" spc="-27" dirty="0">
                <a:latin typeface="Calibri"/>
                <a:cs typeface="Calibri"/>
              </a:rPr>
              <a:t>Cataract</a:t>
            </a:r>
            <a:r>
              <a:rPr sz="3467" b="1" spc="-93" dirty="0">
                <a:latin typeface="Calibri"/>
                <a:cs typeface="Calibri"/>
              </a:rPr>
              <a:t> </a:t>
            </a:r>
            <a:r>
              <a:rPr sz="3467" b="1" spc="-13" dirty="0">
                <a:latin typeface="Calibri"/>
                <a:cs typeface="Calibri"/>
              </a:rPr>
              <a:t>Detection</a:t>
            </a:r>
            <a:endParaRPr sz="3467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2834" y="2239657"/>
            <a:ext cx="11785601" cy="248152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37663" y="5231364"/>
            <a:ext cx="2256367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u="heavy" dirty="0">
                <a:solidFill>
                  <a:srgbClr val="6EAB1B"/>
                </a:solidFill>
                <a:uFill>
                  <a:solidFill>
                    <a:srgbClr val="6EAB1B"/>
                  </a:solidFill>
                </a:uFill>
                <a:latin typeface="Calibri"/>
                <a:cs typeface="Calibri"/>
                <a:hlinkClick r:id="rId7"/>
              </a:rPr>
              <a:t>Kaggle</a:t>
            </a:r>
            <a:r>
              <a:rPr sz="2533" u="heavy" spc="-127" dirty="0">
                <a:solidFill>
                  <a:srgbClr val="6EAB1B"/>
                </a:solidFill>
                <a:uFill>
                  <a:solidFill>
                    <a:srgbClr val="6EAB1B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2533" u="heavy" spc="-13" dirty="0">
                <a:solidFill>
                  <a:srgbClr val="6EAB1B"/>
                </a:solidFill>
                <a:uFill>
                  <a:solidFill>
                    <a:srgbClr val="6EAB1B"/>
                  </a:solidFill>
                </a:uFill>
                <a:latin typeface="Calibri"/>
                <a:cs typeface="Calibri"/>
                <a:hlinkClick r:id="rId7"/>
              </a:rPr>
              <a:t>Notebook</a:t>
            </a:r>
            <a:endParaRPr sz="2533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38</a:t>
            </a:fld>
            <a:endParaRPr spc="-3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marL="754361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Practical</a:t>
            </a:r>
            <a:r>
              <a:rPr sz="2667" spc="-100" dirty="0"/>
              <a:t> </a:t>
            </a:r>
            <a:r>
              <a:rPr sz="2667" spc="-13" dirty="0"/>
              <a:t>Implementation</a:t>
            </a:r>
            <a:r>
              <a:rPr sz="2667" spc="-93" dirty="0"/>
              <a:t> </a:t>
            </a:r>
            <a:r>
              <a:rPr sz="2667" dirty="0"/>
              <a:t>of</a:t>
            </a:r>
            <a:r>
              <a:rPr sz="2667" spc="-93" dirty="0"/>
              <a:t> </a:t>
            </a:r>
            <a:r>
              <a:rPr sz="2667" dirty="0"/>
              <a:t>Artificial</a:t>
            </a:r>
            <a:r>
              <a:rPr sz="2667" spc="-93" dirty="0"/>
              <a:t> </a:t>
            </a:r>
            <a:r>
              <a:rPr sz="2667" dirty="0"/>
              <a:t>Neural</a:t>
            </a:r>
            <a:r>
              <a:rPr sz="2667" spc="-93" dirty="0"/>
              <a:t> </a:t>
            </a:r>
            <a:r>
              <a:rPr sz="2667" spc="-13" dirty="0"/>
              <a:t>Network</a:t>
            </a:r>
            <a:endParaRPr sz="2667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39</a:t>
            </a:fld>
            <a:endParaRPr spc="-33" dirty="0"/>
          </a:p>
        </p:txBody>
      </p:sp>
      <p:sp>
        <p:nvSpPr>
          <p:cNvPr id="8" name="object 8"/>
          <p:cNvSpPr txBox="1"/>
          <p:nvPr/>
        </p:nvSpPr>
        <p:spPr>
          <a:xfrm>
            <a:off x="387694" y="1198233"/>
            <a:ext cx="11457093" cy="51928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0511" marR="6773" indent="-334425" algn="just">
              <a:spcBef>
                <a:spcPts val="133"/>
              </a:spcBef>
              <a:buFont typeface="Arial MT"/>
              <a:buChar char="•"/>
              <a:tabLst>
                <a:tab pos="35220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part,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solving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bank.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bank’s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customers.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dataset,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bank 	</a:t>
            </a:r>
            <a:r>
              <a:rPr sz="2400" dirty="0">
                <a:latin typeface="Calibri"/>
                <a:cs typeface="Calibri"/>
              </a:rPr>
              <a:t>gathered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id,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score,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gender,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age,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tenure,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balance,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customer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months,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these 	customers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stayed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bank.</a:t>
            </a:r>
            <a:endParaRPr sz="2400">
              <a:latin typeface="Calibri"/>
              <a:cs typeface="Calibri"/>
            </a:endParaRPr>
          </a:p>
          <a:p>
            <a:pPr marL="350511" marR="21166" indent="-334425" algn="just">
              <a:spcBef>
                <a:spcPts val="2880"/>
              </a:spcBef>
              <a:buFont typeface="Arial MT"/>
              <a:buChar char="•"/>
              <a:tabLst>
                <a:tab pos="352205" algn="l"/>
              </a:tabLst>
            </a:pPr>
            <a:r>
              <a:rPr sz="2400" dirty="0">
                <a:latin typeface="Calibri"/>
                <a:cs typeface="Calibri"/>
              </a:rPr>
              <a:t>Your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predict,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233" dirty="0">
                <a:latin typeface="Calibri"/>
                <a:cs typeface="Calibri"/>
              </a:rPr>
              <a:t>  </a:t>
            </a:r>
            <a:r>
              <a:rPr sz="2400" spc="-33" dirty="0">
                <a:latin typeface="Calibri"/>
                <a:cs typeface="Calibri"/>
              </a:rPr>
              <a:t>on 	geo-</a:t>
            </a:r>
            <a:r>
              <a:rPr sz="2400" spc="-13" dirty="0">
                <a:latin typeface="Calibri"/>
                <a:cs typeface="Calibri"/>
              </a:rPr>
              <a:t>demographical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transactional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above,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customer 	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leave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stay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(customer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churn).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Besides,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asked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rank</a:t>
            </a:r>
            <a:r>
              <a:rPr sz="2400" spc="4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42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customers of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bank,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 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leaving.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 you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probabilistic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approach.</a:t>
            </a:r>
            <a:endParaRPr sz="2400">
              <a:latin typeface="Calibri"/>
              <a:cs typeface="Calibri"/>
            </a:endParaRPr>
          </a:p>
          <a:p>
            <a:pPr marL="350511" marR="11006" indent="-334425" algn="just">
              <a:spcBef>
                <a:spcPts val="2880"/>
              </a:spcBef>
              <a:buFont typeface="Arial MT"/>
              <a:buChar char="•"/>
              <a:tabLst>
                <a:tab pos="35220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succeed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project,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significant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bank.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applying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significantly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customer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churn.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spc="-13" dirty="0"/>
              <a:t>Dataset</a:t>
            </a:r>
            <a:r>
              <a:rPr sz="2667" spc="-80" dirty="0"/>
              <a:t> </a:t>
            </a:r>
            <a:r>
              <a:rPr sz="2667" spc="-13" dirty="0"/>
              <a:t>Sample</a:t>
            </a:r>
            <a:endParaRPr sz="2667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7006" y="2393662"/>
            <a:ext cx="10680719" cy="238724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40</a:t>
            </a:fld>
            <a:endParaRPr spc="-33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Data</a:t>
            </a:r>
            <a:r>
              <a:rPr sz="2667" spc="-113" dirty="0"/>
              <a:t> </a:t>
            </a:r>
            <a:r>
              <a:rPr sz="2667" spc="-13" dirty="0"/>
              <a:t>Preprocessing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50620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Import</a:t>
            </a:r>
            <a:r>
              <a:rPr sz="2400" b="1" i="1" spc="-8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Libraries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Libraries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Preprocessing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part.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job.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all,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numpy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for 	</a:t>
            </a:r>
            <a:r>
              <a:rPr sz="2400" spc="-13" dirty="0">
                <a:latin typeface="Calibri"/>
                <a:cs typeface="Calibri"/>
              </a:rPr>
              <a:t>multidimensional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pandas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matplotlib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plotting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graph.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2427" y="3585784"/>
            <a:ext cx="4787899" cy="15112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41</a:t>
            </a:fld>
            <a:endParaRPr spc="-33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Data</a:t>
            </a:r>
            <a:r>
              <a:rPr sz="2667" spc="-113" dirty="0"/>
              <a:t> </a:t>
            </a:r>
            <a:r>
              <a:rPr sz="2667" spc="-13" dirty="0"/>
              <a:t>Preprocessing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5" y="1198233"/>
            <a:ext cx="11507047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Import</a:t>
            </a:r>
            <a:r>
              <a:rPr sz="2400" b="1" i="1" spc="-8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 step,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 import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 that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 the pandas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library.</a:t>
            </a:r>
            <a:r>
              <a:rPr sz="2400" dirty="0">
                <a:latin typeface="Calibri"/>
                <a:cs typeface="Calibri"/>
              </a:rPr>
              <a:t> After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our 	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dependent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variable.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variables 	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5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‘X’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	</a:t>
            </a:r>
            <a:r>
              <a:rPr sz="2400" spc="-13" dirty="0">
                <a:latin typeface="Calibri"/>
                <a:cs typeface="Calibri"/>
              </a:rPr>
              <a:t>dependent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attribute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‘y’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here.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5327" y="3560384"/>
            <a:ext cx="6642099" cy="15112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42</a:t>
            </a:fld>
            <a:endParaRPr spc="-33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Data</a:t>
            </a:r>
            <a:r>
              <a:rPr sz="2667" spc="-113" dirty="0"/>
              <a:t> </a:t>
            </a:r>
            <a:r>
              <a:rPr sz="2667" spc="-13" dirty="0"/>
              <a:t>Preprocessing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48080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Encoding</a:t>
            </a:r>
            <a:r>
              <a:rPr sz="2400" b="1" i="1" spc="-4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Categorical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27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Encode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categorical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data.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Geography</a:t>
            </a:r>
            <a:r>
              <a:rPr sz="2400" spc="253" dirty="0"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&amp; 	</a:t>
            </a:r>
            <a:r>
              <a:rPr sz="2400" dirty="0">
                <a:latin typeface="Calibri"/>
                <a:cs typeface="Calibri"/>
              </a:rPr>
              <a:t>Gender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Encode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4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spc="-13" dirty="0">
                <a:latin typeface="Calibri"/>
                <a:cs typeface="Calibri"/>
              </a:rPr>
              <a:t>LabelEncoder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OneHOTEncoder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Sklearn.processing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library.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29378" y="3560384"/>
            <a:ext cx="7721599" cy="25018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43</a:t>
            </a:fld>
            <a:endParaRPr spc="-3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Data</a:t>
            </a:r>
            <a:r>
              <a:rPr sz="2667" spc="-113" dirty="0"/>
              <a:t> </a:t>
            </a:r>
            <a:r>
              <a:rPr sz="2667" spc="-13" dirty="0"/>
              <a:t>Preprocessing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482493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Split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dataset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test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and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train</a:t>
            </a:r>
            <a:endParaRPr sz="2400">
              <a:latin typeface="Calibri"/>
              <a:cs typeface="Calibri"/>
            </a:endParaRPr>
          </a:p>
          <a:p>
            <a:pPr marL="16933" marR="6773" algn="just"/>
            <a:r>
              <a:rPr sz="2400" dirty="0">
                <a:latin typeface="Calibri"/>
                <a:cs typeface="Calibri"/>
              </a:rPr>
              <a:t>In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split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80%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split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remaining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20%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tests.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10000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8000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2000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test.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5910" y="3545445"/>
            <a:ext cx="10276124" cy="10647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44</a:t>
            </a:fld>
            <a:endParaRPr spc="-33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Data</a:t>
            </a:r>
            <a:r>
              <a:rPr sz="2667" spc="-113" dirty="0"/>
              <a:t> </a:t>
            </a:r>
            <a:r>
              <a:rPr sz="2667" spc="-13" dirty="0"/>
              <a:t>Preprocessing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502813" cy="2971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spc="-13" dirty="0">
                <a:latin typeface="Calibri"/>
                <a:cs typeface="Calibri"/>
              </a:rPr>
              <a:t>Feature</a:t>
            </a:r>
            <a:r>
              <a:rPr sz="2400" b="1" i="1" spc="-53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Scaling</a:t>
            </a:r>
            <a:endParaRPr sz="2400" dirty="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Feature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preprocessing.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dataset 	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estimated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salary.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issues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lang="en-US" sz="2400" dirty="0">
                <a:latin typeface="Calibri"/>
                <a:cs typeface="Calibri"/>
              </a:rPr>
              <a:t> learning</a:t>
            </a:r>
            <a:r>
              <a:rPr sz="2400" dirty="0">
                <a:latin typeface="Calibri"/>
                <a:cs typeface="Calibri"/>
              </a:rPr>
              <a:t> mode</a:t>
            </a:r>
            <a:r>
              <a:rPr lang="en-US" sz="2400" dirty="0">
                <a:latin typeface="Calibri"/>
                <a:cs typeface="Calibri"/>
              </a:rPr>
              <a:t>l.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 solve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 problem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we set all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 on the same scale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lang="en-US" sz="2400" spc="-7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here </a:t>
            </a:r>
            <a:r>
              <a:rPr sz="2400" spc="-33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methods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problem</a:t>
            </a:r>
            <a:r>
              <a:rPr lang="en-US" sz="2400" spc="-13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Standard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Scaler.</a:t>
            </a:r>
            <a:endParaRPr sz="2400" dirty="0">
              <a:latin typeface="Calibri"/>
              <a:cs typeface="Calibri"/>
            </a:endParaRPr>
          </a:p>
          <a:p>
            <a:pPr marL="396230" indent="-334425" algn="just">
              <a:buFont typeface="Arial MT"/>
              <a:buChar char="•"/>
              <a:tabLst>
                <a:tab pos="396230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standard</a:t>
            </a:r>
            <a:r>
              <a:rPr sz="2400" b="1" spc="-7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Scaler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Sklearn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Library.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5839" y="4129495"/>
            <a:ext cx="5530848" cy="27285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67459" y="4139382"/>
            <a:ext cx="5496157" cy="16001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45</a:t>
            </a:fld>
            <a:endParaRPr spc="-33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947058" y="2434167"/>
            <a:ext cx="10911568" cy="31615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lnSpc>
                <a:spcPct val="100000"/>
              </a:lnSpc>
              <a:spcBef>
                <a:spcPts val="133"/>
              </a:spcBef>
            </a:pPr>
            <a:r>
              <a:rPr dirty="0"/>
              <a:t>Import</a:t>
            </a:r>
            <a:r>
              <a:rPr spc="-87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3" dirty="0"/>
              <a:t>Libraries</a:t>
            </a:r>
          </a:p>
          <a:p>
            <a:pPr marL="16933" marR="6773" algn="just">
              <a:lnSpc>
                <a:spcPct val="100000"/>
              </a:lnSpc>
            </a:pPr>
            <a:r>
              <a:rPr b="0" i="0" dirty="0">
                <a:latin typeface="Calibri"/>
                <a:cs typeface="Calibri"/>
              </a:rPr>
              <a:t>In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this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step,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import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Library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which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will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build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our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ANN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model.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import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Keras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Library </a:t>
            </a:r>
            <a:r>
              <a:rPr b="0" i="0" dirty="0">
                <a:latin typeface="Calibri"/>
                <a:cs typeface="Calibri"/>
              </a:rPr>
              <a:t>which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will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build</a:t>
            </a:r>
            <a:r>
              <a:rPr spc="2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spc="2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deep</a:t>
            </a:r>
            <a:r>
              <a:rPr spc="2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neural</a:t>
            </a:r>
            <a:r>
              <a:rPr spc="2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network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based</a:t>
            </a:r>
            <a:r>
              <a:rPr spc="2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on</a:t>
            </a:r>
            <a:r>
              <a:rPr spc="2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Tensorflow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because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2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use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Tensorflow </a:t>
            </a:r>
            <a:r>
              <a:rPr b="0" i="0" dirty="0">
                <a:latin typeface="Calibri"/>
                <a:cs typeface="Calibri"/>
              </a:rPr>
              <a:t>backhand.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Here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import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two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modules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from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Keras.</a:t>
            </a:r>
            <a:r>
              <a:rPr spc="47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first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one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is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Sequential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used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33" dirty="0">
                <a:latin typeface="Calibri"/>
                <a:cs typeface="Calibri"/>
              </a:rPr>
              <a:t>for </a:t>
            </a:r>
            <a:r>
              <a:rPr i="0" dirty="0">
                <a:latin typeface="Calibri"/>
                <a:cs typeface="Calibri"/>
              </a:rPr>
              <a:t>initializing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our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ANN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model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and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the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second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is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Dense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used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for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adding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different</a:t>
            </a:r>
            <a:r>
              <a:rPr spc="333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layers</a:t>
            </a:r>
            <a:r>
              <a:rPr spc="339" dirty="0">
                <a:latin typeface="Calibri"/>
                <a:cs typeface="Calibri"/>
              </a:rPr>
              <a:t> </a:t>
            </a:r>
            <a:r>
              <a:rPr spc="-33" dirty="0">
                <a:latin typeface="Calibri"/>
                <a:cs typeface="Calibri"/>
              </a:rPr>
              <a:t>of </a:t>
            </a:r>
            <a:r>
              <a:rPr spc="-27" dirty="0">
                <a:latin typeface="Calibri"/>
                <a:cs typeface="Calibri"/>
              </a:rPr>
              <a:t>ANN.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89561" y="1103012"/>
            <a:ext cx="9199699" cy="122052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46</a:t>
            </a:fld>
            <a:endParaRPr spc="-33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10550525" cy="31025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Initialize</a:t>
            </a:r>
            <a:r>
              <a:rPr spc="-73" dirty="0"/>
              <a:t> </a:t>
            </a:r>
            <a:r>
              <a:rPr dirty="0"/>
              <a:t>our</a:t>
            </a:r>
            <a:r>
              <a:rPr spc="-73" dirty="0"/>
              <a:t> </a:t>
            </a:r>
            <a:r>
              <a:rPr dirty="0"/>
              <a:t>ANN</a:t>
            </a:r>
            <a:r>
              <a:rPr spc="-73" dirty="0"/>
              <a:t> </a:t>
            </a:r>
            <a:r>
              <a:rPr spc="-13" dirty="0"/>
              <a:t>model</a:t>
            </a:r>
          </a:p>
          <a:p>
            <a:pPr marL="16933" marR="6773">
              <a:lnSpc>
                <a:spcPct val="100000"/>
              </a:lnSpc>
            </a:pPr>
            <a:r>
              <a:rPr b="0" i="0" dirty="0">
                <a:latin typeface="Calibri"/>
                <a:cs typeface="Calibri"/>
              </a:rPr>
              <a:t>In</a:t>
            </a:r>
            <a:r>
              <a:rPr spc="1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this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step,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initialize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our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Artificial</a:t>
            </a:r>
            <a:r>
              <a:rPr spc="1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Neural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Network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model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to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do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that</a:t>
            </a:r>
            <a:r>
              <a:rPr spc="1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use</a:t>
            </a:r>
            <a:r>
              <a:rPr spc="16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sequential modules.</a:t>
            </a:r>
          </a:p>
          <a:p>
            <a:pPr marL="16933" marR="19472">
              <a:lnSpc>
                <a:spcPct val="100000"/>
              </a:lnSpc>
              <a:spcBef>
                <a:spcPts val="2880"/>
              </a:spcBef>
            </a:pPr>
            <a:r>
              <a:rPr b="0" i="0" dirty="0">
                <a:latin typeface="Calibri"/>
                <a:cs typeface="Calibri"/>
              </a:rPr>
              <a:t>Most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of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ANN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also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has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layers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in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sequential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order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and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data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flows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from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one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layer</a:t>
            </a:r>
            <a:r>
              <a:rPr spc="187" dirty="0">
                <a:latin typeface="Calibri"/>
                <a:cs typeface="Calibri"/>
              </a:rPr>
              <a:t> </a:t>
            </a:r>
            <a:r>
              <a:rPr spc="-33" dirty="0">
                <a:latin typeface="Calibri"/>
                <a:cs typeface="Calibri"/>
              </a:rPr>
              <a:t>to </a:t>
            </a:r>
            <a:r>
              <a:rPr b="0" i="0" dirty="0">
                <a:latin typeface="Calibri"/>
                <a:cs typeface="Calibri"/>
              </a:rPr>
              <a:t>another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layer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in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given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order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until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data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finally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reaches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output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layer.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7839" y="1216420"/>
            <a:ext cx="4254499" cy="8635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47</a:t>
            </a:fld>
            <a:endParaRPr spc="-33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519747" cy="2971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Adding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input</a:t>
            </a:r>
            <a:r>
              <a:rPr sz="2400" b="1" i="1" spc="-53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layer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and</a:t>
            </a:r>
            <a:r>
              <a:rPr sz="2400" b="1" i="1" spc="-53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first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hidden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  <a:p>
            <a:pPr marL="397077" indent="-335272">
              <a:buFont typeface="Arial MT"/>
              <a:buChar char="•"/>
              <a:tabLst>
                <a:tab pos="397077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different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layer.</a:t>
            </a:r>
            <a:endParaRPr sz="2400">
              <a:latin typeface="Calibri"/>
              <a:cs typeface="Calibri"/>
            </a:endParaRPr>
          </a:p>
          <a:p>
            <a:pPr marL="397077" indent="-335272">
              <a:buFont typeface="Arial MT"/>
              <a:buChar char="•"/>
              <a:tabLst>
                <a:tab pos="397077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parameter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units=6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defines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layer=6</a:t>
            </a:r>
            <a:endParaRPr sz="2400">
              <a:latin typeface="Calibri"/>
              <a:cs typeface="Calibri"/>
            </a:endParaRPr>
          </a:p>
          <a:p>
            <a:pPr marL="396230" marR="44026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third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activation=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‘relu’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5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5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relu 	</a:t>
            </a:r>
            <a:r>
              <a:rPr sz="2400" spc="-13" dirty="0">
                <a:latin typeface="Calibri"/>
                <a:cs typeface="Calibri"/>
              </a:rPr>
              <a:t>activation.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dense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input_dim=</a:t>
            </a:r>
            <a:r>
              <a:rPr sz="2400" spc="1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means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that’s 	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88987" y="4668381"/>
            <a:ext cx="7427460" cy="11429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48</a:t>
            </a:fld>
            <a:endParaRPr spc="-33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2"/>
            <a:ext cx="54694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Adding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second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hidden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  <a:p>
            <a:pPr marL="397077" indent="-335272">
              <a:buFont typeface="Arial MT"/>
              <a:buChar char="•"/>
              <a:tabLst>
                <a:tab pos="397077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004" y="3392791"/>
            <a:ext cx="1151128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Adding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73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output</a:t>
            </a:r>
            <a:r>
              <a:rPr sz="2400" b="1" i="1" spc="-67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ANN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29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binary 	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zero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that’s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activation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15305" y="2075666"/>
            <a:ext cx="5969783" cy="1416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5303" y="5121795"/>
            <a:ext cx="6094053" cy="89336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49</a:t>
            </a:fld>
            <a:endParaRPr spc="-33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50</a:t>
            </a:fld>
            <a:endParaRPr spc="-33" dirty="0"/>
          </a:p>
        </p:txBody>
      </p:sp>
      <p:sp>
        <p:nvSpPr>
          <p:cNvPr id="8" name="object 8"/>
          <p:cNvSpPr txBox="1"/>
          <p:nvPr/>
        </p:nvSpPr>
        <p:spPr>
          <a:xfrm>
            <a:off x="311494" y="1198232"/>
            <a:ext cx="11537527" cy="4449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">
              <a:spcBef>
                <a:spcPts val="133"/>
              </a:spcBef>
            </a:pPr>
            <a:r>
              <a:rPr sz="2400" b="1" i="1" spc="-13" dirty="0">
                <a:latin typeface="Calibri"/>
                <a:cs typeface="Calibri"/>
              </a:rPr>
              <a:t>Optimizer</a:t>
            </a:r>
            <a:endParaRPr sz="2400" dirty="0">
              <a:latin typeface="Calibri"/>
              <a:cs typeface="Calibri"/>
            </a:endParaRPr>
          </a:p>
          <a:p>
            <a:pPr marL="426709" marR="6773" indent="-334425" algn="just">
              <a:buFont typeface="Arial MT"/>
              <a:buChar char="•"/>
              <a:tabLst>
                <a:tab pos="428403" algn="l"/>
              </a:tabLst>
            </a:pPr>
            <a:r>
              <a:rPr sz="2400" dirty="0">
                <a:latin typeface="Calibri"/>
                <a:cs typeface="Calibri"/>
              </a:rPr>
              <a:t>Optimizers</a:t>
            </a:r>
            <a:r>
              <a:rPr sz="2400" spc="4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4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4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49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neural 	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comparing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loss 	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losses.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learning 	rates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defined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optimizers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use.</a:t>
            </a:r>
            <a:endParaRPr sz="2400" dirty="0">
              <a:latin typeface="Calibri"/>
              <a:cs typeface="Calibri"/>
            </a:endParaRPr>
          </a:p>
          <a:p>
            <a:pPr marL="426709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>
                <a:latin typeface="Calibri"/>
                <a:cs typeface="Calibri"/>
              </a:rPr>
              <a:t>Keras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provides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few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module,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optimizers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follows:</a:t>
            </a:r>
            <a:endParaRPr lang="en-US" sz="2400" spc="-13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27" dirty="0">
                <a:latin typeface="Calibri"/>
                <a:cs typeface="Calibri"/>
              </a:rPr>
              <a:t>SGD,</a:t>
            </a:r>
            <a:endParaRPr lang="en-US" sz="2400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 err="1">
                <a:latin typeface="Calibri"/>
                <a:cs typeface="Calibri"/>
              </a:rPr>
              <a:t>Adagrad</a:t>
            </a:r>
            <a:r>
              <a:rPr sz="2400" spc="-13" dirty="0">
                <a:latin typeface="Calibri"/>
                <a:cs typeface="Calibri"/>
              </a:rPr>
              <a:t>,</a:t>
            </a:r>
            <a:endParaRPr lang="en-US" sz="2400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 err="1">
                <a:latin typeface="Calibri"/>
                <a:cs typeface="Calibri"/>
              </a:rPr>
              <a:t>Adadelta</a:t>
            </a:r>
            <a:r>
              <a:rPr sz="2400" spc="-13" dirty="0">
                <a:latin typeface="Calibri"/>
                <a:cs typeface="Calibri"/>
              </a:rPr>
              <a:t>,</a:t>
            </a:r>
            <a:endParaRPr lang="en-US" sz="2400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>
                <a:latin typeface="Calibri"/>
                <a:cs typeface="Calibri"/>
              </a:rPr>
              <a:t>Adam,</a:t>
            </a:r>
            <a:endParaRPr lang="en-US" sz="2400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 err="1">
                <a:latin typeface="Calibri"/>
                <a:cs typeface="Calibri"/>
              </a:rPr>
              <a:t>Adamax</a:t>
            </a:r>
            <a:r>
              <a:rPr sz="2400" spc="-13" dirty="0">
                <a:latin typeface="Calibri"/>
                <a:cs typeface="Calibri"/>
              </a:rPr>
              <a:t>,</a:t>
            </a:r>
            <a:endParaRPr lang="en-US" sz="2400" dirty="0">
              <a:latin typeface="Calibri"/>
              <a:cs typeface="Calibri"/>
            </a:endParaRPr>
          </a:p>
          <a:p>
            <a:pPr marL="883909" lvl="1" indent="-334425" algn="just">
              <a:buFont typeface="Arial MT"/>
              <a:buChar char="•"/>
              <a:tabLst>
                <a:tab pos="426709" algn="l"/>
              </a:tabLst>
            </a:pPr>
            <a:r>
              <a:rPr sz="2400" spc="-13" dirty="0" err="1">
                <a:latin typeface="Calibri"/>
                <a:cs typeface="Calibri"/>
              </a:rPr>
              <a:t>Nadam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700" y="111204"/>
            <a:ext cx="12218247" cy="1295400"/>
            <a:chOff x="-9525" y="83403"/>
            <a:chExt cx="9163685" cy="971550"/>
          </a:xfrm>
        </p:grpSpPr>
        <p:sp>
          <p:nvSpPr>
            <p:cNvPr id="3" name="object 3"/>
            <p:cNvSpPr/>
            <p:nvPr/>
          </p:nvSpPr>
          <p:spPr>
            <a:xfrm>
              <a:off x="0" y="686262"/>
              <a:ext cx="9144635" cy="76200"/>
            </a:xfrm>
            <a:custGeom>
              <a:avLst/>
              <a:gdLst/>
              <a:ahLst/>
              <a:cxnLst/>
              <a:rect l="l" t="t" r="r" b="b"/>
              <a:pathLst>
                <a:path w="9144635" h="76200">
                  <a:moveTo>
                    <a:pt x="238538" y="0"/>
                  </a:moveTo>
                  <a:lnTo>
                    <a:pt x="9144039" y="23099"/>
                  </a:lnTo>
                </a:path>
                <a:path w="9144635" h="76200">
                  <a:moveTo>
                    <a:pt x="0" y="53008"/>
                  </a:moveTo>
                  <a:lnTo>
                    <a:pt x="8905500" y="76108"/>
                  </a:lnTo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187"/>
              <a:ext cx="6846955" cy="5632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6955" cy="5632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550" y="98112"/>
              <a:ext cx="517541" cy="470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225" y="91286"/>
              <a:ext cx="517551" cy="5316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158656" y="6556716"/>
            <a:ext cx="2040467" cy="308187"/>
            <a:chOff x="7618992" y="4917537"/>
            <a:chExt cx="1530350" cy="231140"/>
          </a:xfrm>
        </p:grpSpPr>
        <p:sp>
          <p:nvSpPr>
            <p:cNvPr id="11" name="object 11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1520245" y="221200"/>
                  </a:moveTo>
                  <a:lnTo>
                    <a:pt x="0" y="221200"/>
                  </a:ln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  <a:lnTo>
                    <a:pt x="1520245" y="221200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3754" y="4922299"/>
              <a:ext cx="1520825" cy="221615"/>
            </a:xfrm>
            <a:custGeom>
              <a:avLst/>
              <a:gdLst/>
              <a:ahLst/>
              <a:cxnLst/>
              <a:rect l="l" t="t" r="r" b="b"/>
              <a:pathLst>
                <a:path w="1520825" h="221614">
                  <a:moveTo>
                    <a:pt x="0" y="221200"/>
                  </a:moveTo>
                  <a:lnTo>
                    <a:pt x="110820" y="5064"/>
                  </a:lnTo>
                  <a:lnTo>
                    <a:pt x="1516712" y="0"/>
                  </a:lnTo>
                  <a:lnTo>
                    <a:pt x="1520245" y="77085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14" name="object 14"/>
          <p:cNvSpPr txBox="1"/>
          <p:nvPr/>
        </p:nvSpPr>
        <p:spPr>
          <a:xfrm>
            <a:off x="342004" y="1198232"/>
            <a:ext cx="9821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i="1" spc="-13" dirty="0">
                <a:latin typeface="Calibri"/>
                <a:cs typeface="Calibri"/>
              </a:rPr>
              <a:t>Metrics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34" y="6396366"/>
            <a:ext cx="464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>
              <a:spcBef>
                <a:spcPts val="133"/>
              </a:spcBef>
            </a:pPr>
            <a:r>
              <a:rPr sz="1467" spc="-133" dirty="0">
                <a:latin typeface="Arial MT"/>
                <a:cs typeface="Arial MT"/>
              </a:rPr>
              <a:t>86</a:t>
            </a:r>
            <a:r>
              <a:rPr sz="3600" spc="-200" baseline="13888" dirty="0">
                <a:latin typeface="Segoe UI Symbol"/>
                <a:cs typeface="Segoe UI Symbol"/>
              </a:rPr>
              <a:t>□</a:t>
            </a:r>
            <a:endParaRPr sz="3600" baseline="13888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8428" y="1563991"/>
            <a:ext cx="11510433" cy="51877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09776" marR="6773" indent="-334425" algn="just">
              <a:spcBef>
                <a:spcPts val="133"/>
              </a:spcBef>
              <a:buFont typeface="Arial MT"/>
              <a:buChar char="•"/>
              <a:tabLst>
                <a:tab pos="41147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27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learning,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Metrics</a:t>
            </a:r>
            <a:r>
              <a:rPr sz="2400" b="1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7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27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evaluate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6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few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they 	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follows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Yu Gothic UI"/>
              <a:buChar char="□"/>
              <a:tabLst>
                <a:tab pos="410623" algn="l"/>
              </a:tabLst>
            </a:pPr>
            <a:r>
              <a:rPr sz="2400" b="1" spc="-27" dirty="0">
                <a:latin typeface="Calibri"/>
                <a:cs typeface="Calibri"/>
              </a:rPr>
              <a:t>accuracy,</a:t>
            </a:r>
            <a:r>
              <a:rPr sz="2400" b="1" spc="-1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F1</a:t>
            </a:r>
            <a:r>
              <a:rPr sz="2400" b="1" spc="-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Score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binary_accuracy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categorical_accuracy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sparse_categorical_accuracy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top_k_categorical_accuracy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sparse_top_k_categorical_accuracy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cosine_proximity</a:t>
            </a:r>
            <a:endParaRPr sz="2400">
              <a:latin typeface="Calibri"/>
              <a:cs typeface="Calibri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spc="-13" dirty="0">
                <a:latin typeface="Calibri"/>
                <a:cs typeface="Calibri"/>
              </a:rPr>
              <a:t>clone_metric</a:t>
            </a:r>
            <a:endParaRPr sz="2400">
              <a:latin typeface="Calibri"/>
              <a:cs typeface="Calibri"/>
            </a:endParaRPr>
          </a:p>
          <a:p>
            <a:pPr marL="410623" indent="-335272">
              <a:buFont typeface="Arial MT"/>
              <a:buChar char="•"/>
              <a:tabLst>
                <a:tab pos="410623" algn="l"/>
              </a:tabLst>
            </a:pP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function,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accepts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arguments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80" dirty="0">
                <a:latin typeface="Arial MT"/>
                <a:cs typeface="Arial MT"/>
              </a:rPr>
              <a:t>−</a:t>
            </a:r>
            <a:endParaRPr sz="2400">
              <a:latin typeface="Arial MT"/>
              <a:cs typeface="Arial MT"/>
            </a:endParaRPr>
          </a:p>
          <a:p>
            <a:pPr marL="410623" indent="-410623">
              <a:buFont typeface="Segoe UI Symbol"/>
              <a:buChar char="□"/>
              <a:tabLst>
                <a:tab pos="410623" algn="l"/>
              </a:tabLst>
            </a:pPr>
            <a:r>
              <a:rPr sz="2400" dirty="0">
                <a:latin typeface="Calibri"/>
                <a:cs typeface="Calibri"/>
              </a:rPr>
              <a:t>y_true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13" dirty="0">
                <a:latin typeface="Arial MT"/>
                <a:cs typeface="Arial MT"/>
              </a:rPr>
              <a:t>−</a:t>
            </a:r>
            <a:r>
              <a:rPr sz="2400" spc="-127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labels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tensors</a:t>
            </a:r>
            <a:endParaRPr sz="2400">
              <a:latin typeface="Calibri"/>
              <a:cs typeface="Calibri"/>
            </a:endParaRPr>
          </a:p>
          <a:p>
            <a:pPr marL="411470"/>
            <a:r>
              <a:rPr sz="2400" dirty="0">
                <a:latin typeface="Calibri"/>
                <a:cs typeface="Calibri"/>
              </a:rPr>
              <a:t>y_pred</a:t>
            </a:r>
            <a:r>
              <a:rPr sz="2400" spc="-107" dirty="0">
                <a:latin typeface="Calibri"/>
                <a:cs typeface="Calibri"/>
              </a:rPr>
              <a:t> </a:t>
            </a:r>
            <a:r>
              <a:rPr sz="2400" spc="-1013" dirty="0">
                <a:latin typeface="Arial MT"/>
                <a:cs typeface="Arial MT"/>
              </a:rPr>
              <a:t>−</a:t>
            </a:r>
            <a:r>
              <a:rPr sz="2400" spc="-1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Calibri"/>
                <a:cs typeface="Calibri"/>
              </a:rPr>
              <a:t>prediction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shape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y_true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52</a:t>
            </a:fld>
            <a:endParaRPr spc="-33" dirty="0"/>
          </a:p>
        </p:txBody>
      </p:sp>
      <p:sp>
        <p:nvSpPr>
          <p:cNvPr id="8" name="object 8"/>
          <p:cNvSpPr txBox="1"/>
          <p:nvPr/>
        </p:nvSpPr>
        <p:spPr>
          <a:xfrm>
            <a:off x="311493" y="1198233"/>
            <a:ext cx="11509587" cy="2602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Compile</a:t>
            </a:r>
            <a:r>
              <a:rPr sz="2400" b="1" i="1" spc="-93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93" dirty="0">
                <a:latin typeface="Calibri"/>
                <a:cs typeface="Calibri"/>
              </a:rPr>
              <a:t> </a:t>
            </a:r>
            <a:r>
              <a:rPr sz="2400" b="1" i="1" spc="-27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428403" marR="6773" indent="-336118">
              <a:buFont typeface="Arial MT"/>
              <a:buChar char="•"/>
              <a:tabLst>
                <a:tab pos="428403" algn="l"/>
              </a:tabLst>
            </a:pPr>
            <a:r>
              <a:rPr sz="2400" dirty="0">
                <a:latin typeface="Calibri"/>
                <a:cs typeface="Calibri"/>
              </a:rPr>
              <a:t>Keras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provides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method,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compile()</a:t>
            </a:r>
            <a:r>
              <a:rPr sz="2400" b="1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compile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argument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</a:t>
            </a:r>
            <a:r>
              <a:rPr sz="2400" spc="-13" dirty="0">
                <a:latin typeface="Calibri"/>
                <a:cs typeface="Calibri"/>
              </a:rPr>
              <a:t>default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compile()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follows</a:t>
            </a:r>
            <a:endParaRPr sz="2400">
              <a:latin typeface="Calibri"/>
              <a:cs typeface="Calibri"/>
            </a:endParaRPr>
          </a:p>
          <a:p>
            <a:pPr marL="427556" indent="-335272">
              <a:buFont typeface="Arial MT"/>
              <a:buChar char="•"/>
              <a:tabLst>
                <a:tab pos="427556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arguments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follows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80" dirty="0">
                <a:latin typeface="Arial MT"/>
                <a:cs typeface="Arial MT"/>
              </a:rPr>
              <a:t>−</a:t>
            </a:r>
            <a:endParaRPr sz="2400">
              <a:latin typeface="Arial MT"/>
              <a:cs typeface="Arial MT"/>
            </a:endParaRPr>
          </a:p>
          <a:p>
            <a:pPr marL="427556" indent="-410623">
              <a:buFont typeface="Segoe UI Symbol"/>
              <a:buChar char="□"/>
              <a:tabLst>
                <a:tab pos="427556" algn="l"/>
              </a:tabLst>
            </a:pPr>
            <a:r>
              <a:rPr sz="2400" dirty="0">
                <a:latin typeface="Calibri"/>
                <a:cs typeface="Calibri"/>
              </a:rPr>
              <a:t>loss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427556" indent="-410623">
              <a:buFont typeface="Segoe UI Symbol"/>
              <a:buChar char="□"/>
              <a:tabLst>
                <a:tab pos="427556" algn="l"/>
              </a:tabLst>
            </a:pPr>
            <a:r>
              <a:rPr sz="2400" spc="-13" dirty="0">
                <a:latin typeface="Calibri"/>
                <a:cs typeface="Calibri"/>
              </a:rPr>
              <a:t>Optimizer</a:t>
            </a:r>
            <a:endParaRPr sz="2400">
              <a:latin typeface="Calibri"/>
              <a:cs typeface="Calibri"/>
            </a:endParaRPr>
          </a:p>
          <a:p>
            <a:pPr marL="427556" indent="-410623">
              <a:buFont typeface="Segoe UI Symbol"/>
              <a:buChar char="□"/>
              <a:tabLst>
                <a:tab pos="427556" algn="l"/>
              </a:tabLst>
            </a:pPr>
            <a:r>
              <a:rPr sz="2400" spc="-13" dirty="0">
                <a:latin typeface="Calibri"/>
                <a:cs typeface="Calibri"/>
              </a:rPr>
              <a:t>metrics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509587" cy="33410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Compile</a:t>
            </a:r>
            <a:r>
              <a:rPr sz="2400" b="1" i="1" spc="-93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93" dirty="0">
                <a:latin typeface="Calibri"/>
                <a:cs typeface="Calibri"/>
              </a:rPr>
              <a:t> </a:t>
            </a:r>
            <a:r>
              <a:rPr sz="2400" b="1" i="1" spc="-27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396230" indent="-334425" algn="just">
              <a:buFont typeface="Arial MT"/>
              <a:buChar char="•"/>
              <a:tabLst>
                <a:tab pos="39623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compile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ANN.</a:t>
            </a:r>
            <a:endParaRPr sz="2400">
              <a:latin typeface="Calibri"/>
              <a:cs typeface="Calibri"/>
            </a:endParaRPr>
          </a:p>
          <a:p>
            <a:pPr marL="396230" marR="42332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Here,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parameter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optimizer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53" dirty="0">
                <a:latin typeface="Calibri"/>
                <a:cs typeface="Calibri"/>
              </a:rPr>
              <a:t>‘Adam’.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Adam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efficient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that’s 	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Adam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here.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corresponds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function.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67" dirty="0">
                <a:latin typeface="Calibri"/>
                <a:cs typeface="Calibri"/>
              </a:rPr>
              <a:t>  </a:t>
            </a:r>
            <a:r>
              <a:rPr sz="2400" spc="-33" dirty="0">
                <a:latin typeface="Calibri"/>
                <a:cs typeface="Calibri"/>
              </a:rPr>
              <a:t>use 	</a:t>
            </a:r>
            <a:r>
              <a:rPr sz="2400" b="1" dirty="0">
                <a:latin typeface="Calibri"/>
                <a:cs typeface="Calibri"/>
              </a:rPr>
              <a:t>binary_crossentropy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1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15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that’s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cross-</a:t>
            </a:r>
            <a:r>
              <a:rPr sz="2400" spc="-13" dirty="0">
                <a:latin typeface="Calibri"/>
                <a:cs typeface="Calibri"/>
              </a:rPr>
              <a:t>entropy.</a:t>
            </a:r>
            <a:endParaRPr sz="2400">
              <a:latin typeface="Calibri"/>
              <a:cs typeface="Calibri"/>
            </a:endParaRPr>
          </a:p>
          <a:p>
            <a:pPr marL="396230" marR="26246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evaluated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model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accuracy</a:t>
            </a:r>
            <a:r>
              <a:rPr sz="2400" b="1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metrics.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7321" y="5010923"/>
            <a:ext cx="9574855" cy="75506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53</a:t>
            </a:fld>
            <a:endParaRPr spc="-33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54</a:t>
            </a:fld>
            <a:endParaRPr spc="-33" dirty="0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536680" cy="44516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Model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16933" marR="6773" algn="just"/>
            <a:r>
              <a:rPr sz="2400" i="1" dirty="0">
                <a:latin typeface="Calibri"/>
                <a:cs typeface="Calibri"/>
              </a:rPr>
              <a:t>Models</a:t>
            </a:r>
            <a:r>
              <a:rPr sz="2400" i="1" spc="7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are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trained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by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NumPy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arrays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using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fit().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main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purpose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this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fit</a:t>
            </a:r>
            <a:r>
              <a:rPr sz="2400" i="1" spc="7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function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80" dirty="0">
                <a:latin typeface="Calibri"/>
                <a:cs typeface="Calibri"/>
              </a:rPr>
              <a:t> </a:t>
            </a:r>
            <a:r>
              <a:rPr sz="2400" i="1" spc="-27" dirty="0">
                <a:latin typeface="Calibri"/>
                <a:cs typeface="Calibri"/>
              </a:rPr>
              <a:t>used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evaluate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your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model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on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training.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This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can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be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also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used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for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graphing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model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performance.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spc="-33" dirty="0">
                <a:latin typeface="Calibri"/>
                <a:cs typeface="Calibri"/>
              </a:rPr>
              <a:t>It </a:t>
            </a:r>
            <a:r>
              <a:rPr sz="2400" i="1" dirty="0">
                <a:latin typeface="Calibri"/>
                <a:cs typeface="Calibri"/>
              </a:rPr>
              <a:t>has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following</a:t>
            </a:r>
            <a:r>
              <a:rPr sz="2400" i="1" spc="-7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syntax</a:t>
            </a:r>
            <a:r>
              <a:rPr sz="2400" i="1" spc="-67" dirty="0">
                <a:latin typeface="Calibri"/>
                <a:cs typeface="Calibri"/>
              </a:rPr>
              <a:t> </a:t>
            </a:r>
            <a:r>
              <a:rPr sz="2400" i="1" spc="-67" dirty="0">
                <a:latin typeface="Arial"/>
                <a:cs typeface="Arial"/>
              </a:rPr>
              <a:t>−</a:t>
            </a:r>
            <a:endParaRPr sz="2400">
              <a:latin typeface="Arial"/>
              <a:cs typeface="Arial"/>
            </a:endParaRPr>
          </a:p>
          <a:p>
            <a:pPr marL="16933" algn="just"/>
            <a:r>
              <a:rPr sz="2400" b="1" i="1" spc="-13" dirty="0">
                <a:latin typeface="Calibri"/>
                <a:cs typeface="Calibri"/>
              </a:rPr>
              <a:t>model.fit(</a:t>
            </a:r>
            <a:r>
              <a:rPr sz="2400" i="1" spc="-13" dirty="0">
                <a:latin typeface="Calibri"/>
                <a:cs typeface="Calibri"/>
              </a:rPr>
              <a:t>X,</a:t>
            </a:r>
            <a:r>
              <a:rPr sz="2400" i="1" spc="-47" dirty="0">
                <a:latin typeface="Calibri"/>
                <a:cs typeface="Calibri"/>
              </a:rPr>
              <a:t> </a:t>
            </a:r>
            <a:r>
              <a:rPr sz="2400" i="1" spc="-27" dirty="0">
                <a:latin typeface="Calibri"/>
                <a:cs typeface="Calibri"/>
              </a:rPr>
              <a:t>y,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epochs</a:t>
            </a:r>
            <a:r>
              <a:rPr sz="2400" i="1" spc="-4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=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,</a:t>
            </a:r>
            <a:r>
              <a:rPr sz="2400" i="1" spc="-33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batch_size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67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96230" marR="52492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batch,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predictions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variables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calculated.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error,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along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gradient.</a:t>
            </a:r>
            <a:endParaRPr sz="2400">
              <a:latin typeface="Calibri"/>
              <a:cs typeface="Calibri"/>
            </a:endParaRPr>
          </a:p>
          <a:p>
            <a:pPr marL="397077" indent="-335272">
              <a:spcBef>
                <a:spcPts val="2880"/>
              </a:spcBef>
              <a:buFont typeface="Arial"/>
              <a:buChar char="•"/>
              <a:tabLst>
                <a:tab pos="397077" algn="l"/>
              </a:tabLst>
            </a:pPr>
            <a:r>
              <a:rPr sz="2400" b="1" dirty="0">
                <a:latin typeface="Calibri"/>
                <a:cs typeface="Calibri"/>
              </a:rPr>
              <a:t>Batch</a:t>
            </a:r>
            <a:r>
              <a:rPr sz="2400" b="1" spc="-6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Gradient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Descent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Training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marL="397077" indent="-335272">
              <a:buFont typeface="Arial"/>
              <a:buChar char="•"/>
              <a:tabLst>
                <a:tab pos="397077" algn="l"/>
              </a:tabLst>
            </a:pPr>
            <a:r>
              <a:rPr sz="2400" b="1" dirty="0">
                <a:latin typeface="Calibri"/>
                <a:cs typeface="Calibri"/>
              </a:rPr>
              <a:t>Stochastic</a:t>
            </a:r>
            <a:r>
              <a:rPr sz="2400" b="1" spc="-73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Gradient</a:t>
            </a:r>
            <a:r>
              <a:rPr sz="2400" b="1" spc="-6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Descent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397077" indent="-335272">
              <a:buFont typeface="Arial"/>
              <a:buChar char="•"/>
              <a:tabLst>
                <a:tab pos="397077" algn="l"/>
              </a:tabLst>
            </a:pPr>
            <a:r>
              <a:rPr sz="2400" b="1" spc="-13" dirty="0">
                <a:latin typeface="Calibri"/>
                <a:cs typeface="Calibri"/>
              </a:rPr>
              <a:t>Mini-</a:t>
            </a:r>
            <a:r>
              <a:rPr sz="2400" b="1" dirty="0">
                <a:latin typeface="Calibri"/>
                <a:cs typeface="Calibri"/>
              </a:rPr>
              <a:t>Batch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Gradient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Descent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Training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55</a:t>
            </a:fld>
            <a:endParaRPr spc="-33" dirty="0"/>
          </a:p>
        </p:txBody>
      </p:sp>
      <p:sp>
        <p:nvSpPr>
          <p:cNvPr id="8" name="object 8"/>
          <p:cNvSpPr txBox="1"/>
          <p:nvPr/>
        </p:nvSpPr>
        <p:spPr>
          <a:xfrm>
            <a:off x="342005" y="1198232"/>
            <a:ext cx="11520593" cy="48184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Model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16933" algn="just"/>
            <a:r>
              <a:rPr sz="2400" b="1" i="1" spc="-13" dirty="0">
                <a:latin typeface="Calibri"/>
                <a:cs typeface="Calibri"/>
              </a:rPr>
              <a:t>model.fit(</a:t>
            </a:r>
            <a:r>
              <a:rPr sz="2400" i="1" spc="-13" dirty="0">
                <a:latin typeface="Calibri"/>
                <a:cs typeface="Calibri"/>
              </a:rPr>
              <a:t>X,</a:t>
            </a:r>
            <a:r>
              <a:rPr sz="2400" i="1" spc="-53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alibri"/>
                <a:cs typeface="Calibri"/>
              </a:rPr>
              <a:t>y,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epochs</a:t>
            </a:r>
            <a:r>
              <a:rPr sz="2400" b="1" i="1" spc="-4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4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,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alibri"/>
                <a:cs typeface="Calibri"/>
              </a:rPr>
              <a:t>batch_size</a:t>
            </a:r>
            <a:r>
              <a:rPr sz="2400" i="1" spc="-4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=</a:t>
            </a:r>
            <a:r>
              <a:rPr sz="2400" i="1" spc="-33" dirty="0">
                <a:latin typeface="Calibri"/>
                <a:cs typeface="Calibri"/>
              </a:rPr>
              <a:t> </a:t>
            </a:r>
            <a:r>
              <a:rPr sz="2400" b="1" i="1" spc="-67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96230" marR="1185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had</a:t>
            </a:r>
            <a:r>
              <a:rPr sz="2400" spc="10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opportunity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parameters.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comprised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batches. 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above,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4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descent 	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13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algorithm.</a:t>
            </a:r>
            <a:endParaRPr sz="2400">
              <a:latin typeface="Calibri"/>
              <a:cs typeface="Calibri"/>
            </a:endParaRPr>
          </a:p>
          <a:p>
            <a:pPr marL="396230" marR="677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spc="-53" dirty="0">
                <a:latin typeface="Calibri"/>
                <a:cs typeface="Calibri"/>
              </a:rPr>
              <a:t>You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47" dirty="0">
                <a:latin typeface="Calibri"/>
                <a:cs typeface="Calibri"/>
              </a:rPr>
              <a:t>for-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proceeds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dataset.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spc="-47" dirty="0">
                <a:latin typeface="Calibri"/>
                <a:cs typeface="Calibri"/>
              </a:rPr>
              <a:t>for-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nested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spc="-47" dirty="0">
                <a:latin typeface="Calibri"/>
                <a:cs typeface="Calibri"/>
              </a:rPr>
              <a:t>for-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iterates</a:t>
            </a:r>
            <a:r>
              <a:rPr sz="2400" spc="1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each 	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samples,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specified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“batch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size”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samples.</a:t>
            </a:r>
            <a:endParaRPr sz="2400">
              <a:latin typeface="Calibri"/>
              <a:cs typeface="Calibri"/>
            </a:endParaRPr>
          </a:p>
          <a:p>
            <a:pPr marL="396230" marR="14393" indent="-334425" algn="just">
              <a:buFont typeface="Arial MT"/>
              <a:buChar char="•"/>
              <a:tabLst>
                <a:tab pos="3979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1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epochs</a:t>
            </a:r>
            <a:r>
              <a:rPr sz="2400" spc="1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traditionally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large,</a:t>
            </a:r>
            <a:r>
              <a:rPr sz="2400" spc="1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hundreds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thousands,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allowing</a:t>
            </a:r>
            <a:r>
              <a:rPr sz="2400" spc="17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sufficiently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minimized. 	</a:t>
            </a:r>
            <a:r>
              <a:rPr sz="2400" spc="-47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examples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literature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tutorials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10, 	</a:t>
            </a:r>
            <a:r>
              <a:rPr sz="2400" dirty="0">
                <a:latin typeface="Calibri"/>
                <a:cs typeface="Calibri"/>
              </a:rPr>
              <a:t>100,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500,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1000,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larger.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Building</a:t>
            </a:r>
            <a:r>
              <a:rPr sz="2667" spc="-60" dirty="0"/>
              <a:t> </a:t>
            </a:r>
            <a:r>
              <a:rPr sz="2667" dirty="0"/>
              <a:t>our</a:t>
            </a:r>
            <a:r>
              <a:rPr sz="2667" spc="-53" dirty="0"/>
              <a:t> </a:t>
            </a:r>
            <a:r>
              <a:rPr sz="2667" spc="-13" dirty="0"/>
              <a:t>Model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2"/>
            <a:ext cx="19541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Model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694" y="3027033"/>
            <a:ext cx="11462173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1358" indent="-334425">
              <a:spcBef>
                <a:spcPts val="133"/>
              </a:spcBef>
              <a:buFont typeface="Arial MT"/>
              <a:buChar char="•"/>
              <a:tabLst>
                <a:tab pos="351358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training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X_train,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y_train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training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352205" marR="26246" indent="-336118">
              <a:buFont typeface="Arial MT"/>
              <a:buChar char="•"/>
              <a:tabLst>
                <a:tab pos="35220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observations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update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weights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take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10.</a:t>
            </a:r>
            <a:endParaRPr sz="2400">
              <a:latin typeface="Calibri"/>
              <a:cs typeface="Calibri"/>
            </a:endParaRPr>
          </a:p>
          <a:p>
            <a:pPr marL="352205" marR="6773" indent="-336118">
              <a:buFont typeface="Arial MT"/>
              <a:buChar char="•"/>
              <a:tabLst>
                <a:tab pos="352205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epoch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through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ANN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epoch.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03174" y="1831153"/>
            <a:ext cx="7967935" cy="81272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56</a:t>
            </a:fld>
            <a:endParaRPr spc="-33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Making</a:t>
            </a:r>
            <a:r>
              <a:rPr sz="2667" spc="-93" dirty="0"/>
              <a:t> </a:t>
            </a:r>
            <a:r>
              <a:rPr sz="2667" dirty="0"/>
              <a:t>the</a:t>
            </a:r>
            <a:r>
              <a:rPr sz="2667" spc="-87" dirty="0"/>
              <a:t> </a:t>
            </a:r>
            <a:r>
              <a:rPr sz="2667" dirty="0"/>
              <a:t>Prediction</a:t>
            </a:r>
            <a:r>
              <a:rPr sz="2667" spc="-87" dirty="0"/>
              <a:t> </a:t>
            </a:r>
            <a:r>
              <a:rPr sz="2667" dirty="0"/>
              <a:t>and</a:t>
            </a:r>
            <a:r>
              <a:rPr sz="2667" spc="-87" dirty="0"/>
              <a:t> </a:t>
            </a:r>
            <a:r>
              <a:rPr sz="2667" spc="-13" dirty="0"/>
              <a:t>Accuracy</a:t>
            </a:r>
            <a:r>
              <a:rPr sz="2667" spc="-87" dirty="0"/>
              <a:t> </a:t>
            </a:r>
            <a:r>
              <a:rPr sz="2667" spc="-13" dirty="0"/>
              <a:t>Result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2"/>
            <a:ext cx="11507893" cy="18663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dirty="0">
                <a:latin typeface="Calibri"/>
                <a:cs typeface="Calibri"/>
              </a:rPr>
              <a:t>Predict</a:t>
            </a:r>
            <a:r>
              <a:rPr sz="2400" b="1" i="1" spc="-8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87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test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set</a:t>
            </a:r>
            <a:r>
              <a:rPr sz="2400" b="1" i="1" spc="-87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Result</a:t>
            </a:r>
            <a:endParaRPr sz="2400">
              <a:latin typeface="Calibri"/>
              <a:cs typeface="Calibri"/>
            </a:endParaRPr>
          </a:p>
          <a:p>
            <a:pPr marL="16933" marR="6773" algn="just"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step,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9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we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1(customer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leave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bank)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52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greater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0.5</a:t>
            </a:r>
            <a:r>
              <a:rPr sz="2400" spc="147" dirty="0">
                <a:latin typeface="Calibri"/>
                <a:cs typeface="Calibri"/>
              </a:rPr>
              <a:t>  </a:t>
            </a:r>
            <a:r>
              <a:rPr sz="2400" spc="-13" dirty="0">
                <a:latin typeface="Calibri"/>
                <a:cs typeface="Calibri"/>
              </a:rPr>
              <a:t>otherwise 0(customer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leave</a:t>
            </a:r>
            <a:r>
              <a:rPr sz="2400" spc="-8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bank).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42817" y="3543086"/>
            <a:ext cx="5376595" cy="14950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57</a:t>
            </a:fld>
            <a:endParaRPr spc="-33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Making</a:t>
            </a:r>
            <a:r>
              <a:rPr sz="2667" spc="-93" dirty="0"/>
              <a:t> </a:t>
            </a:r>
            <a:r>
              <a:rPr sz="2667" dirty="0"/>
              <a:t>the</a:t>
            </a:r>
            <a:r>
              <a:rPr sz="2667" spc="-87" dirty="0"/>
              <a:t> </a:t>
            </a:r>
            <a:r>
              <a:rPr sz="2667" dirty="0"/>
              <a:t>Prediction</a:t>
            </a:r>
            <a:r>
              <a:rPr sz="2667" spc="-87" dirty="0"/>
              <a:t> </a:t>
            </a:r>
            <a:r>
              <a:rPr sz="2667" dirty="0"/>
              <a:t>and</a:t>
            </a:r>
            <a:r>
              <a:rPr sz="2667" spc="-87" dirty="0"/>
              <a:t> </a:t>
            </a:r>
            <a:r>
              <a:rPr sz="2667" spc="-13" dirty="0"/>
              <a:t>Accuracy</a:t>
            </a:r>
            <a:r>
              <a:rPr sz="2667" spc="-87" dirty="0"/>
              <a:t> </a:t>
            </a:r>
            <a:r>
              <a:rPr sz="2667" spc="-13" dirty="0"/>
              <a:t>Result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342004" y="1198233"/>
            <a:ext cx="11484187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2400" b="1" i="1" spc="-13" dirty="0">
                <a:latin typeface="Calibri"/>
                <a:cs typeface="Calibri"/>
              </a:rPr>
              <a:t>Confusion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3" dirty="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16933" marR="6773" algn="just"/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confusion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confusion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sklearn.metrics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confusion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matrix,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parameters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y_test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y_pred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predicted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result.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1227" y="2898141"/>
            <a:ext cx="6299199" cy="19684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58</a:t>
            </a:fld>
            <a:endParaRPr spc="-33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3957" y="111204"/>
            <a:ext cx="9129607" cy="1295400"/>
            <a:chOff x="1112967" y="83403"/>
            <a:chExt cx="6847205" cy="97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967" y="491222"/>
              <a:ext cx="6847100" cy="56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967" y="83403"/>
              <a:ext cx="6847100" cy="5633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066" y="130816"/>
            <a:ext cx="690055" cy="62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84301" y="121715"/>
            <a:ext cx="690068" cy="708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611" y="227179"/>
            <a:ext cx="8994140" cy="448049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37252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92"/>
              </a:spcBef>
            </a:pPr>
            <a:r>
              <a:rPr sz="2667" dirty="0"/>
              <a:t>Making</a:t>
            </a:r>
            <a:r>
              <a:rPr sz="2667" spc="-93" dirty="0"/>
              <a:t> </a:t>
            </a:r>
            <a:r>
              <a:rPr sz="2667" dirty="0"/>
              <a:t>the</a:t>
            </a:r>
            <a:r>
              <a:rPr sz="2667" spc="-87" dirty="0"/>
              <a:t> </a:t>
            </a:r>
            <a:r>
              <a:rPr sz="2667" dirty="0"/>
              <a:t>Prediction</a:t>
            </a:r>
            <a:r>
              <a:rPr sz="2667" spc="-87" dirty="0"/>
              <a:t> </a:t>
            </a:r>
            <a:r>
              <a:rPr sz="2667" dirty="0"/>
              <a:t>and</a:t>
            </a:r>
            <a:r>
              <a:rPr sz="2667" spc="-87" dirty="0"/>
              <a:t> </a:t>
            </a:r>
            <a:r>
              <a:rPr sz="2667" spc="-13" dirty="0"/>
              <a:t>Accuracy</a:t>
            </a:r>
            <a:r>
              <a:rPr sz="2667" spc="-87" dirty="0"/>
              <a:t> </a:t>
            </a:r>
            <a:r>
              <a:rPr sz="2667" spc="-13" dirty="0"/>
              <a:t>Result</a:t>
            </a:r>
            <a:endParaRPr sz="266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117600" y="2731503"/>
            <a:ext cx="10266701" cy="19971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Accuracy</a:t>
            </a:r>
            <a:r>
              <a:rPr spc="-40" dirty="0"/>
              <a:t> </a:t>
            </a:r>
            <a:r>
              <a:rPr spc="-27" dirty="0"/>
              <a:t>Score</a:t>
            </a:r>
          </a:p>
          <a:p>
            <a:pPr marL="16933" marR="6773">
              <a:lnSpc>
                <a:spcPct val="100000"/>
              </a:lnSpc>
            </a:pPr>
            <a:r>
              <a:rPr b="0" i="0" dirty="0">
                <a:latin typeface="Calibri"/>
                <a:cs typeface="Calibri"/>
              </a:rPr>
              <a:t>In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this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step,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calculate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accuracy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score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based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on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the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actual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test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result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and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predict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spc="-27" dirty="0">
                <a:latin typeface="Calibri"/>
                <a:cs typeface="Calibri"/>
              </a:rPr>
              <a:t>test </a:t>
            </a:r>
            <a:r>
              <a:rPr spc="-13" dirty="0">
                <a:latin typeface="Calibri"/>
                <a:cs typeface="Calibri"/>
              </a:rPr>
              <a:t>results.</a:t>
            </a:r>
          </a:p>
          <a:p>
            <a:pPr marL="16933">
              <a:lnSpc>
                <a:spcPct val="100000"/>
              </a:lnSpc>
            </a:pPr>
            <a:r>
              <a:rPr b="0" i="0" dirty="0">
                <a:latin typeface="Calibri"/>
                <a:cs typeface="Calibri"/>
              </a:rPr>
              <a:t>So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here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go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we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get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84.05%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of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our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ANN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model.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4990" y="1017301"/>
            <a:ext cx="5867400" cy="17906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1"/>
            <a:ext cx="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>
              <a:lnSpc>
                <a:spcPts val="1753"/>
              </a:lnSpc>
            </a:pPr>
            <a:fld id="{81D60167-4931-47E6-BA6A-407CBD079E47}" type="slidenum">
              <a:rPr spc="-33" dirty="0"/>
              <a:pPr marL="50799">
                <a:lnSpc>
                  <a:spcPts val="1753"/>
                </a:lnSpc>
              </a:pPr>
              <a:t>59</a:t>
            </a:fld>
            <a:endParaRPr spc="-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3466</Words>
  <Application>Microsoft Office PowerPoint</Application>
  <PresentationFormat>Widescreen</PresentationFormat>
  <Paragraphs>303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SimSun-ExtB</vt:lpstr>
      <vt:lpstr>Yu Gothic UI</vt:lpstr>
      <vt:lpstr>Arial</vt:lpstr>
      <vt:lpstr>Arial MT</vt:lpstr>
      <vt:lpstr>Calibri</vt:lpstr>
      <vt:lpstr>Calibri Light</vt:lpstr>
      <vt:lpstr>Courier New</vt:lpstr>
      <vt:lpstr>Segoe UI Symbol</vt:lpstr>
      <vt:lpstr>Times New Roman</vt:lpstr>
      <vt:lpstr>Verdana</vt:lpstr>
      <vt:lpstr>Office Theme</vt:lpstr>
      <vt:lpstr>Introduction to Artificial Neural Network and It’s Usage in DIP</vt:lpstr>
      <vt:lpstr>A Little Inspiration from Biology!</vt:lpstr>
      <vt:lpstr>Outline</vt:lpstr>
      <vt:lpstr>What is “Learning” in AI?</vt:lpstr>
      <vt:lpstr>Forms of Learning</vt:lpstr>
      <vt:lpstr>Forms of Learning Based on Feedback</vt:lpstr>
      <vt:lpstr>Supervised Learning</vt:lpstr>
      <vt:lpstr>Supervised Learning</vt:lpstr>
      <vt:lpstr>Supervised Learning..</vt:lpstr>
      <vt:lpstr>What is ANN?</vt:lpstr>
      <vt:lpstr>What is ‘Artificial neural network’?</vt:lpstr>
      <vt:lpstr>Artificial Neural Network</vt:lpstr>
      <vt:lpstr>Artificial Neural Network</vt:lpstr>
      <vt:lpstr>Artificial Neural Network</vt:lpstr>
      <vt:lpstr>Artificial Neural Network</vt:lpstr>
      <vt:lpstr>Artificial Neural Network</vt:lpstr>
      <vt:lpstr>ANN - Activation Functions</vt:lpstr>
      <vt:lpstr>Basic Structure of ANN</vt:lpstr>
      <vt:lpstr>Basic Structure of ANN</vt:lpstr>
      <vt:lpstr>Types of Artificial Neural Networks</vt:lpstr>
      <vt:lpstr>Types of Artificial Neural Networks</vt:lpstr>
      <vt:lpstr>Activation Functions and their Types</vt:lpstr>
      <vt:lpstr>Linear Activation Functions</vt:lpstr>
      <vt:lpstr>Non-linear Activation Functions</vt:lpstr>
      <vt:lpstr>Different Types of Activation function in non-Linear</vt:lpstr>
      <vt:lpstr>Different Types of Activation function in non-Linear</vt:lpstr>
      <vt:lpstr>Different Types of Activation function in non-Linear</vt:lpstr>
      <vt:lpstr>ANN Methodology</vt:lpstr>
      <vt:lpstr>PowerPoint Presentation</vt:lpstr>
      <vt:lpstr>ANN Methodology</vt:lpstr>
      <vt:lpstr>ANN Architecture</vt:lpstr>
      <vt:lpstr>ANN Architecture</vt:lpstr>
      <vt:lpstr>ANN Architecture</vt:lpstr>
      <vt:lpstr>ANN Architecture</vt:lpstr>
      <vt:lpstr>ANN Architecture</vt:lpstr>
      <vt:lpstr>ANN Architecture</vt:lpstr>
      <vt:lpstr>ANN Architecture</vt:lpstr>
      <vt:lpstr>Practical Implementation of Artificial Neural Network</vt:lpstr>
      <vt:lpstr>Practical Implementation of Artificial Neural Network</vt:lpstr>
      <vt:lpstr>Dataset Sample</vt:lpstr>
      <vt:lpstr>Data Preprocessing</vt:lpstr>
      <vt:lpstr>Data Preprocessing</vt:lpstr>
      <vt:lpstr>Data Preprocessing</vt:lpstr>
      <vt:lpstr>Data Preprocessing</vt:lpstr>
      <vt:lpstr>Data Preprocessing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Building our Model</vt:lpstr>
      <vt:lpstr>Making the Prediction and Accuracy Result</vt:lpstr>
      <vt:lpstr>Making the Prediction and Accuracy Result</vt:lpstr>
      <vt:lpstr>Making the Prediction and Accuracy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1705064 - Md. Tanvir Raihan</dc:creator>
  <cp:lastModifiedBy>1705064 - Md. Tanvir Raihan</cp:lastModifiedBy>
  <cp:revision>11</cp:revision>
  <dcterms:created xsi:type="dcterms:W3CDTF">2025-02-27T04:11:40Z</dcterms:created>
  <dcterms:modified xsi:type="dcterms:W3CDTF">2025-03-07T18:32:32Z</dcterms:modified>
</cp:coreProperties>
</file>