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4" r:id="rId3"/>
    <p:sldId id="275" r:id="rId4"/>
    <p:sldId id="276" r:id="rId5"/>
    <p:sldId id="285" r:id="rId6"/>
    <p:sldId id="28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47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40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9460" y="0"/>
                </a:moveTo>
                <a:lnTo>
                  <a:pt x="0" y="0"/>
                </a:lnTo>
                <a:lnTo>
                  <a:pt x="0" y="457200"/>
                </a:lnTo>
                <a:lnTo>
                  <a:pt x="12189460" y="457200"/>
                </a:lnTo>
                <a:lnTo>
                  <a:pt x="1218946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759"/>
            <a:ext cx="12189460" cy="63500"/>
          </a:xfrm>
          <a:custGeom>
            <a:avLst/>
            <a:gdLst/>
            <a:ahLst/>
            <a:cxnLst/>
            <a:rect l="l" t="t" r="r" b="b"/>
            <a:pathLst>
              <a:path w="12189460" h="63500">
                <a:moveTo>
                  <a:pt x="12189460" y="0"/>
                </a:moveTo>
                <a:lnTo>
                  <a:pt x="0" y="0"/>
                </a:lnTo>
                <a:lnTo>
                  <a:pt x="0" y="63499"/>
                </a:lnTo>
                <a:lnTo>
                  <a:pt x="12189460" y="63499"/>
                </a:lnTo>
                <a:lnTo>
                  <a:pt x="1218946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40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9460" y="0"/>
                </a:moveTo>
                <a:lnTo>
                  <a:pt x="0" y="0"/>
                </a:lnTo>
                <a:lnTo>
                  <a:pt x="0" y="457200"/>
                </a:lnTo>
                <a:lnTo>
                  <a:pt x="12189460" y="457200"/>
                </a:lnTo>
                <a:lnTo>
                  <a:pt x="1218946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759"/>
            <a:ext cx="12189460" cy="63500"/>
          </a:xfrm>
          <a:custGeom>
            <a:avLst/>
            <a:gdLst/>
            <a:ahLst/>
            <a:cxnLst/>
            <a:rect l="l" t="t" r="r" b="b"/>
            <a:pathLst>
              <a:path w="12189460" h="63500">
                <a:moveTo>
                  <a:pt x="12189460" y="0"/>
                </a:moveTo>
                <a:lnTo>
                  <a:pt x="0" y="0"/>
                </a:lnTo>
                <a:lnTo>
                  <a:pt x="0" y="63499"/>
                </a:lnTo>
                <a:lnTo>
                  <a:pt x="12189460" y="63499"/>
                </a:lnTo>
                <a:lnTo>
                  <a:pt x="1218946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769" y="434467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9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759"/>
            <a:ext cx="12192000" cy="66040"/>
          </a:xfrm>
          <a:custGeom>
            <a:avLst/>
            <a:gdLst/>
            <a:ahLst/>
            <a:cxnLst/>
            <a:rect l="l" t="t" r="r" b="b"/>
            <a:pathLst>
              <a:path w="12192000" h="66039">
                <a:moveTo>
                  <a:pt x="12192000" y="0"/>
                </a:moveTo>
                <a:lnTo>
                  <a:pt x="0" y="0"/>
                </a:lnTo>
                <a:lnTo>
                  <a:pt x="0" y="66039"/>
                </a:lnTo>
                <a:lnTo>
                  <a:pt x="12192000" y="66039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5069" y="1738629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69" y="236537"/>
            <a:ext cx="10065702" cy="143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64944" y="2534665"/>
            <a:ext cx="5171440" cy="2769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37" y="3118866"/>
            <a:ext cx="9402445" cy="7732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4950" spc="-50" dirty="0">
                <a:solidFill>
                  <a:srgbClr val="252525"/>
                </a:solidFill>
                <a:latin typeface="Calibri Light"/>
                <a:cs typeface="Calibri Light"/>
              </a:rPr>
              <a:t>Pixel Adjacency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9194" y="4567173"/>
            <a:ext cx="7421245" cy="346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4800"/>
              </a:lnSpc>
              <a:spcBef>
                <a:spcPts val="100"/>
              </a:spcBef>
            </a:pPr>
            <a:r>
              <a:rPr sz="2150" spc="110" dirty="0">
                <a:solidFill>
                  <a:srgbClr val="626F52"/>
                </a:solidFill>
                <a:latin typeface="Calibri Light"/>
                <a:cs typeface="Calibri Light"/>
              </a:rPr>
              <a:t>CSE</a:t>
            </a:r>
            <a:r>
              <a:rPr sz="2150" spc="38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150" spc="130" dirty="0">
                <a:solidFill>
                  <a:srgbClr val="626F52"/>
                </a:solidFill>
                <a:latin typeface="Calibri Light"/>
                <a:cs typeface="Calibri Light"/>
              </a:rPr>
              <a:t>4883</a:t>
            </a:r>
            <a:r>
              <a:rPr sz="2150" spc="-30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150" dirty="0">
                <a:solidFill>
                  <a:srgbClr val="626F52"/>
                </a:solidFill>
                <a:latin typeface="Calibri Light"/>
                <a:cs typeface="Calibri Light"/>
              </a:rPr>
              <a:t>:</a:t>
            </a:r>
            <a:r>
              <a:rPr sz="2150" spc="395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150" spc="130" dirty="0">
                <a:solidFill>
                  <a:srgbClr val="626F52"/>
                </a:solidFill>
                <a:latin typeface="Calibri Light"/>
                <a:cs typeface="Calibri Light"/>
              </a:rPr>
              <a:t>DIGITAL</a:t>
            </a:r>
            <a:r>
              <a:rPr sz="2150" spc="380" dirty="0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150" spc="135">
                <a:solidFill>
                  <a:srgbClr val="626F52"/>
                </a:solidFill>
                <a:latin typeface="Calibri Light"/>
                <a:cs typeface="Calibri Light"/>
              </a:rPr>
              <a:t>IMAGE</a:t>
            </a:r>
            <a:r>
              <a:rPr sz="2150" spc="405">
                <a:solidFill>
                  <a:srgbClr val="626F52"/>
                </a:solidFill>
                <a:latin typeface="Calibri Light"/>
                <a:cs typeface="Calibri Light"/>
              </a:rPr>
              <a:t> </a:t>
            </a:r>
            <a:r>
              <a:rPr sz="2150" spc="155">
                <a:solidFill>
                  <a:srgbClr val="626F52"/>
                </a:solidFill>
                <a:latin typeface="Calibri Light"/>
                <a:cs typeface="Calibri Light"/>
              </a:rPr>
              <a:t>PROCESSING</a:t>
            </a:r>
            <a:endParaRPr sz="215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337" y="6553517"/>
            <a:ext cx="542925" cy="168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7/26/2023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33239" y="6530657"/>
            <a:ext cx="2524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LEC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RAIYAN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RAHMAN,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DEPT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CSE,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UIU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0744" y="6543357"/>
            <a:ext cx="9398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466580" y="4526279"/>
            <a:ext cx="1689100" cy="1531620"/>
            <a:chOff x="9466580" y="4526279"/>
            <a:chExt cx="1689100" cy="15316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200" y="4587239"/>
              <a:ext cx="1549894" cy="1409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66580" y="4526279"/>
              <a:ext cx="1689100" cy="15316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37" y="575881"/>
            <a:ext cx="7040245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25" dirty="0"/>
              <a:t>Basic</a:t>
            </a:r>
            <a:r>
              <a:rPr sz="4300" spc="-180" dirty="0"/>
              <a:t> </a:t>
            </a:r>
            <a:r>
              <a:rPr sz="4300" spc="-60" dirty="0"/>
              <a:t>relationship</a:t>
            </a:r>
            <a:r>
              <a:rPr sz="4300" spc="-130" dirty="0"/>
              <a:t> </a:t>
            </a:r>
            <a:r>
              <a:rPr sz="4300" spc="-60" dirty="0"/>
              <a:t>between</a:t>
            </a:r>
            <a:r>
              <a:rPr sz="4300" spc="-180" dirty="0"/>
              <a:t> </a:t>
            </a:r>
            <a:r>
              <a:rPr sz="4300" spc="-30" dirty="0"/>
              <a:t>pixels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176337" y="1165859"/>
            <a:ext cx="36239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90" dirty="0">
                <a:solidFill>
                  <a:srgbClr val="404040"/>
                </a:solidFill>
                <a:latin typeface="Calibri Light"/>
                <a:cs typeface="Calibri Light"/>
              </a:rPr>
              <a:t>NEIGHBORS</a:t>
            </a:r>
            <a:r>
              <a:rPr sz="3200" spc="-18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200" spc="-65" dirty="0">
                <a:solidFill>
                  <a:srgbClr val="404040"/>
                </a:solidFill>
                <a:latin typeface="Calibri Light"/>
                <a:cs typeface="Calibri Light"/>
              </a:rPr>
              <a:t>OF</a:t>
            </a:r>
            <a:r>
              <a:rPr sz="3200" spc="-10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200" dirty="0">
                <a:solidFill>
                  <a:srgbClr val="404040"/>
                </a:solidFill>
                <a:latin typeface="Calibri Light"/>
                <a:cs typeface="Calibri Light"/>
              </a:rPr>
              <a:t>A</a:t>
            </a:r>
            <a:r>
              <a:rPr sz="3200" spc="-11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200" spc="-25" dirty="0">
                <a:solidFill>
                  <a:srgbClr val="404040"/>
                </a:solidFill>
                <a:latin typeface="Calibri Light"/>
                <a:cs typeface="Calibri Light"/>
              </a:rPr>
              <a:t>PIXEL</a:t>
            </a:r>
            <a:endParaRPr sz="3200">
              <a:latin typeface="Calibri Light"/>
              <a:cs typeface="Calibri Ligh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90930" y="2431542"/>
          <a:ext cx="10058400" cy="1481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(x-1,y+1)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(x,y+1)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(x+1,y+1)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(x-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1,y)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(x,y)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(x+1,y)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y-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(x-1,y-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1)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(x,y-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1)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(x+1,y-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1)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x-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x+1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76337" y="1921509"/>
            <a:ext cx="4135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Any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image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represented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following: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3630" y="815975"/>
            <a:ext cx="78854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Basic</a:t>
            </a:r>
            <a:r>
              <a:rPr spc="-229" dirty="0"/>
              <a:t> </a:t>
            </a:r>
            <a:r>
              <a:rPr spc="-65" dirty="0"/>
              <a:t>relationship</a:t>
            </a:r>
            <a:r>
              <a:rPr spc="-170" dirty="0"/>
              <a:t> </a:t>
            </a:r>
            <a:r>
              <a:rPr spc="-55" dirty="0"/>
              <a:t>between</a:t>
            </a:r>
            <a:r>
              <a:rPr spc="-220" dirty="0"/>
              <a:t> </a:t>
            </a:r>
            <a:r>
              <a:rPr spc="-10" dirty="0"/>
              <a:t>pixels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897" y="1823720"/>
            <a:ext cx="9924415" cy="287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NEIGHBORS</a:t>
            </a:r>
            <a:r>
              <a:rPr sz="24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b="1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Calibri"/>
                <a:cs typeface="Calibri"/>
              </a:rPr>
              <a:t>PIXEL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2400" dirty="0">
              <a:latin typeface="Calibri"/>
              <a:cs typeface="Calibri"/>
            </a:endParaRPr>
          </a:p>
          <a:p>
            <a:pPr marL="104139" marR="5080" indent="-98425">
              <a:lnSpc>
                <a:spcPts val="2160"/>
              </a:lnSpc>
              <a:buClr>
                <a:srgbClr val="E38312"/>
              </a:buClr>
              <a:buSzPct val="95000"/>
              <a:buFont typeface="Wingdings"/>
              <a:buChar char=""/>
              <a:tabLst>
                <a:tab pos="104139" algn="l"/>
                <a:tab pos="129539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A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pixel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(x,y)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4-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horizontal/vertical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neighbors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(x+1,y),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(x-1,y),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(x,y+1)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(x,y-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1).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These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4-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neighbors</a:t>
            </a:r>
            <a:r>
              <a:rPr sz="20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b="1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N4(p)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04139" marR="114300" indent="-98425">
              <a:lnSpc>
                <a:spcPts val="2160"/>
              </a:lnSpc>
              <a:spcBef>
                <a:spcPts val="1400"/>
              </a:spcBef>
              <a:buClr>
                <a:srgbClr val="E38312"/>
              </a:buClr>
              <a:buSzPct val="95000"/>
              <a:buFont typeface="Wingdings"/>
              <a:buChar char=""/>
              <a:tabLst>
                <a:tab pos="104139" algn="l"/>
                <a:tab pos="129539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	A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pixel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(x,y) has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4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diagonal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neighbors</a:t>
            </a:r>
            <a:r>
              <a:rPr sz="20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(x+1,y+1),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(x+1,y-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1),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(x-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1,y+1)</a:t>
            </a:r>
            <a:r>
              <a:rPr sz="20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(x-1,y-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1).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These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called the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Calibri"/>
                <a:cs typeface="Calibri"/>
              </a:rPr>
              <a:t>diagonal-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neighbors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of p</a:t>
            </a:r>
            <a:r>
              <a:rPr sz="20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ND(p).</a:t>
            </a:r>
            <a:endParaRPr sz="2000" dirty="0">
              <a:latin typeface="Calibri"/>
              <a:cs typeface="Calibri"/>
            </a:endParaRPr>
          </a:p>
          <a:p>
            <a:pPr marL="128905" indent="-123825">
              <a:lnSpc>
                <a:spcPct val="100000"/>
              </a:lnSpc>
              <a:spcBef>
                <a:spcPts val="1130"/>
              </a:spcBef>
              <a:buClr>
                <a:srgbClr val="E38312"/>
              </a:buClr>
              <a:buSzPct val="95000"/>
              <a:buFont typeface="Wingdings"/>
              <a:buChar char=""/>
              <a:tabLst>
                <a:tab pos="12890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4-neighbors</a:t>
            </a:r>
            <a:r>
              <a:rPr sz="2000" spc="-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diagonal</a:t>
            </a:r>
            <a:r>
              <a:rPr sz="20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neighbors</a:t>
            </a:r>
            <a:r>
              <a:rPr sz="20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20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8-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neighbours</a:t>
            </a:r>
            <a:r>
              <a:rPr sz="2000" b="1" spc="-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b="1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: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N8(p).</a:t>
            </a:r>
            <a:endParaRPr sz="2000" dirty="0">
              <a:latin typeface="Calibri"/>
              <a:cs typeface="Calibri"/>
            </a:endParaRPr>
          </a:p>
          <a:p>
            <a:pPr marL="943610" lvl="1" indent="-182245">
              <a:lnSpc>
                <a:spcPct val="100000"/>
              </a:lnSpc>
              <a:spcBef>
                <a:spcPts val="200"/>
              </a:spcBef>
              <a:buClr>
                <a:srgbClr val="E38312"/>
              </a:buClr>
              <a:buFont typeface="Wingdings"/>
              <a:buChar char=""/>
              <a:tabLst>
                <a:tab pos="943610" algn="l"/>
              </a:tabLst>
            </a:pP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N8(P)</a:t>
            </a:r>
            <a:r>
              <a:rPr sz="18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1800" b="1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Calibri"/>
                <a:cs typeface="Calibri"/>
              </a:rPr>
              <a:t>N4(P)+ND(P)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5460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sz="4300" spc="-75" dirty="0"/>
              <a:t>A</a:t>
            </a:r>
            <a:r>
              <a:rPr sz="4300" spc="-125" dirty="0"/>
              <a:t>D</a:t>
            </a:r>
            <a:r>
              <a:rPr sz="4300" spc="-135" dirty="0"/>
              <a:t>J</a:t>
            </a:r>
            <a:r>
              <a:rPr sz="4300" spc="-95" dirty="0"/>
              <a:t>A</a:t>
            </a:r>
            <a:r>
              <a:rPr sz="4300" spc="-70" dirty="0"/>
              <a:t>CE</a:t>
            </a:r>
            <a:r>
              <a:rPr sz="4300" spc="-55" dirty="0"/>
              <a:t>N</a:t>
            </a:r>
            <a:r>
              <a:rPr sz="4300" spc="-70" dirty="0"/>
              <a:t>C</a:t>
            </a:r>
            <a:r>
              <a:rPr sz="4300" spc="-605" dirty="0"/>
              <a:t>Y</a:t>
            </a:r>
            <a:r>
              <a:rPr sz="4300" spc="-5" dirty="0"/>
              <a:t>,</a:t>
            </a:r>
            <a:r>
              <a:rPr sz="4300" spc="-60" dirty="0"/>
              <a:t> </a:t>
            </a:r>
            <a:r>
              <a:rPr sz="4300" spc="-50" dirty="0"/>
              <a:t>CONNECTIVITY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219200" y="2057400"/>
            <a:ext cx="9850755" cy="3801682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sz="2000" b="1" spc="3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pixels</a:t>
            </a:r>
            <a:r>
              <a:rPr sz="2000" b="1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b="1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neighbors</a:t>
            </a:r>
            <a:r>
              <a:rPr sz="2000" b="1" spc="-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b="1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same</a:t>
            </a:r>
            <a:r>
              <a:rPr sz="2000" b="1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gray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level</a:t>
            </a:r>
            <a:r>
              <a:rPr sz="2000" b="1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b="1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Calibri"/>
                <a:cs typeface="Calibri"/>
              </a:rPr>
              <a:t>adjacent.</a:t>
            </a:r>
            <a:endParaRPr sz="2000" dirty="0">
              <a:latin typeface="Calibri"/>
              <a:cs typeface="Calibri"/>
            </a:endParaRPr>
          </a:p>
          <a:p>
            <a:pPr marL="12700" marR="5080">
              <a:lnSpc>
                <a:spcPct val="70000"/>
              </a:lnSpc>
              <a:spcBef>
                <a:spcPts val="1400"/>
              </a:spcBef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binary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pixels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adjacent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neighbors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me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intensity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either 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1.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scale,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level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range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255.</a:t>
            </a:r>
            <a:endParaRPr sz="2000" dirty="0">
              <a:latin typeface="Calibri"/>
              <a:cs typeface="Calibri"/>
            </a:endParaRPr>
          </a:p>
          <a:p>
            <a:pPr marL="12701">
              <a:lnSpc>
                <a:spcPct val="100000"/>
              </a:lnSpc>
              <a:spcBef>
                <a:spcPts val="685"/>
              </a:spcBef>
              <a:tabLst>
                <a:tab pos="265430" algn="l"/>
              </a:tabLst>
            </a:pPr>
            <a:endParaRPr lang="en-US" sz="2000" dirty="0">
              <a:latin typeface="Calibri"/>
              <a:cs typeface="Calibri"/>
            </a:endParaRPr>
          </a:p>
          <a:p>
            <a:pPr marL="12701">
              <a:lnSpc>
                <a:spcPct val="100000"/>
              </a:lnSpc>
              <a:spcBef>
                <a:spcPts val="685"/>
              </a:spcBef>
              <a:tabLst>
                <a:tab pos="265430" algn="l"/>
              </a:tabLst>
            </a:pPr>
            <a:r>
              <a:rPr lang="en-US" sz="2000" dirty="0">
                <a:latin typeface="Calibri"/>
                <a:cs typeface="Calibri"/>
              </a:rPr>
              <a:t>Example:</a:t>
            </a:r>
          </a:p>
          <a:p>
            <a:pPr marL="12701">
              <a:lnSpc>
                <a:spcPct val="100000"/>
              </a:lnSpc>
              <a:spcBef>
                <a:spcPts val="685"/>
              </a:spcBef>
              <a:tabLst>
                <a:tab pos="265430" algn="l"/>
              </a:tabLst>
            </a:pPr>
            <a:r>
              <a:rPr lang="en-US" sz="2000" dirty="0">
                <a:latin typeface="Calibri"/>
                <a:cs typeface="Calibri"/>
              </a:rPr>
              <a:t>				0	1	0	0</a:t>
            </a:r>
          </a:p>
          <a:p>
            <a:pPr marL="12701">
              <a:lnSpc>
                <a:spcPct val="100000"/>
              </a:lnSpc>
              <a:spcBef>
                <a:spcPts val="685"/>
              </a:spcBef>
              <a:tabLst>
                <a:tab pos="265430" algn="l"/>
              </a:tabLst>
            </a:pPr>
            <a:r>
              <a:rPr lang="en-US" sz="2000" dirty="0">
                <a:latin typeface="Calibri"/>
                <a:cs typeface="Calibri"/>
              </a:rPr>
              <a:t>				1	1	1	0</a:t>
            </a:r>
          </a:p>
          <a:p>
            <a:pPr marL="12701">
              <a:lnSpc>
                <a:spcPct val="100000"/>
              </a:lnSpc>
              <a:spcBef>
                <a:spcPts val="685"/>
              </a:spcBef>
              <a:tabLst>
                <a:tab pos="265430" algn="l"/>
              </a:tabLst>
            </a:pPr>
            <a:r>
              <a:rPr lang="en-US" sz="2000" dirty="0">
                <a:latin typeface="Calibri"/>
                <a:cs typeface="Calibri"/>
              </a:rPr>
              <a:t>				0	1	0	1</a:t>
            </a:r>
          </a:p>
          <a:p>
            <a:pPr marL="12701">
              <a:lnSpc>
                <a:spcPct val="100000"/>
              </a:lnSpc>
              <a:spcBef>
                <a:spcPts val="685"/>
              </a:spcBef>
              <a:tabLst>
                <a:tab pos="265430" algn="l"/>
              </a:tabLst>
            </a:pPr>
            <a:r>
              <a:rPr lang="en-US" sz="2000" dirty="0">
                <a:latin typeface="Calibri"/>
                <a:cs typeface="Calibri"/>
              </a:rPr>
              <a:t>				1	0	0	1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5460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sz="4300" spc="-75" dirty="0"/>
              <a:t>A</a:t>
            </a:r>
            <a:r>
              <a:rPr sz="4300" spc="-125" dirty="0"/>
              <a:t>D</a:t>
            </a:r>
            <a:r>
              <a:rPr sz="4300" spc="-135" dirty="0"/>
              <a:t>J</a:t>
            </a:r>
            <a:r>
              <a:rPr sz="4300" spc="-95" dirty="0"/>
              <a:t>A</a:t>
            </a:r>
            <a:r>
              <a:rPr sz="4300" spc="-70" dirty="0"/>
              <a:t>CE</a:t>
            </a:r>
            <a:r>
              <a:rPr sz="4300" spc="-55" dirty="0"/>
              <a:t>N</a:t>
            </a:r>
            <a:r>
              <a:rPr sz="4300" spc="-70" dirty="0"/>
              <a:t>C</a:t>
            </a:r>
            <a:r>
              <a:rPr sz="4300" spc="-605" dirty="0"/>
              <a:t>Y</a:t>
            </a:r>
            <a:r>
              <a:rPr sz="4300" spc="-5" dirty="0"/>
              <a:t>,</a:t>
            </a:r>
            <a:r>
              <a:rPr sz="4300" spc="-60" dirty="0"/>
              <a:t> </a:t>
            </a:r>
            <a:r>
              <a:rPr sz="4300" spc="-50" dirty="0"/>
              <a:t>CONNECTIVITY</a:t>
            </a:r>
            <a:endParaRPr sz="4300" dirty="0"/>
          </a:p>
        </p:txBody>
      </p:sp>
      <p:sp>
        <p:nvSpPr>
          <p:cNvPr id="3" name="object 3"/>
          <p:cNvSpPr txBox="1"/>
          <p:nvPr/>
        </p:nvSpPr>
        <p:spPr>
          <a:xfrm>
            <a:off x="1176337" y="1752364"/>
            <a:ext cx="9850755" cy="3835024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lang="en-US" sz="2000" dirty="0">
                <a:latin typeface="Calibri"/>
                <a:cs typeface="Calibri"/>
              </a:rPr>
              <a:t>Why do we need this Adjacency information?</a:t>
            </a:r>
          </a:p>
          <a:p>
            <a:pPr marL="298450" indent="-285750">
              <a:lnSpc>
                <a:spcPct val="100000"/>
              </a:lnSpc>
              <a:spcBef>
                <a:spcPts val="785"/>
              </a:spcBef>
              <a:buFont typeface="Arial" panose="020B0604020202020204" pitchFamily="34" charset="0"/>
              <a:buChar char="•"/>
            </a:pPr>
            <a:r>
              <a:rPr lang="en-US" dirty="0"/>
              <a:t>Adjacency defines how pixels (or regions) are connected in an image</a:t>
            </a:r>
          </a:p>
          <a:p>
            <a:pPr marL="298450" indent="-285750">
              <a:lnSpc>
                <a:spcPct val="100000"/>
              </a:lnSpc>
              <a:spcBef>
                <a:spcPts val="785"/>
              </a:spcBef>
              <a:buFont typeface="Arial" panose="020B0604020202020204" pitchFamily="34" charset="0"/>
              <a:buChar char="•"/>
            </a:pPr>
            <a:r>
              <a:rPr lang="en-US" dirty="0"/>
              <a:t>Used in tasks like object detection, segmentation, edge detection, and noise removal.</a:t>
            </a: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endParaRPr lang="en-US" dirty="0"/>
          </a:p>
          <a:p>
            <a:pPr marL="298450" indent="-285750">
              <a:lnSpc>
                <a:spcPct val="100000"/>
              </a:lnSpc>
              <a:spcBef>
                <a:spcPts val="785"/>
              </a:spcBef>
              <a:buFont typeface="Arial" panose="020B0604020202020204" pitchFamily="34" charset="0"/>
              <a:buChar char="•"/>
            </a:pPr>
            <a:r>
              <a:rPr lang="en-US" dirty="0"/>
              <a:t>Types of Adjacency:</a:t>
            </a:r>
          </a:p>
          <a:p>
            <a:pPr marL="298450" lvl="8" indent="-285750">
              <a:spcBef>
                <a:spcPts val="785"/>
              </a:spcBef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4-</a:t>
            </a:r>
            <a:r>
              <a:rPr lang="en-US" i="1" spc="-10" dirty="0">
                <a:solidFill>
                  <a:schemeClr val="tx1"/>
                </a:solidFill>
                <a:latin typeface="Calibri"/>
                <a:cs typeface="Calibri"/>
              </a:rPr>
              <a:t>adjacency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r>
              <a:rPr lang="en-US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Two</a:t>
            </a:r>
            <a:r>
              <a:rPr lang="en-US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pixels</a:t>
            </a:r>
            <a:r>
              <a:rPr lang="en-US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p</a:t>
            </a:r>
            <a:r>
              <a:rPr lang="en-US" i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q</a:t>
            </a:r>
            <a:r>
              <a:rPr lang="en-US" i="1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with</a:t>
            </a:r>
            <a:r>
              <a:rPr lang="en-US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values</a:t>
            </a:r>
            <a:r>
              <a:rPr lang="en-US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from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V</a:t>
            </a:r>
            <a:r>
              <a:rPr lang="en-US" i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lang="en-US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4-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adjacent</a:t>
            </a:r>
            <a:r>
              <a:rPr lang="en-US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if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q</a:t>
            </a:r>
            <a:r>
              <a:rPr lang="en-US" i="1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lang="en-US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lang="en-US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set</a:t>
            </a:r>
            <a:r>
              <a:rPr lang="en-US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spc="-10" dirty="0">
                <a:solidFill>
                  <a:schemeClr val="tx1"/>
                </a:solidFill>
                <a:latin typeface="Calibri"/>
                <a:cs typeface="Calibri"/>
              </a:rPr>
              <a:t>N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4(p).</a:t>
            </a:r>
          </a:p>
          <a:p>
            <a:pPr marL="298450" lvl="8" indent="-285750">
              <a:spcBef>
                <a:spcPts val="785"/>
              </a:spcBef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8-</a:t>
            </a:r>
            <a:r>
              <a:rPr lang="en-US" i="1" spc="-10" dirty="0">
                <a:solidFill>
                  <a:schemeClr val="tx1"/>
                </a:solidFill>
                <a:latin typeface="Calibri"/>
                <a:cs typeface="Calibri"/>
              </a:rPr>
              <a:t>adjacency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r>
              <a:rPr lang="en-US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Two</a:t>
            </a:r>
            <a:r>
              <a:rPr lang="en-US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pixels</a:t>
            </a:r>
            <a:r>
              <a:rPr lang="en-US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p</a:t>
            </a:r>
            <a:r>
              <a:rPr lang="en-US" i="1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q</a:t>
            </a:r>
            <a:r>
              <a:rPr lang="en-US" i="1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with</a:t>
            </a:r>
            <a:r>
              <a:rPr lang="en-US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values</a:t>
            </a:r>
            <a:r>
              <a:rPr lang="en-US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from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V</a:t>
            </a:r>
            <a:r>
              <a:rPr lang="en-US" i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lang="en-US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8-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adjacent</a:t>
            </a:r>
            <a:r>
              <a:rPr lang="en-US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if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q</a:t>
            </a:r>
            <a:r>
              <a:rPr lang="en-US" i="1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lang="en-US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lang="en-US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set</a:t>
            </a:r>
            <a:r>
              <a:rPr lang="en-US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spc="-10" dirty="0">
                <a:solidFill>
                  <a:schemeClr val="tx1"/>
                </a:solidFill>
                <a:latin typeface="Calibri"/>
                <a:cs typeface="Calibri"/>
              </a:rPr>
              <a:t>N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8(p).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298450" lvl="8" indent="-285750">
              <a:spcBef>
                <a:spcPts val="785"/>
              </a:spcBef>
              <a:buFont typeface="Wingdings" panose="05000000000000000000" pitchFamily="2" charset="2"/>
              <a:buChar char="q"/>
            </a:pPr>
            <a:r>
              <a:rPr lang="en-US" i="1" spc="-10" dirty="0">
                <a:solidFill>
                  <a:schemeClr val="tx1"/>
                </a:solidFill>
                <a:latin typeface="Calibri"/>
                <a:cs typeface="Calibri"/>
              </a:rPr>
              <a:t>m-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adjacency</a:t>
            </a:r>
            <a:r>
              <a:rPr lang="en-US" i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(also</a:t>
            </a:r>
            <a:r>
              <a:rPr lang="en-US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called</a:t>
            </a:r>
            <a:r>
              <a:rPr lang="en-US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mixed</a:t>
            </a:r>
            <a:r>
              <a:rPr lang="en-US" i="1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adjacency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).</a:t>
            </a:r>
            <a:r>
              <a:rPr lang="en-US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20" dirty="0">
                <a:solidFill>
                  <a:schemeClr val="tx1"/>
                </a:solidFill>
                <a:latin typeface="Calibri"/>
                <a:cs typeface="Calibri"/>
              </a:rPr>
              <a:t>Two</a:t>
            </a:r>
            <a:r>
              <a:rPr lang="en-US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pixels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p</a:t>
            </a:r>
            <a:r>
              <a:rPr lang="en-US" i="1" spc="-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q</a:t>
            </a:r>
            <a:r>
              <a:rPr lang="en-US" i="1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with</a:t>
            </a:r>
            <a:r>
              <a:rPr lang="en-US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values</a:t>
            </a:r>
            <a:r>
              <a:rPr lang="en-US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from</a:t>
            </a:r>
            <a:r>
              <a:rPr lang="en-US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V</a:t>
            </a:r>
            <a:r>
              <a:rPr lang="en-US" i="1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r>
              <a:rPr lang="en-US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spc="-25" dirty="0">
                <a:solidFill>
                  <a:schemeClr val="tx1"/>
                </a:solidFill>
                <a:latin typeface="Calibri"/>
                <a:cs typeface="Calibri"/>
              </a:rPr>
              <a:t>m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-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adjacent</a:t>
            </a:r>
            <a:r>
              <a:rPr lang="en-US" spc="-11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if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03530" lvl="2" indent="-181610">
              <a:lnSpc>
                <a:spcPts val="2025"/>
              </a:lnSpc>
              <a:buClr>
                <a:srgbClr val="E38312"/>
              </a:buClr>
              <a:buFont typeface="Calibri"/>
              <a:buChar char="◦"/>
              <a:tabLst>
                <a:tab pos="303530" algn="l"/>
              </a:tabLst>
            </a:pPr>
            <a:r>
              <a:rPr lang="en-US" b="1" dirty="0">
                <a:solidFill>
                  <a:schemeClr val="tx1"/>
                </a:solidFill>
                <a:latin typeface="Calibri"/>
                <a:cs typeface="Calibri"/>
              </a:rPr>
              <a:t>(a)</a:t>
            </a:r>
            <a:r>
              <a:rPr lang="en-US" b="1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q</a:t>
            </a:r>
            <a:r>
              <a:rPr lang="en-US" i="1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lang="en-US" spc="-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N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4(p),</a:t>
            </a:r>
            <a:r>
              <a:rPr lang="en-US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spc="-25" dirty="0">
                <a:solidFill>
                  <a:schemeClr val="tx1"/>
                </a:solidFill>
                <a:latin typeface="Calibri"/>
                <a:cs typeface="Calibri"/>
              </a:rPr>
              <a:t>or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03530" lvl="2" indent="-181610">
              <a:lnSpc>
                <a:spcPts val="1980"/>
              </a:lnSpc>
              <a:buClr>
                <a:srgbClr val="E38312"/>
              </a:buClr>
              <a:buFont typeface="Calibri"/>
              <a:buChar char="◦"/>
              <a:tabLst>
                <a:tab pos="303530" algn="l"/>
              </a:tabLst>
            </a:pPr>
            <a:r>
              <a:rPr lang="en-US" b="1" dirty="0">
                <a:solidFill>
                  <a:schemeClr val="tx1"/>
                </a:solidFill>
                <a:latin typeface="Calibri"/>
                <a:cs typeface="Calibri"/>
              </a:rPr>
              <a:t>(b)</a:t>
            </a:r>
            <a:r>
              <a:rPr lang="en-US" b="1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q</a:t>
            </a:r>
            <a:r>
              <a:rPr lang="en-US" i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is</a:t>
            </a:r>
            <a:r>
              <a:rPr lang="en-US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in</a:t>
            </a:r>
            <a:r>
              <a:rPr lang="en-US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ND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(p)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i="1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set</a:t>
            </a:r>
            <a:r>
              <a:rPr lang="en-US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N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4(p)</a:t>
            </a:r>
            <a:r>
              <a:rPr lang="en-US" spc="-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intersection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alibri"/>
                <a:cs typeface="Calibri"/>
              </a:rPr>
              <a:t>N4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(q)</a:t>
            </a:r>
            <a:r>
              <a:rPr lang="en-US" spc="-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has</a:t>
            </a:r>
            <a:r>
              <a:rPr lang="en-US" spc="-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no</a:t>
            </a:r>
            <a:r>
              <a:rPr lang="en-US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pixels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whose</a:t>
            </a:r>
            <a:r>
              <a:rPr lang="en-US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values</a:t>
            </a:r>
            <a:r>
              <a:rPr lang="en-US" spc="-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are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04165" lvl="1">
              <a:lnSpc>
                <a:spcPts val="2039"/>
              </a:lnSpc>
            </a:pP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from</a:t>
            </a:r>
            <a:r>
              <a:rPr lang="en-US" spc="-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i="1" spc="-25" dirty="0">
                <a:solidFill>
                  <a:schemeClr val="tx1"/>
                </a:solidFill>
                <a:latin typeface="Calibri"/>
                <a:cs typeface="Calibri"/>
              </a:rPr>
              <a:t>V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sz="16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706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6537"/>
            <a:ext cx="10065702" cy="1125949"/>
          </a:xfrm>
          <a:prstGeom prst="rect">
            <a:avLst/>
          </a:prstGeom>
        </p:spPr>
        <p:txBody>
          <a:bodyPr vert="horz" wrap="square" lIns="0" tIns="505460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lang="en-US" sz="4000" spc="-75" dirty="0"/>
              <a:t>Applications of </a:t>
            </a:r>
            <a:r>
              <a:rPr sz="4000" spc="-75" dirty="0"/>
              <a:t>A</a:t>
            </a:r>
            <a:r>
              <a:rPr sz="4000" spc="-125" dirty="0"/>
              <a:t>D</a:t>
            </a:r>
            <a:r>
              <a:rPr sz="4000" spc="-135" dirty="0"/>
              <a:t>J</a:t>
            </a:r>
            <a:r>
              <a:rPr sz="4000" spc="-95" dirty="0"/>
              <a:t>A</a:t>
            </a:r>
            <a:r>
              <a:rPr sz="4000" spc="-70" dirty="0"/>
              <a:t>CE</a:t>
            </a:r>
            <a:r>
              <a:rPr sz="4000" spc="-55" dirty="0"/>
              <a:t>N</a:t>
            </a:r>
            <a:r>
              <a:rPr sz="4000" spc="-70" dirty="0"/>
              <a:t>C</a:t>
            </a:r>
            <a:r>
              <a:rPr sz="4000" spc="-605" dirty="0"/>
              <a:t>Y</a:t>
            </a:r>
            <a:r>
              <a:rPr lang="en-US" sz="4000" spc="-605" dirty="0"/>
              <a:t>  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176337" y="1752364"/>
            <a:ext cx="9850755" cy="4327467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 Segmentation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Determines which pixels belong to the same object.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In medical imaging, adjacency rules decide if scattered cancer cells form one tumor or multiple.</a:t>
            </a:r>
          </a:p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Edge Detection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Identifies boundaries between objects by checking pixel connectivity.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Finding edges in a photo of a face (lips vs. skin).</a:t>
            </a:r>
          </a:p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Noise Removal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Isolates noisy pixels (e.g., salt-and-pepper noise) by checking if they’re disconnected from meaningful regions.</a:t>
            </a:r>
          </a:p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Pathfinding (Robotics/AI)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Robots use adjacency to navigate maps (e.g., 4-connected vs. 8-connected paths).</a:t>
            </a:r>
          </a:p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Morphological Operations (Dilation/Erosion)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Adjacency defines how shapes grow/shrink during operations</a:t>
            </a: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031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5799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4-</a:t>
            </a:r>
            <a:r>
              <a:rPr spc="-50" dirty="0"/>
              <a:t>adjacency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237" y="1775459"/>
            <a:ext cx="100037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2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4-</a:t>
            </a:r>
            <a:r>
              <a:rPr sz="22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adjacency:</a:t>
            </a:r>
            <a:r>
              <a:rPr sz="2200" i="1" spc="-12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Two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pixels p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q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‘V’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4-adjacent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q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</a:t>
            </a:r>
            <a:r>
              <a:rPr sz="1875" spc="-15" baseline="-20000" dirty="0">
                <a:latin typeface="Calibri"/>
                <a:cs typeface="Calibri"/>
              </a:rPr>
              <a:t>4</a:t>
            </a:r>
            <a:r>
              <a:rPr sz="1900" spc="-10" dirty="0">
                <a:latin typeface="Calibri"/>
                <a:cs typeface="Calibri"/>
              </a:rPr>
              <a:t>(p).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900" dirty="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e.g.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{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0,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1}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90595" y="3252185"/>
            <a:ext cx="1471295" cy="151955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415"/>
              </a:spcBef>
              <a:tabLst>
                <a:tab pos="642620" algn="l"/>
                <a:tab pos="1264920" algn="l"/>
              </a:tabLst>
            </a:pPr>
            <a:r>
              <a:rPr sz="3000" spc="-50" dirty="0">
                <a:latin typeface="Calibri"/>
                <a:cs typeface="Calibri"/>
              </a:rPr>
              <a:t>1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50" dirty="0">
                <a:solidFill>
                  <a:srgbClr val="00AF50"/>
                </a:solidFill>
                <a:latin typeface="Calibri"/>
                <a:cs typeface="Calibri"/>
              </a:rPr>
              <a:t>1</a:t>
            </a:r>
            <a:r>
              <a:rPr sz="3000" dirty="0">
                <a:solidFill>
                  <a:srgbClr val="00AF50"/>
                </a:solidFill>
                <a:latin typeface="Calibri"/>
                <a:cs typeface="Calibri"/>
              </a:rPr>
              <a:t>	</a:t>
            </a:r>
            <a:r>
              <a:rPr sz="3000" spc="-50" dirty="0">
                <a:latin typeface="Calibri"/>
                <a:cs typeface="Calibri"/>
              </a:rPr>
              <a:t>2</a:t>
            </a:r>
            <a:endParaRPr sz="3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635000" algn="l"/>
                <a:tab pos="1257300" algn="l"/>
              </a:tabLst>
            </a:pPr>
            <a:r>
              <a:rPr sz="3000" spc="-50" dirty="0">
                <a:solidFill>
                  <a:srgbClr val="00AF50"/>
                </a:solidFill>
                <a:latin typeface="Calibri"/>
                <a:cs typeface="Calibri"/>
              </a:rPr>
              <a:t>1</a:t>
            </a:r>
            <a:r>
              <a:rPr sz="3000" dirty="0">
                <a:solidFill>
                  <a:srgbClr val="00AF50"/>
                </a:solidFill>
                <a:latin typeface="Calibri"/>
                <a:cs typeface="Calibri"/>
              </a:rPr>
              <a:t>	</a:t>
            </a:r>
            <a:r>
              <a:rPr sz="3000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lang="en-US" sz="3000" spc="-50" dirty="0">
                <a:solidFill>
                  <a:schemeClr val="tx1"/>
                </a:solidFill>
                <a:latin typeface="Calibri"/>
                <a:cs typeface="Calibri"/>
              </a:rPr>
              <a:t>2</a:t>
            </a:r>
            <a:endParaRPr sz="30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635000" algn="l"/>
                <a:tab pos="1257300" algn="l"/>
              </a:tabLst>
            </a:pPr>
            <a:r>
              <a:rPr sz="3000" spc="-50" dirty="0">
                <a:latin typeface="Calibri"/>
                <a:cs typeface="Calibri"/>
              </a:rPr>
              <a:t>1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50" dirty="0">
                <a:solidFill>
                  <a:srgbClr val="00AF50"/>
                </a:solidFill>
                <a:latin typeface="Calibri"/>
                <a:cs typeface="Calibri"/>
              </a:rPr>
              <a:t>0</a:t>
            </a:r>
            <a:r>
              <a:rPr sz="3000" dirty="0">
                <a:solidFill>
                  <a:srgbClr val="00AF50"/>
                </a:solidFill>
                <a:latin typeface="Calibri"/>
                <a:cs typeface="Calibri"/>
              </a:rPr>
              <a:t>	</a:t>
            </a:r>
            <a:r>
              <a:rPr sz="3000" spc="-50" dirty="0">
                <a:latin typeface="Calibri"/>
                <a:cs typeface="Calibri"/>
              </a:rPr>
              <a:t>1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6337" y="4750190"/>
            <a:ext cx="3389629" cy="78359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900" dirty="0">
                <a:latin typeface="Calibri"/>
                <a:cs typeface="Calibri"/>
              </a:rPr>
              <a:t>p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FF0000"/>
                </a:solidFill>
                <a:latin typeface="Calibri"/>
                <a:cs typeface="Calibri"/>
              </a:rPr>
              <a:t>RED </a:t>
            </a:r>
            <a:r>
              <a:rPr sz="1900" spc="-10" dirty="0">
                <a:latin typeface="Calibri"/>
                <a:cs typeface="Calibri"/>
              </a:rPr>
              <a:t>color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900" dirty="0">
                <a:latin typeface="Calibri"/>
                <a:cs typeface="Calibri"/>
              </a:rPr>
              <a:t>q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00AF50"/>
                </a:solidFill>
                <a:latin typeface="Calibri"/>
                <a:cs typeface="Calibri"/>
              </a:rPr>
              <a:t>GREEN</a:t>
            </a:r>
            <a:r>
              <a:rPr sz="19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color.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5799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8-</a:t>
            </a:r>
            <a:r>
              <a:rPr spc="-50" dirty="0"/>
              <a:t>adjacency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8237" y="1775459"/>
            <a:ext cx="100037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2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8-</a:t>
            </a:r>
            <a:r>
              <a:rPr sz="22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adjacency:</a:t>
            </a:r>
            <a:r>
              <a:rPr sz="2200" i="1" spc="-12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Two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pixels p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q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‘V’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8-adjacent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if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q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N</a:t>
            </a:r>
            <a:r>
              <a:rPr sz="1875" spc="-15" baseline="-20000" dirty="0">
                <a:latin typeface="Calibri"/>
                <a:cs typeface="Calibri"/>
              </a:rPr>
              <a:t>8</a:t>
            </a:r>
            <a:r>
              <a:rPr sz="1900" spc="-10" dirty="0">
                <a:latin typeface="Calibri"/>
                <a:cs typeface="Calibri"/>
              </a:rPr>
              <a:t>(p).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9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1900" dirty="0">
                <a:latin typeface="Calibri"/>
                <a:cs typeface="Calibri"/>
              </a:rPr>
              <a:t>e.g.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{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1,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2}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90595" y="3252185"/>
            <a:ext cx="1471295" cy="151955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415"/>
              </a:spcBef>
              <a:tabLst>
                <a:tab pos="642620" algn="l"/>
                <a:tab pos="1264920" algn="l"/>
              </a:tabLst>
            </a:pPr>
            <a:r>
              <a:rPr sz="3000" spc="-50" dirty="0">
                <a:latin typeface="Calibri"/>
                <a:cs typeface="Calibri"/>
              </a:rPr>
              <a:t>0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50" dirty="0">
                <a:solidFill>
                  <a:srgbClr val="00AF50"/>
                </a:solidFill>
                <a:latin typeface="Calibri"/>
                <a:cs typeface="Calibri"/>
              </a:rPr>
              <a:t>1</a:t>
            </a:r>
            <a:r>
              <a:rPr sz="3000" dirty="0">
                <a:solidFill>
                  <a:srgbClr val="00AF50"/>
                </a:solidFill>
                <a:latin typeface="Calibri"/>
                <a:cs typeface="Calibri"/>
              </a:rPr>
              <a:t>	</a:t>
            </a:r>
            <a:r>
              <a:rPr sz="3000" spc="-50" dirty="0">
                <a:solidFill>
                  <a:srgbClr val="00AF50"/>
                </a:solidFill>
                <a:latin typeface="Calibri"/>
                <a:cs typeface="Calibri"/>
              </a:rPr>
              <a:t>1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  <a:tabLst>
                <a:tab pos="635000" algn="l"/>
                <a:tab pos="1257300" algn="l"/>
              </a:tabLst>
            </a:pPr>
            <a:r>
              <a:rPr sz="3000" spc="-50" dirty="0">
                <a:latin typeface="Calibri"/>
                <a:cs typeface="Calibri"/>
              </a:rPr>
              <a:t>0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3000" spc="-50" dirty="0">
                <a:latin typeface="Calibri"/>
                <a:cs typeface="Calibri"/>
              </a:rPr>
              <a:t>0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634365" algn="l"/>
                <a:tab pos="1257300" algn="l"/>
              </a:tabLst>
            </a:pPr>
            <a:r>
              <a:rPr sz="3000" spc="-50" dirty="0">
                <a:latin typeface="Calibri"/>
                <a:cs typeface="Calibri"/>
              </a:rPr>
              <a:t>0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50" dirty="0">
                <a:latin typeface="Calibri"/>
                <a:cs typeface="Calibri"/>
              </a:rPr>
              <a:t>0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50" dirty="0">
                <a:solidFill>
                  <a:srgbClr val="00AF50"/>
                </a:solidFill>
                <a:latin typeface="Calibri"/>
                <a:cs typeface="Calibri"/>
              </a:rPr>
              <a:t>1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6337" y="4750190"/>
            <a:ext cx="3354704" cy="78359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900" dirty="0">
                <a:latin typeface="Calibri"/>
                <a:cs typeface="Calibri"/>
              </a:rPr>
              <a:t>p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FF0000"/>
                </a:solidFill>
                <a:latin typeface="Calibri"/>
                <a:cs typeface="Calibri"/>
              </a:rPr>
              <a:t>RED </a:t>
            </a:r>
            <a:r>
              <a:rPr sz="1900" spc="-10" dirty="0">
                <a:latin typeface="Calibri"/>
                <a:cs typeface="Calibri"/>
              </a:rPr>
              <a:t>color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900" dirty="0">
                <a:latin typeface="Calibri"/>
                <a:cs typeface="Calibri"/>
              </a:rPr>
              <a:t>q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b="1" dirty="0">
                <a:solidFill>
                  <a:srgbClr val="00AF50"/>
                </a:solidFill>
                <a:latin typeface="Calibri"/>
                <a:cs typeface="Calibri"/>
              </a:rPr>
              <a:t>GREEN</a:t>
            </a:r>
            <a:r>
              <a:rPr sz="1900" b="1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color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337" y="909637"/>
            <a:ext cx="50209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Mixed</a:t>
            </a:r>
            <a:r>
              <a:rPr spc="-165" dirty="0"/>
              <a:t> </a:t>
            </a:r>
            <a:r>
              <a:rPr spc="-90" dirty="0"/>
              <a:t>(m)-</a:t>
            </a:r>
            <a:r>
              <a:rPr spc="-30" dirty="0"/>
              <a:t>adjacency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4097" y="1660241"/>
            <a:ext cx="8013700" cy="92910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205"/>
              </a:spcBef>
            </a:pPr>
            <a:r>
              <a:rPr sz="22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m-adjacency:</a:t>
            </a:r>
            <a:r>
              <a:rPr sz="2200" i="1" spc="-1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Two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pixels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q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with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values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‘V’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m-adjacent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if</a:t>
            </a:r>
            <a:endParaRPr sz="1900" dirty="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960"/>
              </a:spcBef>
              <a:tabLst>
                <a:tab pos="578485" algn="l"/>
                <a:tab pos="2033905" algn="l"/>
              </a:tabLst>
            </a:pPr>
            <a:r>
              <a:rPr sz="1900" spc="-25" dirty="0">
                <a:solidFill>
                  <a:srgbClr val="E38312"/>
                </a:solidFill>
                <a:latin typeface="Calibri"/>
                <a:cs typeface="Calibri"/>
              </a:rPr>
              <a:t>(i)</a:t>
            </a:r>
            <a:r>
              <a:rPr sz="1900" dirty="0">
                <a:solidFill>
                  <a:srgbClr val="E38312"/>
                </a:solidFill>
                <a:latin typeface="Calibri"/>
                <a:cs typeface="Calibri"/>
              </a:rPr>
              <a:t>	</a:t>
            </a:r>
            <a:r>
              <a:rPr sz="2000" dirty="0">
                <a:latin typeface="Calibri"/>
                <a:cs typeface="Calibri"/>
              </a:rPr>
              <a:t>q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N</a:t>
            </a:r>
            <a:r>
              <a:rPr sz="2000" spc="-30" baseline="-20000" dirty="0">
                <a:latin typeface="Calibri"/>
                <a:cs typeface="Calibri"/>
              </a:rPr>
              <a:t>4</a:t>
            </a:r>
            <a:r>
              <a:rPr sz="2000" spc="-20" dirty="0">
                <a:latin typeface="Calibri"/>
                <a:cs typeface="Calibri"/>
              </a:rPr>
              <a:t>(p)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OR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4897" y="2768853"/>
            <a:ext cx="2838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" dirty="0">
                <a:solidFill>
                  <a:srgbClr val="E38312"/>
                </a:solidFill>
                <a:latin typeface="Calibri"/>
                <a:cs typeface="Calibri"/>
              </a:rPr>
              <a:t>(ii)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0200" y="2768853"/>
            <a:ext cx="8382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969895" algn="l"/>
                <a:tab pos="3329940" algn="l"/>
              </a:tabLst>
            </a:pPr>
            <a:r>
              <a:rPr sz="2000" dirty="0">
                <a:latin typeface="Calibri"/>
                <a:cs typeface="Calibri"/>
              </a:rPr>
              <a:t>q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baseline="-20000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(p)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3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 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2000" u="sng" spc="-30" baseline="-20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(p)</a:t>
            </a:r>
            <a:r>
              <a:rPr lang="en-US" sz="20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∩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2000" u="sng" baseline="-20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(q)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pixels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‘V’.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337" y="3210623"/>
            <a:ext cx="1184910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Calibri"/>
                <a:cs typeface="Calibri"/>
              </a:rPr>
              <a:t>e.g.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{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}</a:t>
            </a:r>
            <a:endParaRPr sz="19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71545" y="4098687"/>
          <a:ext cx="2025014" cy="1468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marL="38735">
                        <a:lnSpc>
                          <a:spcPts val="285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a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ts val="285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b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85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c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31750">
                        <a:lnSpc>
                          <a:spcPts val="349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349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3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349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f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31750">
                        <a:lnSpc>
                          <a:spcPts val="349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g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349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h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349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i</a:t>
                      </a:r>
                      <a:endParaRPr sz="19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5799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m-</a:t>
            </a:r>
            <a:r>
              <a:rPr spc="-45" dirty="0"/>
              <a:t>adjacency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2197" y="1811020"/>
            <a:ext cx="23126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40385" algn="l"/>
                <a:tab pos="1995805" algn="l"/>
              </a:tabLst>
            </a:pPr>
            <a:r>
              <a:rPr sz="1900" spc="-25" dirty="0">
                <a:solidFill>
                  <a:srgbClr val="E38312"/>
                </a:solidFill>
                <a:latin typeface="Calibri"/>
                <a:cs typeface="Calibri"/>
              </a:rPr>
              <a:t>(i)</a:t>
            </a:r>
            <a:r>
              <a:rPr sz="1900" dirty="0">
                <a:solidFill>
                  <a:srgbClr val="E38312"/>
                </a:solidFill>
                <a:latin typeface="Calibri"/>
                <a:cs typeface="Calibri"/>
              </a:rPr>
              <a:t>	</a:t>
            </a:r>
            <a:r>
              <a:rPr sz="1900" dirty="0">
                <a:latin typeface="Calibri"/>
                <a:cs typeface="Calibri"/>
              </a:rPr>
              <a:t>q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N</a:t>
            </a:r>
            <a:r>
              <a:rPr sz="1875" spc="-30" baseline="-20000" dirty="0">
                <a:latin typeface="Calibri"/>
                <a:cs typeface="Calibri"/>
              </a:rPr>
              <a:t>4</a:t>
            </a:r>
            <a:r>
              <a:rPr sz="1900" spc="-20" dirty="0">
                <a:latin typeface="Calibri"/>
                <a:cs typeface="Calibri"/>
              </a:rPr>
              <a:t>(p)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OR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4897" y="2321242"/>
            <a:ext cx="2838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" dirty="0">
                <a:solidFill>
                  <a:srgbClr val="E38312"/>
                </a:solidFill>
                <a:latin typeface="Calibri"/>
                <a:cs typeface="Calibri"/>
              </a:rPr>
              <a:t>(ii)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5912" y="2321242"/>
            <a:ext cx="794321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969895" algn="l"/>
                <a:tab pos="3329940" algn="l"/>
              </a:tabLst>
            </a:pPr>
            <a:r>
              <a:rPr lang="en-US" sz="1800" dirty="0">
                <a:latin typeface="Calibri"/>
                <a:cs typeface="Calibri"/>
              </a:rPr>
              <a:t>q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</a:t>
            </a:r>
            <a:r>
              <a:rPr lang="en-US" sz="1800" baseline="-20000" dirty="0">
                <a:latin typeface="Calibri"/>
                <a:cs typeface="Calibri"/>
              </a:rPr>
              <a:t>D</a:t>
            </a:r>
            <a:r>
              <a:rPr lang="en-US" sz="1800" dirty="0">
                <a:latin typeface="Calibri"/>
                <a:cs typeface="Calibri"/>
              </a:rPr>
              <a:t>(p)</a:t>
            </a:r>
            <a:r>
              <a:rPr lang="en-US" sz="1800" spc="37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&amp;</a:t>
            </a:r>
            <a:r>
              <a:rPr lang="en-US" sz="1800" spc="39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set 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lang="en-US" sz="1800" u="sng" spc="-30" baseline="-20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(p) 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∩ N</a:t>
            </a:r>
            <a:r>
              <a:rPr lang="en-US" sz="1800" u="sng" baseline="-20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(q)</a:t>
            </a:r>
            <a:r>
              <a:rPr lang="en-US" sz="1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have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no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pixels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whose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values</a:t>
            </a:r>
            <a:r>
              <a:rPr lang="en-US" sz="1800" spc="-6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are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from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20" dirty="0">
                <a:latin typeface="Calibri"/>
                <a:cs typeface="Calibri"/>
              </a:rPr>
              <a:t>‘V’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337" y="2647661"/>
            <a:ext cx="2187575" cy="842644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900" dirty="0">
                <a:latin typeface="Calibri"/>
                <a:cs typeface="Calibri"/>
              </a:rPr>
              <a:t>e.g.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{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 </a:t>
            </a:r>
            <a:r>
              <a:rPr sz="1900" spc="-50" dirty="0">
                <a:latin typeface="Calibri"/>
                <a:cs typeface="Calibri"/>
              </a:rPr>
              <a:t>}</a:t>
            </a:r>
            <a:endParaRPr sz="1900">
              <a:latin typeface="Calibri"/>
              <a:cs typeface="Calibri"/>
            </a:endParaRPr>
          </a:p>
          <a:p>
            <a:pPr marL="1417320">
              <a:lnSpc>
                <a:spcPct val="100000"/>
              </a:lnSpc>
              <a:spcBef>
                <a:spcPts val="940"/>
              </a:spcBef>
            </a:pPr>
            <a:r>
              <a:rPr sz="1900" dirty="0">
                <a:latin typeface="Calibri"/>
                <a:cs typeface="Calibri"/>
              </a:rPr>
              <a:t>(i)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&amp; </a:t>
            </a:r>
            <a:r>
              <a:rPr sz="1900" spc="-50" dirty="0">
                <a:latin typeface="Calibri"/>
                <a:cs typeface="Calibri"/>
              </a:rPr>
              <a:t>c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337" y="3459733"/>
            <a:ext cx="2746375" cy="165173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334260">
              <a:lnSpc>
                <a:spcPct val="100000"/>
              </a:lnSpc>
              <a:spcBef>
                <a:spcPts val="780"/>
              </a:spcBef>
            </a:pP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a</a:t>
            </a:r>
            <a:endParaRPr sz="1900" dirty="0">
              <a:latin typeface="Calibri"/>
              <a:cs typeface="Calibri"/>
            </a:endParaRPr>
          </a:p>
          <a:p>
            <a:pPr marL="2326640">
              <a:lnSpc>
                <a:spcPct val="100000"/>
              </a:lnSpc>
              <a:spcBef>
                <a:spcPts val="685"/>
              </a:spcBef>
            </a:pP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d</a:t>
            </a:r>
            <a:endParaRPr sz="1900" dirty="0">
              <a:latin typeface="Calibri"/>
              <a:cs typeface="Calibri"/>
            </a:endParaRPr>
          </a:p>
          <a:p>
            <a:pPr marL="12700" marR="17780" indent="2313940">
              <a:lnSpc>
                <a:spcPts val="3479"/>
              </a:lnSpc>
              <a:spcBef>
                <a:spcPts val="695"/>
              </a:spcBef>
            </a:pP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g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3935" y="3459733"/>
            <a:ext cx="1164590" cy="165735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780"/>
              </a:spcBef>
              <a:tabLst>
                <a:tab pos="768985" algn="l"/>
              </a:tabLst>
            </a:pP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3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b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3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c</a:t>
            </a:r>
            <a:endParaRPr sz="1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685"/>
              </a:spcBef>
              <a:tabLst>
                <a:tab pos="768985" algn="l"/>
              </a:tabLst>
            </a:pPr>
            <a:r>
              <a:rPr sz="3000" dirty="0">
                <a:latin typeface="Calibri"/>
                <a:cs typeface="Calibri"/>
              </a:rPr>
              <a:t>1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f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761365" algn="l"/>
              </a:tabLst>
            </a:pPr>
            <a:r>
              <a:rPr sz="3000" dirty="0">
                <a:latin typeface="Calibri"/>
                <a:cs typeface="Calibri"/>
              </a:rPr>
              <a:t>0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latin typeface="Calibri"/>
                <a:cs typeface="Calibri"/>
              </a:rPr>
              <a:t>1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I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C8B07-5557-418E-B33D-3C5765763A71}"/>
              </a:ext>
            </a:extLst>
          </p:cNvPr>
          <p:cNvSpPr txBox="1"/>
          <p:nvPr/>
        </p:nvSpPr>
        <p:spPr>
          <a:xfrm>
            <a:off x="1595912" y="5410200"/>
            <a:ext cx="457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Soln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b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&amp;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are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m-adjacent.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5799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m-</a:t>
            </a:r>
            <a:r>
              <a:rPr spc="-45" dirty="0"/>
              <a:t>adjacency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797" y="1811020"/>
            <a:ext cx="23507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565785" algn="l"/>
                <a:tab pos="2021205" algn="l"/>
              </a:tabLst>
            </a:pPr>
            <a:r>
              <a:rPr sz="1900" spc="-25" dirty="0">
                <a:solidFill>
                  <a:srgbClr val="E38312"/>
                </a:solidFill>
                <a:latin typeface="Calibri"/>
                <a:cs typeface="Calibri"/>
              </a:rPr>
              <a:t>(i)</a:t>
            </a:r>
            <a:r>
              <a:rPr sz="1900" dirty="0">
                <a:solidFill>
                  <a:srgbClr val="E38312"/>
                </a:solidFill>
                <a:latin typeface="Calibri"/>
                <a:cs typeface="Calibri"/>
              </a:rPr>
              <a:t>	</a:t>
            </a:r>
            <a:r>
              <a:rPr sz="1900" dirty="0">
                <a:latin typeface="Calibri"/>
                <a:cs typeface="Calibri"/>
              </a:rPr>
              <a:t>q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N</a:t>
            </a:r>
            <a:r>
              <a:rPr sz="1875" spc="-30" baseline="-20000" dirty="0">
                <a:latin typeface="Calibri"/>
                <a:cs typeface="Calibri"/>
              </a:rPr>
              <a:t>4</a:t>
            </a:r>
            <a:r>
              <a:rPr sz="1900" spc="-20" dirty="0">
                <a:latin typeface="Calibri"/>
                <a:cs typeface="Calibri"/>
              </a:rPr>
              <a:t>(p)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OR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4897" y="2321242"/>
            <a:ext cx="2838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" dirty="0">
                <a:solidFill>
                  <a:srgbClr val="E38312"/>
                </a:solidFill>
                <a:latin typeface="Calibri"/>
                <a:cs typeface="Calibri"/>
              </a:rPr>
              <a:t>(ii)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5912" y="2155065"/>
            <a:ext cx="7943215" cy="1470274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85"/>
              </a:spcBef>
              <a:tabLst>
                <a:tab pos="2969895" algn="l"/>
                <a:tab pos="3329940" algn="l"/>
              </a:tabLst>
            </a:pPr>
            <a:r>
              <a:rPr lang="en-US" sz="1800" dirty="0">
                <a:latin typeface="Calibri"/>
                <a:cs typeface="Calibri"/>
              </a:rPr>
              <a:t>q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</a:t>
            </a:r>
            <a:r>
              <a:rPr lang="en-US" sz="1800" baseline="-20000" dirty="0">
                <a:latin typeface="Calibri"/>
                <a:cs typeface="Calibri"/>
              </a:rPr>
              <a:t>D</a:t>
            </a:r>
            <a:r>
              <a:rPr lang="en-US" sz="1800" dirty="0">
                <a:latin typeface="Calibri"/>
                <a:cs typeface="Calibri"/>
              </a:rPr>
              <a:t>(p)</a:t>
            </a:r>
            <a:r>
              <a:rPr lang="en-US" sz="1800" spc="37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&amp;</a:t>
            </a:r>
            <a:r>
              <a:rPr lang="en-US" sz="1800" spc="39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set 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lang="en-US" sz="1800" u="sng" spc="-30" baseline="-20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(p) 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∩ N</a:t>
            </a:r>
            <a:r>
              <a:rPr lang="en-US" sz="1800" u="sng" baseline="-20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(q)</a:t>
            </a:r>
            <a:r>
              <a:rPr lang="en-US" sz="1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have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no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pixels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whose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values</a:t>
            </a:r>
            <a:r>
              <a:rPr lang="en-US" sz="1800" spc="-6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are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from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20" dirty="0">
                <a:latin typeface="Calibri"/>
                <a:cs typeface="Calibri"/>
              </a:rPr>
              <a:t>‘V’</a:t>
            </a:r>
            <a:br>
              <a:rPr lang="en-US" sz="1800" spc="-20" dirty="0">
                <a:latin typeface="Calibri"/>
                <a:cs typeface="Calibri"/>
              </a:rPr>
            </a:br>
            <a:br>
              <a:rPr lang="en-US" sz="1800" spc="-20" dirty="0">
                <a:latin typeface="Calibri"/>
                <a:cs typeface="Calibri"/>
              </a:rPr>
            </a:br>
            <a:r>
              <a:rPr sz="1900" dirty="0">
                <a:latin typeface="Calibri"/>
                <a:cs typeface="Calibri"/>
              </a:rPr>
              <a:t>e.g.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{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 </a:t>
            </a:r>
            <a:r>
              <a:rPr sz="1900" spc="-50" dirty="0">
                <a:latin typeface="Calibri"/>
                <a:cs typeface="Calibri"/>
              </a:rPr>
              <a:t>}</a:t>
            </a:r>
            <a:endParaRPr sz="1900" dirty="0">
              <a:latin typeface="Calibri"/>
              <a:cs typeface="Calibri"/>
            </a:endParaRPr>
          </a:p>
          <a:p>
            <a:pPr marL="1018540">
              <a:lnSpc>
                <a:spcPct val="100000"/>
              </a:lnSpc>
              <a:spcBef>
                <a:spcPts val="935"/>
              </a:spcBef>
            </a:pPr>
            <a:r>
              <a:rPr sz="1900" dirty="0">
                <a:latin typeface="Calibri"/>
                <a:cs typeface="Calibri"/>
              </a:rPr>
              <a:t>(ii)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&amp; </a:t>
            </a:r>
            <a:r>
              <a:rPr sz="1900" spc="-50" dirty="0">
                <a:latin typeface="Calibri"/>
                <a:cs typeface="Calibri"/>
              </a:rPr>
              <a:t>e</a:t>
            </a:r>
            <a:endParaRPr sz="1900" dirty="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263562"/>
              </p:ext>
            </p:extLst>
          </p:nvPr>
        </p:nvGraphicFramePr>
        <p:xfrm>
          <a:off x="1157287" y="3654425"/>
          <a:ext cx="4339590" cy="1875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1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marR="204470" algn="r">
                        <a:lnSpc>
                          <a:spcPts val="285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a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ts val="2850"/>
                        </a:lnSpc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30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b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85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c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R="200660" algn="r">
                        <a:lnSpc>
                          <a:spcPts val="349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ts val="3490"/>
                        </a:lnSpc>
                      </a:pPr>
                      <a:r>
                        <a:rPr sz="30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30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349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f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315">
                <a:tc>
                  <a:txBody>
                    <a:bodyPr/>
                    <a:lstStyle/>
                    <a:p>
                      <a:pPr marL="31750" marR="213995" indent="2313940">
                        <a:lnSpc>
                          <a:spcPts val="3479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g</a:t>
                      </a:r>
                      <a:endParaRPr sz="19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ts val="349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3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h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3490"/>
                        </a:lnSpc>
                      </a:pPr>
                      <a:r>
                        <a:rPr sz="30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3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I</a:t>
                      </a:r>
                      <a:endParaRPr sz="19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173CB34-0E87-4B4A-813F-3B953053B875}"/>
              </a:ext>
            </a:extLst>
          </p:cNvPr>
          <p:cNvSpPr txBox="1"/>
          <p:nvPr/>
        </p:nvSpPr>
        <p:spPr>
          <a:xfrm>
            <a:off x="1595912" y="5410200"/>
            <a:ext cx="457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Soln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b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&amp;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are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m-adjacent.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5799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m-</a:t>
            </a:r>
            <a:r>
              <a:rPr spc="-45" dirty="0"/>
              <a:t>adjacency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2197" y="1790700"/>
            <a:ext cx="23126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40385" algn="l"/>
                <a:tab pos="1995805" algn="l"/>
              </a:tabLst>
            </a:pPr>
            <a:r>
              <a:rPr sz="1900" spc="-25" dirty="0">
                <a:solidFill>
                  <a:srgbClr val="E38312"/>
                </a:solidFill>
                <a:latin typeface="Calibri"/>
                <a:cs typeface="Calibri"/>
              </a:rPr>
              <a:t>(i)</a:t>
            </a:r>
            <a:r>
              <a:rPr sz="1900" dirty="0">
                <a:solidFill>
                  <a:srgbClr val="E38312"/>
                </a:solidFill>
                <a:latin typeface="Calibri"/>
                <a:cs typeface="Calibri"/>
              </a:rPr>
              <a:t>	</a:t>
            </a:r>
            <a:r>
              <a:rPr sz="1900" dirty="0">
                <a:latin typeface="Calibri"/>
                <a:cs typeface="Calibri"/>
              </a:rPr>
              <a:t>q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N</a:t>
            </a:r>
            <a:r>
              <a:rPr sz="1875" spc="-30" baseline="-20000" dirty="0">
                <a:latin typeface="Calibri"/>
                <a:cs typeface="Calibri"/>
              </a:rPr>
              <a:t>4</a:t>
            </a:r>
            <a:r>
              <a:rPr sz="1900" spc="-20" dirty="0">
                <a:latin typeface="Calibri"/>
                <a:cs typeface="Calibri"/>
              </a:rPr>
              <a:t>(p)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OR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4897" y="2257742"/>
            <a:ext cx="2838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" dirty="0">
                <a:solidFill>
                  <a:srgbClr val="E38312"/>
                </a:solidFill>
                <a:latin typeface="Calibri"/>
                <a:cs typeface="Calibri"/>
              </a:rPr>
              <a:t>(ii)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5912" y="2270627"/>
            <a:ext cx="794321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969895" algn="l"/>
                <a:tab pos="3329940" algn="l"/>
              </a:tabLst>
            </a:pPr>
            <a:r>
              <a:rPr lang="en-US" sz="1800" dirty="0">
                <a:latin typeface="Calibri"/>
                <a:cs typeface="Calibri"/>
              </a:rPr>
              <a:t>q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</a:t>
            </a:r>
            <a:r>
              <a:rPr lang="en-US" sz="1800" baseline="-20000" dirty="0">
                <a:latin typeface="Calibri"/>
                <a:cs typeface="Calibri"/>
              </a:rPr>
              <a:t>D</a:t>
            </a:r>
            <a:r>
              <a:rPr lang="en-US" sz="1800" dirty="0">
                <a:latin typeface="Calibri"/>
                <a:cs typeface="Calibri"/>
              </a:rPr>
              <a:t>(p)</a:t>
            </a:r>
            <a:r>
              <a:rPr lang="en-US" sz="1800" spc="37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&amp;</a:t>
            </a:r>
            <a:r>
              <a:rPr lang="en-US" sz="1800" spc="39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set 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lang="en-US" sz="1800" u="sng" spc="-30" baseline="-20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(p) 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∩ N</a:t>
            </a:r>
            <a:r>
              <a:rPr lang="en-US" sz="1800" u="sng" baseline="-20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(q)</a:t>
            </a:r>
            <a:r>
              <a:rPr lang="en-US" sz="1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have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no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pixels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whose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values</a:t>
            </a:r>
            <a:r>
              <a:rPr lang="en-US" sz="1800" spc="-6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are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from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20" dirty="0">
                <a:latin typeface="Calibri"/>
                <a:cs typeface="Calibri"/>
              </a:rPr>
              <a:t>‘V’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337" y="2580894"/>
            <a:ext cx="4302125" cy="2749471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900" dirty="0">
                <a:latin typeface="Calibri"/>
                <a:cs typeface="Calibri"/>
              </a:rPr>
              <a:t>e.g.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{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 </a:t>
            </a:r>
            <a:r>
              <a:rPr sz="1900" spc="-50" dirty="0">
                <a:latin typeface="Calibri"/>
                <a:cs typeface="Calibri"/>
              </a:rPr>
              <a:t>}</a:t>
            </a:r>
            <a:endParaRPr sz="1900" dirty="0">
              <a:latin typeface="Calibri"/>
              <a:cs typeface="Calibri"/>
            </a:endParaRPr>
          </a:p>
          <a:p>
            <a:pPr marL="1417320">
              <a:lnSpc>
                <a:spcPct val="100000"/>
              </a:lnSpc>
              <a:spcBef>
                <a:spcPts val="700"/>
              </a:spcBef>
            </a:pPr>
            <a:r>
              <a:rPr sz="1900" dirty="0">
                <a:latin typeface="Calibri"/>
                <a:cs typeface="Calibri"/>
              </a:rPr>
              <a:t>(iii)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&amp;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i</a:t>
            </a:r>
            <a:endParaRPr sz="1900" dirty="0">
              <a:latin typeface="Calibri"/>
              <a:cs typeface="Calibri"/>
            </a:endParaRPr>
          </a:p>
          <a:p>
            <a:pPr marL="2334260">
              <a:lnSpc>
                <a:spcPct val="100000"/>
              </a:lnSpc>
              <a:spcBef>
                <a:spcPts val="320"/>
              </a:spcBef>
              <a:tabLst>
                <a:tab pos="3157220" algn="l"/>
                <a:tab pos="3906520" algn="l"/>
              </a:tabLst>
            </a:pP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latin typeface="Calibri"/>
                <a:cs typeface="Calibri"/>
              </a:rPr>
              <a:t>1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b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latin typeface="Calibri"/>
                <a:cs typeface="Calibri"/>
              </a:rPr>
              <a:t>1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c</a:t>
            </a:r>
            <a:endParaRPr sz="1900" dirty="0">
              <a:latin typeface="Calibri"/>
              <a:cs typeface="Calibri"/>
            </a:endParaRPr>
          </a:p>
          <a:p>
            <a:pPr marL="2326640">
              <a:lnSpc>
                <a:spcPct val="100000"/>
              </a:lnSpc>
              <a:spcBef>
                <a:spcPts val="320"/>
              </a:spcBef>
              <a:tabLst>
                <a:tab pos="3162935" algn="l"/>
                <a:tab pos="3906520" algn="l"/>
              </a:tabLst>
            </a:pP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3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solidFill>
                  <a:srgbClr val="00AF50"/>
                </a:solidFill>
                <a:latin typeface="Calibri"/>
                <a:cs typeface="Calibri"/>
              </a:rPr>
              <a:t>0</a:t>
            </a:r>
            <a:r>
              <a:rPr sz="30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f</a:t>
            </a:r>
            <a:endParaRPr sz="1900" dirty="0">
              <a:latin typeface="Calibri"/>
              <a:cs typeface="Calibri"/>
            </a:endParaRPr>
          </a:p>
          <a:p>
            <a:pPr marL="2326640">
              <a:lnSpc>
                <a:spcPct val="100000"/>
              </a:lnSpc>
              <a:spcBef>
                <a:spcPts val="325"/>
              </a:spcBef>
              <a:tabLst>
                <a:tab pos="3150235" algn="l"/>
                <a:tab pos="3898900" algn="l"/>
              </a:tabLst>
            </a:pP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g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solidFill>
                  <a:srgbClr val="00AF50"/>
                </a:solidFill>
                <a:latin typeface="Calibri"/>
                <a:cs typeface="Calibri"/>
              </a:rPr>
              <a:t>0</a:t>
            </a:r>
            <a:r>
              <a:rPr sz="3000" spc="-2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3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I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9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6687D-59C4-4C95-972E-90E987EA55D3}"/>
              </a:ext>
            </a:extLst>
          </p:cNvPr>
          <p:cNvSpPr txBox="1"/>
          <p:nvPr/>
        </p:nvSpPr>
        <p:spPr>
          <a:xfrm>
            <a:off x="1595912" y="5410200"/>
            <a:ext cx="457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Soln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&amp;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are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m-adjacent.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5799" rIns="0" bIns="0" rtlCol="0">
            <a:spAutoFit/>
          </a:bodyPr>
          <a:lstStyle/>
          <a:p>
            <a:pPr marL="65405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m-</a:t>
            </a:r>
            <a:r>
              <a:rPr spc="-45" dirty="0"/>
              <a:t>adjacency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2197" y="1790700"/>
            <a:ext cx="23126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540385" algn="l"/>
                <a:tab pos="1995805" algn="l"/>
              </a:tabLst>
            </a:pPr>
            <a:r>
              <a:rPr sz="1900" spc="-25" dirty="0">
                <a:solidFill>
                  <a:srgbClr val="E38312"/>
                </a:solidFill>
                <a:latin typeface="Calibri"/>
                <a:cs typeface="Calibri"/>
              </a:rPr>
              <a:t>(i)</a:t>
            </a:r>
            <a:r>
              <a:rPr sz="1900" dirty="0">
                <a:solidFill>
                  <a:srgbClr val="E38312"/>
                </a:solidFill>
                <a:latin typeface="Calibri"/>
                <a:cs typeface="Calibri"/>
              </a:rPr>
              <a:t>	</a:t>
            </a:r>
            <a:r>
              <a:rPr sz="1900" dirty="0">
                <a:latin typeface="Calibri"/>
                <a:cs typeface="Calibri"/>
              </a:rPr>
              <a:t>q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N</a:t>
            </a:r>
            <a:r>
              <a:rPr sz="1875" spc="-30" baseline="-20000" dirty="0">
                <a:latin typeface="Calibri"/>
                <a:cs typeface="Calibri"/>
              </a:rPr>
              <a:t>4</a:t>
            </a:r>
            <a:r>
              <a:rPr sz="1900" spc="-20" dirty="0">
                <a:latin typeface="Calibri"/>
                <a:cs typeface="Calibri"/>
              </a:rPr>
              <a:t>(p)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OR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4897" y="2257742"/>
            <a:ext cx="2838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20" dirty="0">
                <a:solidFill>
                  <a:srgbClr val="E38312"/>
                </a:solidFill>
                <a:latin typeface="Calibri"/>
                <a:cs typeface="Calibri"/>
              </a:rPr>
              <a:t>(ii)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5912" y="2280064"/>
            <a:ext cx="794321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969895" algn="l"/>
                <a:tab pos="3329940" algn="l"/>
              </a:tabLst>
            </a:pPr>
            <a:r>
              <a:rPr lang="en-US" sz="1800" dirty="0">
                <a:latin typeface="Calibri"/>
                <a:cs typeface="Calibri"/>
              </a:rPr>
              <a:t>q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</a:t>
            </a:r>
            <a:r>
              <a:rPr lang="en-US" sz="1800" baseline="-20000" dirty="0">
                <a:latin typeface="Calibri"/>
                <a:cs typeface="Calibri"/>
              </a:rPr>
              <a:t>D</a:t>
            </a:r>
            <a:r>
              <a:rPr lang="en-US" sz="1800" dirty="0">
                <a:latin typeface="Calibri"/>
                <a:cs typeface="Calibri"/>
              </a:rPr>
              <a:t>(p)</a:t>
            </a:r>
            <a:r>
              <a:rPr lang="en-US" sz="1800" spc="37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&amp;</a:t>
            </a:r>
            <a:r>
              <a:rPr lang="en-US" sz="1800" spc="39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set 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lang="en-US" sz="1800" u="sng" spc="-30" baseline="-20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(p) 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∩ N</a:t>
            </a:r>
            <a:r>
              <a:rPr lang="en-US" sz="1800" u="sng" baseline="-20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(q)</a:t>
            </a:r>
            <a:r>
              <a:rPr lang="en-US" sz="1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have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no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pixels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whose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values</a:t>
            </a:r>
            <a:r>
              <a:rPr lang="en-US" sz="1800" spc="-6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are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from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20" dirty="0">
                <a:latin typeface="Calibri"/>
                <a:cs typeface="Calibri"/>
              </a:rPr>
              <a:t>‘V’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337" y="2580894"/>
            <a:ext cx="4302125" cy="2749471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900" dirty="0">
                <a:latin typeface="Calibri"/>
                <a:cs typeface="Calibri"/>
              </a:rPr>
              <a:t>e.g.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=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{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1 </a:t>
            </a:r>
            <a:r>
              <a:rPr sz="1900" spc="-50" dirty="0">
                <a:latin typeface="Calibri"/>
                <a:cs typeface="Calibri"/>
              </a:rPr>
              <a:t>}</a:t>
            </a:r>
            <a:endParaRPr sz="1900" dirty="0">
              <a:latin typeface="Calibri"/>
              <a:cs typeface="Calibri"/>
            </a:endParaRPr>
          </a:p>
          <a:p>
            <a:pPr marL="1417320">
              <a:lnSpc>
                <a:spcPct val="100000"/>
              </a:lnSpc>
              <a:spcBef>
                <a:spcPts val="700"/>
              </a:spcBef>
            </a:pPr>
            <a:r>
              <a:rPr sz="1900" dirty="0">
                <a:latin typeface="Calibri"/>
                <a:cs typeface="Calibri"/>
              </a:rPr>
              <a:t>(iv)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&amp;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c</a:t>
            </a:r>
            <a:endParaRPr sz="1900" dirty="0">
              <a:latin typeface="Calibri"/>
              <a:cs typeface="Calibri"/>
            </a:endParaRPr>
          </a:p>
          <a:p>
            <a:pPr marL="2334260">
              <a:lnSpc>
                <a:spcPct val="100000"/>
              </a:lnSpc>
              <a:spcBef>
                <a:spcPts val="320"/>
              </a:spcBef>
              <a:tabLst>
                <a:tab pos="3157220" algn="l"/>
                <a:tab pos="3906520" algn="l"/>
              </a:tabLst>
            </a:pP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latin typeface="Calibri"/>
                <a:cs typeface="Calibri"/>
              </a:rPr>
              <a:t>1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b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30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c</a:t>
            </a:r>
            <a:endParaRPr sz="1900" dirty="0">
              <a:latin typeface="Calibri"/>
              <a:cs typeface="Calibri"/>
            </a:endParaRPr>
          </a:p>
          <a:p>
            <a:pPr marL="2326640">
              <a:lnSpc>
                <a:spcPct val="100000"/>
              </a:lnSpc>
              <a:spcBef>
                <a:spcPts val="320"/>
              </a:spcBef>
              <a:tabLst>
                <a:tab pos="3162935" algn="l"/>
                <a:tab pos="3906520" algn="l"/>
              </a:tabLst>
            </a:pP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d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3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e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f</a:t>
            </a:r>
            <a:endParaRPr sz="1900" dirty="0">
              <a:latin typeface="Calibri"/>
              <a:cs typeface="Calibri"/>
            </a:endParaRPr>
          </a:p>
          <a:p>
            <a:pPr marL="2326640">
              <a:lnSpc>
                <a:spcPct val="100000"/>
              </a:lnSpc>
              <a:spcBef>
                <a:spcPts val="325"/>
              </a:spcBef>
              <a:tabLst>
                <a:tab pos="3150235" algn="l"/>
                <a:tab pos="3898900" algn="l"/>
              </a:tabLst>
            </a:pP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g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latin typeface="Calibri"/>
                <a:cs typeface="Calibri"/>
              </a:rPr>
              <a:t>0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h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3000" dirty="0">
                <a:latin typeface="Calibri"/>
                <a:cs typeface="Calibri"/>
              </a:rPr>
              <a:t>1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I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19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9315C-FBE9-4438-83DF-1653A49AF7BF}"/>
              </a:ext>
            </a:extLst>
          </p:cNvPr>
          <p:cNvSpPr txBox="1"/>
          <p:nvPr/>
        </p:nvSpPr>
        <p:spPr>
          <a:xfrm>
            <a:off x="1595912" y="5410200"/>
            <a:ext cx="457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 err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Soln</a:t>
            </a:r>
            <a:r>
              <a:rPr lang="en-US"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:</a:t>
            </a:r>
            <a:r>
              <a:rPr lang="en-US"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&amp;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are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b="1" spc="-20" dirty="0">
                <a:latin typeface="Calibri"/>
                <a:cs typeface="Calibri"/>
              </a:rPr>
              <a:t>NOT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m-adjacent.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7994" y="2786062"/>
            <a:ext cx="22390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libri"/>
                <a:cs typeface="Calibri"/>
              </a:rPr>
              <a:t>THANK</a:t>
            </a:r>
            <a:r>
              <a:rPr sz="36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1224</Words>
  <Application>Microsoft Office PowerPoint</Application>
  <PresentationFormat>Widescreen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Basic relationship between pixels</vt:lpstr>
      <vt:lpstr>Basic relationship between pixels</vt:lpstr>
      <vt:lpstr>ADJACENCY, CONNECTIVITY</vt:lpstr>
      <vt:lpstr>ADJACENCY, CONNECTIVITY</vt:lpstr>
      <vt:lpstr>Applications of ADJACENCY  </vt:lpstr>
      <vt:lpstr>4-adjacency</vt:lpstr>
      <vt:lpstr>8-adjacency</vt:lpstr>
      <vt:lpstr>Mixed (m)-adjacency</vt:lpstr>
      <vt:lpstr>m-adjacency</vt:lpstr>
      <vt:lpstr>m-adjacency</vt:lpstr>
      <vt:lpstr>m-adjacency</vt:lpstr>
      <vt:lpstr>m-adjacency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Image Processing</dc:title>
  <dc:creator>ASUS</dc:creator>
  <cp:lastModifiedBy> </cp:lastModifiedBy>
  <cp:revision>18</cp:revision>
  <dcterms:created xsi:type="dcterms:W3CDTF">2025-02-27T03:59:31Z</dcterms:created>
  <dcterms:modified xsi:type="dcterms:W3CDTF">2026-07-14T04:53:51Z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2025-02-27T00:00:00Z</vt:filetime>
  </property>
  <property fmtid="{D5CDD505-2E9C-101B-9397-08002B2CF9AE}" pid="5" name="Producer">
    <vt:lpwstr>Microsoft® PowerPoint® 2019</vt:lpwstr>
  </property>
</Properties>
</file>