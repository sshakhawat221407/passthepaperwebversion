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47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69179"/>
            <a:ext cx="9144000" cy="274320"/>
          </a:xfrm>
          <a:custGeom>
            <a:avLst/>
            <a:gdLst/>
            <a:ahLst/>
            <a:cxnLst/>
            <a:rect l="l" t="t" r="r" b="b"/>
            <a:pathLst>
              <a:path w="9144000" h="274320">
                <a:moveTo>
                  <a:pt x="9144000" y="0"/>
                </a:moveTo>
                <a:lnTo>
                  <a:pt x="0" y="0"/>
                </a:lnTo>
                <a:lnTo>
                  <a:pt x="0" y="274319"/>
                </a:lnTo>
                <a:lnTo>
                  <a:pt x="9144000" y="274319"/>
                </a:lnTo>
                <a:lnTo>
                  <a:pt x="9144000" y="0"/>
                </a:lnTo>
                <a:close/>
              </a:path>
            </a:pathLst>
          </a:custGeom>
          <a:solidFill>
            <a:srgbClr val="F68A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815840"/>
            <a:ext cx="9144000" cy="50800"/>
          </a:xfrm>
          <a:custGeom>
            <a:avLst/>
            <a:gdLst/>
            <a:ahLst/>
            <a:cxnLst/>
            <a:rect l="l" t="t" r="r" b="b"/>
            <a:pathLst>
              <a:path w="9144000" h="50800">
                <a:moveTo>
                  <a:pt x="9144000" y="0"/>
                </a:moveTo>
                <a:lnTo>
                  <a:pt x="0" y="0"/>
                </a:lnTo>
                <a:lnTo>
                  <a:pt x="0" y="50292"/>
                </a:lnTo>
                <a:lnTo>
                  <a:pt x="9144000" y="50292"/>
                </a:lnTo>
                <a:lnTo>
                  <a:pt x="9144000" y="0"/>
                </a:lnTo>
                <a:close/>
              </a:path>
            </a:pathLst>
          </a:custGeom>
          <a:solidFill>
            <a:srgbClr val="FF9900">
              <a:alpha val="7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085" y="-25146"/>
            <a:ext cx="5037505" cy="922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8839" y="1246123"/>
            <a:ext cx="5870575" cy="1397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https://www.nist.gov/mathematics-statistics/first-digital-image#%3A~%3Atext%3DDate%3A%201957%2Cscanner%2C%20first%20invented%20by%20NIST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eldung.com/cs/image-histograms" TargetMode="External"/><Relationship Id="rId2" Type="http://schemas.openxmlformats.org/officeDocument/2006/relationships/hyperlink" Target="https://en.wikipedia.org/wiki/Senso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pinger.com/blog/how-to-resize-an-image-in-python" TargetMode="External"/><Relationship Id="rId2" Type="http://schemas.openxmlformats.org/officeDocument/2006/relationships/hyperlink" Target="https://www.askpython.com/python/examples/display-images-using-pyth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50308"/>
            <a:ext cx="9144000" cy="393700"/>
          </a:xfrm>
          <a:custGeom>
            <a:avLst/>
            <a:gdLst/>
            <a:ahLst/>
            <a:cxnLst/>
            <a:rect l="l" t="t" r="r" b="b"/>
            <a:pathLst>
              <a:path w="9144000" h="393700">
                <a:moveTo>
                  <a:pt x="9142095" y="0"/>
                </a:moveTo>
                <a:lnTo>
                  <a:pt x="0" y="0"/>
                </a:lnTo>
                <a:lnTo>
                  <a:pt x="0" y="47713"/>
                </a:lnTo>
                <a:lnTo>
                  <a:pt x="9142095" y="47713"/>
                </a:lnTo>
                <a:lnTo>
                  <a:pt x="9142095" y="0"/>
                </a:lnTo>
                <a:close/>
              </a:path>
              <a:path w="9144000" h="393700">
                <a:moveTo>
                  <a:pt x="9144000" y="49631"/>
                </a:moveTo>
                <a:lnTo>
                  <a:pt x="1905" y="49631"/>
                </a:lnTo>
                <a:lnTo>
                  <a:pt x="1905" y="393192"/>
                </a:lnTo>
                <a:lnTo>
                  <a:pt x="9144000" y="393192"/>
                </a:lnTo>
                <a:lnTo>
                  <a:pt x="9144000" y="49631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0973" y="2952750"/>
            <a:ext cx="7406640" cy="0"/>
          </a:xfrm>
          <a:custGeom>
            <a:avLst/>
            <a:gdLst/>
            <a:ahLst/>
            <a:cxnLst/>
            <a:rect l="l" t="t" r="r" b="b"/>
            <a:pathLst>
              <a:path w="7406640">
                <a:moveTo>
                  <a:pt x="0" y="0"/>
                </a:moveTo>
                <a:lnTo>
                  <a:pt x="7406640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80973" y="2259838"/>
            <a:ext cx="732345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450" b="0" spc="-50" dirty="0">
                <a:solidFill>
                  <a:srgbClr val="242424"/>
                </a:solidFill>
                <a:latin typeface="Calibri Light"/>
                <a:cs typeface="Calibri Light"/>
              </a:rPr>
              <a:t>Intro</a:t>
            </a:r>
            <a:r>
              <a:rPr sz="3450" b="0" spc="-14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dirty="0">
                <a:solidFill>
                  <a:srgbClr val="242424"/>
                </a:solidFill>
                <a:latin typeface="Calibri Light"/>
                <a:cs typeface="Calibri Light"/>
              </a:rPr>
              <a:t>to</a:t>
            </a:r>
            <a:r>
              <a:rPr sz="3450" b="0" spc="-16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spc="-40" dirty="0">
                <a:solidFill>
                  <a:srgbClr val="242424"/>
                </a:solidFill>
                <a:latin typeface="Calibri Light"/>
                <a:cs typeface="Calibri Light"/>
              </a:rPr>
              <a:t>Digital</a:t>
            </a:r>
            <a:r>
              <a:rPr sz="3450" b="0" spc="-15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spc="-40" dirty="0">
                <a:solidFill>
                  <a:srgbClr val="242424"/>
                </a:solidFill>
                <a:latin typeface="Calibri Light"/>
                <a:cs typeface="Calibri Light"/>
              </a:rPr>
              <a:t>Images</a:t>
            </a:r>
            <a:r>
              <a:rPr sz="3450" b="0" spc="-14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spc="-10" dirty="0">
                <a:solidFill>
                  <a:srgbClr val="242424"/>
                </a:solidFill>
                <a:latin typeface="Calibri Light"/>
                <a:cs typeface="Calibri Light"/>
              </a:rPr>
              <a:t>and</a:t>
            </a:r>
            <a:r>
              <a:rPr sz="3450" b="0" spc="-16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spc="-25" dirty="0">
                <a:solidFill>
                  <a:srgbClr val="242424"/>
                </a:solidFill>
                <a:latin typeface="Calibri Light"/>
                <a:cs typeface="Calibri Light"/>
              </a:rPr>
              <a:t>their</a:t>
            </a:r>
            <a:r>
              <a:rPr sz="3450" b="0" spc="-150" dirty="0">
                <a:solidFill>
                  <a:srgbClr val="242424"/>
                </a:solidFill>
                <a:latin typeface="Calibri Light"/>
                <a:cs typeface="Calibri Light"/>
              </a:rPr>
              <a:t> </a:t>
            </a:r>
            <a:r>
              <a:rPr sz="3450" b="0" spc="-20" dirty="0">
                <a:solidFill>
                  <a:srgbClr val="242424"/>
                </a:solidFill>
                <a:latin typeface="Calibri Light"/>
                <a:cs typeface="Calibri Light"/>
              </a:rPr>
              <a:t>Processing</a:t>
            </a:r>
            <a:endParaRPr sz="345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973" y="3229762"/>
            <a:ext cx="2963545" cy="11340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8500"/>
              </a:lnSpc>
              <a:spcBef>
                <a:spcPts val="95"/>
              </a:spcBef>
            </a:pPr>
            <a:r>
              <a:rPr sz="1650" dirty="0">
                <a:solidFill>
                  <a:srgbClr val="3D3D3D"/>
                </a:solidFill>
                <a:latin typeface="Calibri"/>
                <a:cs typeface="Calibri"/>
              </a:rPr>
              <a:t>CSE</a:t>
            </a:r>
            <a:r>
              <a:rPr sz="165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D3D3D"/>
                </a:solidFill>
                <a:latin typeface="Calibri"/>
                <a:cs typeface="Calibri"/>
              </a:rPr>
              <a:t>4883:</a:t>
            </a:r>
            <a:r>
              <a:rPr sz="1650" spc="-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D3D3D"/>
                </a:solidFill>
                <a:latin typeface="Calibri"/>
                <a:cs typeface="Calibri"/>
              </a:rPr>
              <a:t>Digital</a:t>
            </a:r>
            <a:r>
              <a:rPr sz="1650" spc="-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50" dirty="0">
                <a:solidFill>
                  <a:srgbClr val="3D3D3D"/>
                </a:solidFill>
                <a:latin typeface="Calibri"/>
                <a:cs typeface="Calibri"/>
              </a:rPr>
              <a:t>Image</a:t>
            </a:r>
            <a:r>
              <a:rPr sz="165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3D3D3D"/>
                </a:solidFill>
                <a:latin typeface="Calibri"/>
                <a:cs typeface="Calibri"/>
              </a:rPr>
              <a:t>Processing </a:t>
            </a:r>
            <a:endParaRPr lang="en-US" sz="1650" spc="-10" dirty="0">
              <a:solidFill>
                <a:srgbClr val="3D3D3D"/>
              </a:solidFill>
              <a:latin typeface="Calibri"/>
              <a:cs typeface="Calibri"/>
            </a:endParaRPr>
          </a:p>
          <a:p>
            <a:pPr marL="12700" marR="5080">
              <a:lnSpc>
                <a:spcPct val="148500"/>
              </a:lnSpc>
              <a:spcBef>
                <a:spcPts val="95"/>
              </a:spcBef>
            </a:pPr>
            <a:r>
              <a:rPr lang="en-US" sz="1650" spc="-10" dirty="0">
                <a:solidFill>
                  <a:srgbClr val="3D3D3D"/>
                </a:solidFill>
                <a:latin typeface="Calibri"/>
                <a:cs typeface="Calibri"/>
              </a:rPr>
              <a:t>Md. Tanvir Raihan</a:t>
            </a:r>
          </a:p>
          <a:p>
            <a:pPr marL="12700" marR="5080">
              <a:lnSpc>
                <a:spcPct val="148500"/>
              </a:lnSpc>
              <a:spcBef>
                <a:spcPts val="95"/>
              </a:spcBef>
            </a:pPr>
            <a:r>
              <a:rPr lang="en-US" sz="1650" spc="-10" dirty="0">
                <a:solidFill>
                  <a:srgbClr val="3D3D3D"/>
                </a:solidFill>
                <a:latin typeface="Calibri"/>
                <a:cs typeface="Calibri"/>
              </a:rPr>
              <a:t>Slide </a:t>
            </a:r>
            <a:r>
              <a:rPr lang="en-US" sz="1650" spc="-10" dirty="0" err="1">
                <a:solidFill>
                  <a:srgbClr val="3D3D3D"/>
                </a:solidFill>
                <a:latin typeface="Calibri"/>
                <a:cs typeface="Calibri"/>
              </a:rPr>
              <a:t>Credit:Raiyan</a:t>
            </a:r>
            <a:r>
              <a:rPr lang="en-US" sz="1650" spc="-10" dirty="0">
                <a:solidFill>
                  <a:srgbClr val="3D3D3D"/>
                </a:solidFill>
                <a:latin typeface="Calibri"/>
                <a:cs typeface="Calibri"/>
              </a:rPr>
              <a:t> Rahman Sir</a:t>
            </a:r>
            <a:endParaRPr sz="165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660019"/>
            <a:ext cx="38684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4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r>
              <a:rPr sz="3600" b="0" spc="-1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FF0000"/>
                </a:solidFill>
                <a:latin typeface="Calibri Light"/>
                <a:cs typeface="Calibri Light"/>
              </a:rPr>
              <a:t>–</a:t>
            </a:r>
            <a:r>
              <a:rPr sz="3600" b="0" spc="-12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3600" b="0" spc="-45" dirty="0">
                <a:solidFill>
                  <a:srgbClr val="404040"/>
                </a:solidFill>
                <a:latin typeface="Calibri Light"/>
                <a:cs typeface="Calibri Light"/>
              </a:rPr>
              <a:t>Digital</a:t>
            </a:r>
            <a:r>
              <a:rPr sz="36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1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360423"/>
            <a:ext cx="7512050" cy="141097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algn="just">
              <a:lnSpc>
                <a:spcPct val="89000"/>
              </a:lnSpc>
              <a:spcBef>
                <a:spcPts val="295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5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5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two-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dimensional</a:t>
            </a:r>
            <a:r>
              <a:rPr sz="15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function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f(x,y)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5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15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y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5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spatial</a:t>
            </a:r>
            <a:r>
              <a:rPr sz="15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(plane)</a:t>
            </a:r>
            <a:r>
              <a:rPr sz="15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coordinates,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amplitude</a:t>
            </a:r>
            <a:r>
              <a:rPr sz="15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500" spc="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pair</a:t>
            </a:r>
            <a:r>
              <a:rPr sz="15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coordinates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(x,y)</a:t>
            </a:r>
            <a:r>
              <a:rPr sz="15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15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intensity</a:t>
            </a:r>
            <a:r>
              <a:rPr sz="15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5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15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that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level.</a:t>
            </a:r>
            <a:endParaRPr sz="1500">
              <a:latin typeface="Calibri"/>
              <a:cs typeface="Calibri"/>
            </a:endParaRPr>
          </a:p>
          <a:p>
            <a:pPr marL="12700" marR="5715" algn="just">
              <a:lnSpc>
                <a:spcPct val="89100"/>
              </a:lnSpc>
              <a:spcBef>
                <a:spcPts val="1100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15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x,y</a:t>
            </a:r>
            <a:r>
              <a:rPr sz="15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amplitude</a:t>
            </a:r>
            <a:r>
              <a:rPr sz="1500" spc="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values</a:t>
            </a:r>
            <a:r>
              <a:rPr sz="15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f</a:t>
            </a:r>
            <a:r>
              <a:rPr sz="1500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5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finite</a:t>
            </a:r>
            <a:r>
              <a:rPr sz="1500" spc="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discrete</a:t>
            </a:r>
            <a:r>
              <a:rPr sz="1500" spc="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quantities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5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15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call</a:t>
            </a:r>
            <a:r>
              <a:rPr sz="15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5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5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0000"/>
                </a:solidFill>
                <a:latin typeface="Calibri"/>
                <a:cs typeface="Calibri"/>
              </a:rPr>
              <a:t>digital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image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digital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composed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finite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0000"/>
                </a:solidFill>
                <a:latin typeface="Calibri"/>
                <a:cs typeface="Calibri"/>
              </a:rPr>
              <a:t>pixels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1500" spc="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150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5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particular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location</a:t>
            </a:r>
            <a:r>
              <a:rPr sz="15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value.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50308"/>
            <a:ext cx="9144000" cy="393700"/>
          </a:xfrm>
          <a:custGeom>
            <a:avLst/>
            <a:gdLst/>
            <a:ahLst/>
            <a:cxnLst/>
            <a:rect l="l" t="t" r="r" b="b"/>
            <a:pathLst>
              <a:path w="9144000" h="393700">
                <a:moveTo>
                  <a:pt x="9142095" y="0"/>
                </a:moveTo>
                <a:lnTo>
                  <a:pt x="0" y="0"/>
                </a:lnTo>
                <a:lnTo>
                  <a:pt x="0" y="47713"/>
                </a:lnTo>
                <a:lnTo>
                  <a:pt x="9142095" y="47713"/>
                </a:lnTo>
                <a:lnTo>
                  <a:pt x="9142095" y="0"/>
                </a:lnTo>
                <a:close/>
              </a:path>
              <a:path w="9144000" h="393700">
                <a:moveTo>
                  <a:pt x="9144000" y="49631"/>
                </a:moveTo>
                <a:lnTo>
                  <a:pt x="1905" y="49631"/>
                </a:lnTo>
                <a:lnTo>
                  <a:pt x="1905" y="393192"/>
                </a:lnTo>
                <a:lnTo>
                  <a:pt x="9144000" y="393192"/>
                </a:lnTo>
                <a:lnTo>
                  <a:pt x="9144000" y="49631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45529" y="2177288"/>
            <a:ext cx="1691639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925">
              <a:lnSpc>
                <a:spcPct val="100000"/>
              </a:lnSpc>
              <a:spcBef>
                <a:spcPts val="100"/>
              </a:spcBef>
            </a:pPr>
            <a:r>
              <a:rPr sz="2700" b="1" u="heavy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2"/>
              </a:rPr>
              <a:t>First</a:t>
            </a:r>
            <a:r>
              <a:rPr sz="2700" b="1" u="heavy" spc="-120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700" b="1" u="heavy" spc="-10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2"/>
              </a:rPr>
              <a:t>Digital</a:t>
            </a:r>
            <a:r>
              <a:rPr sz="2700" b="1" spc="-10" dirty="0">
                <a:solidFill>
                  <a:srgbClr val="CC9900"/>
                </a:solidFill>
                <a:latin typeface="Calibri"/>
                <a:cs typeface="Calibri"/>
              </a:rPr>
              <a:t> </a:t>
            </a:r>
            <a:r>
              <a:rPr sz="2700" b="1" u="heavy" spc="-20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2"/>
              </a:rPr>
              <a:t>Photograph</a:t>
            </a:r>
            <a:endParaRPr sz="27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5211" y="800100"/>
            <a:ext cx="3974591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1315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100"/>
              </a:spcBef>
            </a:pPr>
            <a:r>
              <a:rPr sz="3600" b="0" spc="-105" dirty="0">
                <a:solidFill>
                  <a:srgbClr val="404040"/>
                </a:solidFill>
                <a:latin typeface="Calibri Light"/>
                <a:cs typeface="Calibri Light"/>
              </a:rPr>
              <a:t>Types</a:t>
            </a:r>
            <a:r>
              <a:rPr sz="3600" b="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r>
              <a:rPr sz="3600" b="0" spc="-18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30" dirty="0">
                <a:solidFill>
                  <a:srgbClr val="404040"/>
                </a:solidFill>
                <a:latin typeface="Calibri Light"/>
                <a:cs typeface="Calibri Light"/>
              </a:rPr>
              <a:t>an</a:t>
            </a:r>
            <a:r>
              <a:rPr sz="3600" b="0" spc="-1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4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4377" y="1322323"/>
            <a:ext cx="7853045" cy="294068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45720" algn="just">
              <a:lnSpc>
                <a:spcPts val="1390"/>
              </a:lnSpc>
              <a:spcBef>
                <a:spcPts val="260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BINARY</a:t>
            </a:r>
            <a:r>
              <a:rPr sz="1250" b="1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binary</a:t>
            </a:r>
            <a:r>
              <a:rPr sz="125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125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name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suggests,</a:t>
            </a:r>
            <a:r>
              <a:rPr sz="125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contain</a:t>
            </a:r>
            <a:r>
              <a:rPr sz="125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two</a:t>
            </a:r>
            <a:r>
              <a:rPr sz="125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pixel</a:t>
            </a:r>
            <a:r>
              <a:rPr sz="125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elements</a:t>
            </a:r>
            <a:r>
              <a:rPr sz="125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i.e</a:t>
            </a:r>
            <a:r>
              <a:rPr sz="125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125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1,where</a:t>
            </a:r>
            <a:r>
              <a:rPr sz="125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0</a:t>
            </a:r>
            <a:r>
              <a:rPr sz="125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refers</a:t>
            </a:r>
            <a:r>
              <a:rPr sz="125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black and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refers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12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white. This</a:t>
            </a:r>
            <a:r>
              <a:rPr sz="125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Monochrome.</a:t>
            </a:r>
            <a:endParaRPr sz="125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705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BLACK</a:t>
            </a:r>
            <a:r>
              <a:rPr sz="1250" b="1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WHITE</a:t>
            </a:r>
            <a:r>
              <a:rPr sz="1250" b="1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consist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black and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white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called BLACK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WHITE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IMAGE.</a:t>
            </a:r>
            <a:endParaRPr sz="1250">
              <a:latin typeface="Calibri"/>
              <a:cs typeface="Calibri"/>
            </a:endParaRPr>
          </a:p>
          <a:p>
            <a:pPr marL="12700" algn="just">
              <a:lnSpc>
                <a:spcPts val="1350"/>
              </a:lnSpc>
              <a:spcBef>
                <a:spcPts val="745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8</a:t>
            </a:r>
            <a:r>
              <a:rPr sz="1250" b="1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bit</a:t>
            </a:r>
            <a:r>
              <a:rPr sz="1250" b="1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b="1" spc="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125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famous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spc="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format.</a:t>
            </a:r>
            <a:r>
              <a:rPr sz="125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125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256</a:t>
            </a:r>
            <a:r>
              <a:rPr sz="125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125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shades</a:t>
            </a:r>
            <a:r>
              <a:rPr sz="125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25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colors</a:t>
            </a:r>
            <a:r>
              <a:rPr sz="125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25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commonly</a:t>
            </a:r>
            <a:endParaRPr sz="1250">
              <a:latin typeface="Calibri"/>
              <a:cs typeface="Calibri"/>
            </a:endParaRPr>
          </a:p>
          <a:p>
            <a:pPr marL="12700" algn="just">
              <a:lnSpc>
                <a:spcPts val="1350"/>
              </a:lnSpc>
            </a:pP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125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Grayscale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Image.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5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format,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0 stands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2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Black,</a:t>
            </a:r>
            <a:r>
              <a:rPr sz="125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255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stands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white,</a:t>
            </a:r>
            <a:r>
              <a:rPr sz="125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127</a:t>
            </a:r>
            <a:r>
              <a:rPr sz="125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stands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25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gray.</a:t>
            </a:r>
            <a:endParaRPr sz="1250">
              <a:latin typeface="Calibri"/>
              <a:cs typeface="Calibri"/>
            </a:endParaRPr>
          </a:p>
          <a:p>
            <a:pPr marL="12700" marR="5715" algn="just">
              <a:lnSpc>
                <a:spcPts val="1220"/>
              </a:lnSpc>
              <a:spcBef>
                <a:spcPts val="1090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16</a:t>
            </a:r>
            <a:r>
              <a:rPr sz="1250" b="1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bit</a:t>
            </a:r>
            <a:r>
              <a:rPr sz="1250" b="1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b="1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sz="125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format.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125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Format.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distribution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25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125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1250" spc="2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2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Grayscale</a:t>
            </a:r>
            <a:r>
              <a:rPr sz="125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image.</a:t>
            </a:r>
            <a:r>
              <a:rPr sz="125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250" spc="2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16-bit</a:t>
            </a:r>
            <a:r>
              <a:rPr sz="125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125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1250" spc="22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1250" spc="2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1250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1250" spc="2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computers</a:t>
            </a:r>
            <a:r>
              <a:rPr sz="125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2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monitors</a:t>
            </a:r>
            <a:r>
              <a:rPr sz="125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libri"/>
                <a:cs typeface="Calibri"/>
              </a:rPr>
              <a:t>can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65,536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colors,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adequate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125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uses.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However,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graphic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intensive</a:t>
            </a:r>
            <a:r>
              <a:rPr sz="125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video</a:t>
            </a:r>
            <a:r>
              <a:rPr sz="125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games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higher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resolution</a:t>
            </a:r>
            <a:r>
              <a:rPr sz="125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video</a:t>
            </a:r>
            <a:r>
              <a:rPr sz="125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benefit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125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advantage</a:t>
            </a:r>
            <a:r>
              <a:rPr sz="125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higher color</a:t>
            </a:r>
            <a:r>
              <a:rPr sz="125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depths.</a:t>
            </a:r>
            <a:endParaRPr sz="1250">
              <a:latin typeface="Calibri"/>
              <a:cs typeface="Calibri"/>
            </a:endParaRPr>
          </a:p>
          <a:p>
            <a:pPr marL="12700" marR="41910" algn="just">
              <a:lnSpc>
                <a:spcPts val="1400"/>
              </a:lnSpc>
              <a:spcBef>
                <a:spcPts val="810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24</a:t>
            </a:r>
            <a:r>
              <a:rPr sz="1250" b="1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bit</a:t>
            </a:r>
            <a:r>
              <a:rPr sz="1250" b="1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b="1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250" b="1" spc="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50" spc="1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1250" spc="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24-bit</a:t>
            </a:r>
            <a:r>
              <a:rPr sz="125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125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125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125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True</a:t>
            </a:r>
            <a:r>
              <a:rPr sz="125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125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computers</a:t>
            </a:r>
            <a:r>
              <a:rPr sz="125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1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monitors</a:t>
            </a:r>
            <a:r>
              <a:rPr sz="125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125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sz="125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25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125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16,777,215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125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combinations.</a:t>
            </a:r>
            <a:endParaRPr sz="1250">
              <a:latin typeface="Calibri"/>
              <a:cs typeface="Calibri"/>
            </a:endParaRPr>
          </a:p>
          <a:p>
            <a:pPr marL="12700" marR="5080" algn="just">
              <a:lnSpc>
                <a:spcPts val="1220"/>
              </a:lnSpc>
              <a:spcBef>
                <a:spcPts val="1100"/>
              </a:spcBef>
            </a:pP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32</a:t>
            </a:r>
            <a:r>
              <a:rPr sz="1250" b="1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bit</a:t>
            </a:r>
            <a:r>
              <a:rPr sz="1250" b="1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b="1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404040"/>
                </a:solidFill>
                <a:latin typeface="Calibri"/>
                <a:cs typeface="Calibri"/>
              </a:rPr>
              <a:t>FORMAT</a:t>
            </a:r>
            <a:r>
              <a:rPr sz="1250" b="1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sz="125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125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24-bit</a:t>
            </a:r>
            <a:r>
              <a:rPr sz="125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color,</a:t>
            </a:r>
            <a:r>
              <a:rPr sz="1250" spc="1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32-bit</a:t>
            </a:r>
            <a:r>
              <a:rPr sz="125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supports</a:t>
            </a:r>
            <a:r>
              <a:rPr sz="125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16,777,215</a:t>
            </a:r>
            <a:r>
              <a:rPr sz="125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colors</a:t>
            </a:r>
            <a:r>
              <a:rPr sz="125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but</a:t>
            </a:r>
            <a:r>
              <a:rPr sz="125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125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125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alpha</a:t>
            </a:r>
            <a:r>
              <a:rPr sz="1250" spc="2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channel</a:t>
            </a:r>
            <a:r>
              <a:rPr sz="1250" spc="2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125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404040"/>
                </a:solidFill>
                <a:latin typeface="Calibri"/>
                <a:cs typeface="Calibri"/>
              </a:rPr>
              <a:t>can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create</a:t>
            </a:r>
            <a:r>
              <a:rPr sz="1250" spc="3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convincing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gradients,</a:t>
            </a:r>
            <a:r>
              <a:rPr sz="1250" spc="4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shadows,</a:t>
            </a:r>
            <a:r>
              <a:rPr sz="1250" spc="4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250" spc="4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transparencies.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alpha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channel</a:t>
            </a:r>
            <a:r>
              <a:rPr sz="1250" spc="4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32-bit</a:t>
            </a:r>
            <a:r>
              <a:rPr sz="1250" spc="4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supports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4,294,967,296</a:t>
            </a:r>
            <a:r>
              <a:rPr sz="125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404040"/>
                </a:solidFill>
                <a:latin typeface="Calibri"/>
                <a:cs typeface="Calibri"/>
              </a:rPr>
              <a:t>color</a:t>
            </a:r>
            <a:r>
              <a:rPr sz="125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04040"/>
                </a:solidFill>
                <a:latin typeface="Calibri"/>
                <a:cs typeface="Calibri"/>
              </a:rPr>
              <a:t>combinations.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660019"/>
            <a:ext cx="2498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50" dirty="0">
                <a:solidFill>
                  <a:srgbClr val="404040"/>
                </a:solidFill>
                <a:latin typeface="Calibri Light"/>
                <a:cs typeface="Calibri Light"/>
              </a:rPr>
              <a:t>Bitmap</a:t>
            </a:r>
            <a:r>
              <a:rPr sz="3600" b="0" spc="-11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2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0932" y="1498091"/>
            <a:ext cx="6332220" cy="2708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660019"/>
            <a:ext cx="414527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75" dirty="0">
                <a:solidFill>
                  <a:srgbClr val="404040"/>
                </a:solidFill>
                <a:latin typeface="Calibri Light"/>
                <a:cs typeface="Calibri Light"/>
              </a:rPr>
              <a:t>Grayscale</a:t>
            </a:r>
            <a:r>
              <a:rPr sz="3600" b="0" spc="-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4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r>
              <a:rPr sz="3600" b="0" spc="-13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–</a:t>
            </a:r>
            <a:r>
              <a:rPr sz="3600" b="0" spc="-1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8</a:t>
            </a:r>
            <a:r>
              <a:rPr sz="3600" b="0" spc="-9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25" dirty="0">
                <a:solidFill>
                  <a:srgbClr val="404040"/>
                </a:solidFill>
                <a:latin typeface="Calibri Light"/>
                <a:cs typeface="Calibri Light"/>
              </a:rPr>
              <a:t>bit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155" y="1493519"/>
            <a:ext cx="6470904" cy="2948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660019"/>
            <a:ext cx="22244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20" dirty="0">
                <a:solidFill>
                  <a:srgbClr val="404040"/>
                </a:solidFill>
                <a:latin typeface="Calibri Light"/>
                <a:cs typeface="Calibri Light"/>
              </a:rPr>
              <a:t>RGB</a:t>
            </a:r>
            <a:r>
              <a:rPr sz="3600" b="0" spc="-17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–</a:t>
            </a:r>
            <a:r>
              <a:rPr sz="3600" b="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24</a:t>
            </a:r>
            <a:r>
              <a:rPr sz="3600" b="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25" dirty="0">
                <a:solidFill>
                  <a:srgbClr val="404040"/>
                </a:solidFill>
                <a:latin typeface="Calibri Light"/>
                <a:cs typeface="Calibri Light"/>
              </a:rPr>
              <a:t>bit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0660" y="1481327"/>
            <a:ext cx="5978651" cy="27371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517016"/>
            <a:ext cx="718947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0" dirty="0">
                <a:solidFill>
                  <a:srgbClr val="404040"/>
                </a:solidFill>
                <a:latin typeface="Calibri Light"/>
                <a:cs typeface="Calibri Light"/>
              </a:rPr>
              <a:t>How</a:t>
            </a:r>
            <a:r>
              <a:rPr sz="3300" b="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3300" b="0" spc="-1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spc="-45" dirty="0">
                <a:solidFill>
                  <a:srgbClr val="404040"/>
                </a:solidFill>
                <a:latin typeface="Calibri Light"/>
                <a:cs typeface="Calibri Light"/>
              </a:rPr>
              <a:t>computer</a:t>
            </a:r>
            <a:r>
              <a:rPr sz="3300" b="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spc="-20" dirty="0">
                <a:solidFill>
                  <a:srgbClr val="404040"/>
                </a:solidFill>
                <a:latin typeface="Calibri Light"/>
                <a:cs typeface="Calibri Light"/>
              </a:rPr>
              <a:t>sees</a:t>
            </a:r>
            <a:r>
              <a:rPr sz="3300" b="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3300" b="0" spc="-13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spc="-45" dirty="0">
                <a:solidFill>
                  <a:srgbClr val="404040"/>
                </a:solidFill>
                <a:latin typeface="Calibri Light"/>
                <a:cs typeface="Calibri Light"/>
              </a:rPr>
              <a:t>numbers</a:t>
            </a:r>
            <a:r>
              <a:rPr sz="3300" b="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dirty="0">
                <a:solidFill>
                  <a:srgbClr val="404040"/>
                </a:solidFill>
                <a:latin typeface="Calibri Light"/>
                <a:cs typeface="Calibri Light"/>
              </a:rPr>
              <a:t>0</a:t>
            </a:r>
            <a:r>
              <a:rPr sz="3300" b="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dirty="0">
                <a:solidFill>
                  <a:srgbClr val="404040"/>
                </a:solidFill>
                <a:latin typeface="Calibri Light"/>
                <a:cs typeface="Calibri Light"/>
              </a:rPr>
              <a:t>to</a:t>
            </a:r>
            <a:r>
              <a:rPr sz="3300" b="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300" b="0" spc="-25" dirty="0">
                <a:solidFill>
                  <a:srgbClr val="404040"/>
                </a:solidFill>
                <a:latin typeface="Calibri Light"/>
                <a:cs typeface="Calibri Light"/>
              </a:rPr>
              <a:t>255</a:t>
            </a:r>
            <a:endParaRPr sz="33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6755" y="1437655"/>
            <a:ext cx="6106668" cy="2582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70152" y="4236516"/>
            <a:ext cx="1889125" cy="23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Calibri"/>
                <a:cs typeface="Calibri"/>
              </a:rPr>
              <a:t>Demo: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https://pixspy.com/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9" y="660019"/>
            <a:ext cx="3180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40" dirty="0">
                <a:solidFill>
                  <a:srgbClr val="404040"/>
                </a:solidFill>
                <a:latin typeface="Calibri Light"/>
                <a:cs typeface="Calibri Light"/>
              </a:rPr>
              <a:t>Image</a:t>
            </a:r>
            <a:r>
              <a:rPr sz="3600" b="0" spc="-1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as</a:t>
            </a:r>
            <a:r>
              <a:rPr sz="3600" b="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36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3600" b="0" spc="-25" dirty="0">
                <a:solidFill>
                  <a:srgbClr val="404040"/>
                </a:solidFill>
                <a:latin typeface="Calibri Light"/>
                <a:cs typeface="Calibri Light"/>
              </a:rPr>
              <a:t>Matrix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363217"/>
            <a:ext cx="7418070" cy="46926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 marR="5080">
              <a:lnSpc>
                <a:spcPts val="1689"/>
              </a:lnSpc>
              <a:spcBef>
                <a:spcPts val="245"/>
              </a:spcBef>
            </a:pP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15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know,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15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5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represented</a:t>
            </a:r>
            <a:r>
              <a:rPr sz="15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5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rows</a:t>
            </a:r>
            <a:r>
              <a:rPr sz="15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columns</a:t>
            </a:r>
            <a:r>
              <a:rPr sz="15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15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15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following</a:t>
            </a:r>
            <a:r>
              <a:rPr sz="1500" spc="-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syntax</a:t>
            </a:r>
            <a:r>
              <a:rPr sz="15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15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which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images</a:t>
            </a:r>
            <a:r>
              <a:rPr sz="15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1500" spc="-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"/>
                <a:cs typeface="Calibri"/>
              </a:rPr>
              <a:t>represented: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935" y="2433827"/>
            <a:ext cx="2695956" cy="10957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4377" y="3732987"/>
            <a:ext cx="7385684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9235" marR="5080" indent="-217170">
              <a:lnSpc>
                <a:spcPct val="100000"/>
              </a:lnSpc>
              <a:spcBef>
                <a:spcPts val="105"/>
              </a:spcBef>
              <a:buClr>
                <a:srgbClr val="000000"/>
              </a:buClr>
              <a:buFont typeface="Arial MT"/>
              <a:buChar char="•"/>
              <a:tabLst>
                <a:tab pos="229235" algn="l"/>
              </a:tabLst>
            </a:pP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The</a:t>
            </a:r>
            <a:r>
              <a:rPr sz="1350" spc="-4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right</a:t>
            </a:r>
            <a:r>
              <a:rPr sz="1350" spc="1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side</a:t>
            </a:r>
            <a:r>
              <a:rPr sz="1350" spc="-4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of</a:t>
            </a:r>
            <a:r>
              <a:rPr sz="1350" spc="-2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this</a:t>
            </a:r>
            <a:r>
              <a:rPr sz="1350" spc="-4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equation</a:t>
            </a:r>
            <a:r>
              <a:rPr sz="1350" spc="-4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is</a:t>
            </a:r>
            <a:r>
              <a:rPr sz="1350" spc="-3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digital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image</a:t>
            </a:r>
            <a:r>
              <a:rPr sz="1350" spc="-1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by</a:t>
            </a:r>
            <a:r>
              <a:rPr sz="1350" spc="-2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definition.</a:t>
            </a:r>
            <a:r>
              <a:rPr sz="1350" spc="2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Every</a:t>
            </a:r>
            <a:r>
              <a:rPr sz="1350" spc="-2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element</a:t>
            </a:r>
            <a:r>
              <a:rPr sz="1350" spc="-5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of</a:t>
            </a:r>
            <a:r>
              <a:rPr sz="1350" spc="-2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this</a:t>
            </a:r>
            <a:r>
              <a:rPr sz="1350" spc="-5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matrix</a:t>
            </a:r>
            <a:r>
              <a:rPr sz="1350" spc="-3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is</a:t>
            </a:r>
            <a:r>
              <a:rPr sz="1350" spc="-3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called</a:t>
            </a:r>
            <a:r>
              <a:rPr sz="1350" spc="-5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image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element</a:t>
            </a:r>
            <a:r>
              <a:rPr sz="1350" spc="-5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,</a:t>
            </a:r>
            <a:r>
              <a:rPr sz="1350" spc="-4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picture</a:t>
            </a:r>
            <a:r>
              <a:rPr sz="1350" spc="5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element</a:t>
            </a:r>
            <a:r>
              <a:rPr sz="1350" spc="-5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,</a:t>
            </a:r>
            <a:r>
              <a:rPr sz="1350" spc="-3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73039"/>
                </a:solidFill>
                <a:latin typeface="Calibri"/>
                <a:cs typeface="Calibri"/>
              </a:rPr>
              <a:t>or</a:t>
            </a:r>
            <a:r>
              <a:rPr sz="1350" spc="-40" dirty="0">
                <a:solidFill>
                  <a:srgbClr val="273039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73039"/>
                </a:solidFill>
                <a:latin typeface="Calibri"/>
                <a:cs typeface="Calibri"/>
              </a:rPr>
              <a:t>pixel.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750308"/>
            <a:ext cx="9144000" cy="393700"/>
          </a:xfrm>
          <a:custGeom>
            <a:avLst/>
            <a:gdLst/>
            <a:ahLst/>
            <a:cxnLst/>
            <a:rect l="l" t="t" r="r" b="b"/>
            <a:pathLst>
              <a:path w="9144000" h="393700">
                <a:moveTo>
                  <a:pt x="9142095" y="0"/>
                </a:moveTo>
                <a:lnTo>
                  <a:pt x="0" y="0"/>
                </a:lnTo>
                <a:lnTo>
                  <a:pt x="0" y="47713"/>
                </a:lnTo>
                <a:lnTo>
                  <a:pt x="9142095" y="47713"/>
                </a:lnTo>
                <a:lnTo>
                  <a:pt x="9142095" y="0"/>
                </a:lnTo>
                <a:close/>
              </a:path>
              <a:path w="9144000" h="393700">
                <a:moveTo>
                  <a:pt x="9144000" y="49631"/>
                </a:moveTo>
                <a:lnTo>
                  <a:pt x="1905" y="49631"/>
                </a:lnTo>
                <a:lnTo>
                  <a:pt x="1905" y="393192"/>
                </a:lnTo>
                <a:lnTo>
                  <a:pt x="9144000" y="393192"/>
                </a:lnTo>
                <a:lnTo>
                  <a:pt x="9144000" y="49631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1150619"/>
            <a:ext cx="2572512" cy="310743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74135" y="2620962"/>
            <a:ext cx="121285" cy="100965"/>
            <a:chOff x="3374135" y="2620962"/>
            <a:chExt cx="121285" cy="100965"/>
          </a:xfrm>
        </p:grpSpPr>
        <p:sp>
          <p:nvSpPr>
            <p:cNvPr id="5" name="object 5"/>
            <p:cNvSpPr/>
            <p:nvPr/>
          </p:nvSpPr>
          <p:spPr>
            <a:xfrm>
              <a:off x="3428999" y="2628900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19">
                  <a:moveTo>
                    <a:pt x="0" y="57912"/>
                  </a:moveTo>
                  <a:lnTo>
                    <a:pt x="57912" y="57912"/>
                  </a:lnTo>
                  <a:lnTo>
                    <a:pt x="57912" y="0"/>
                  </a:lnTo>
                  <a:lnTo>
                    <a:pt x="0" y="0"/>
                  </a:lnTo>
                  <a:lnTo>
                    <a:pt x="0" y="57912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74136" y="2677667"/>
              <a:ext cx="59690" cy="44450"/>
            </a:xfrm>
            <a:custGeom>
              <a:avLst/>
              <a:gdLst/>
              <a:ahLst/>
              <a:cxnLst/>
              <a:rect l="l" t="t" r="r" b="b"/>
              <a:pathLst>
                <a:path w="59689" h="44450">
                  <a:moveTo>
                    <a:pt x="25781" y="34925"/>
                  </a:moveTo>
                  <a:lnTo>
                    <a:pt x="16764" y="18161"/>
                  </a:lnTo>
                  <a:lnTo>
                    <a:pt x="0" y="27305"/>
                  </a:lnTo>
                  <a:lnTo>
                    <a:pt x="9017" y="43942"/>
                  </a:lnTo>
                  <a:lnTo>
                    <a:pt x="25781" y="34925"/>
                  </a:lnTo>
                  <a:close/>
                </a:path>
                <a:path w="59689" h="44450">
                  <a:moveTo>
                    <a:pt x="59309" y="16764"/>
                  </a:moveTo>
                  <a:lnTo>
                    <a:pt x="50165" y="0"/>
                  </a:lnTo>
                  <a:lnTo>
                    <a:pt x="33401" y="9017"/>
                  </a:lnTo>
                  <a:lnTo>
                    <a:pt x="42545" y="25908"/>
                  </a:lnTo>
                  <a:lnTo>
                    <a:pt x="59309" y="16764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2641092" y="2713989"/>
            <a:ext cx="725805" cy="399415"/>
          </a:xfrm>
          <a:custGeom>
            <a:avLst/>
            <a:gdLst/>
            <a:ahLst/>
            <a:cxnLst/>
            <a:rect l="l" t="t" r="r" b="b"/>
            <a:pathLst>
              <a:path w="725804" h="399414">
                <a:moveTo>
                  <a:pt x="63754" y="397256"/>
                </a:moveTo>
                <a:lnTo>
                  <a:pt x="57150" y="385064"/>
                </a:lnTo>
                <a:lnTo>
                  <a:pt x="54737" y="380492"/>
                </a:lnTo>
                <a:lnTo>
                  <a:pt x="55880" y="379857"/>
                </a:lnTo>
                <a:lnTo>
                  <a:pt x="46863" y="363093"/>
                </a:lnTo>
                <a:lnTo>
                  <a:pt x="45720" y="363728"/>
                </a:lnTo>
                <a:lnTo>
                  <a:pt x="36576" y="346964"/>
                </a:lnTo>
                <a:lnTo>
                  <a:pt x="0" y="399415"/>
                </a:lnTo>
                <a:lnTo>
                  <a:pt x="63754" y="397256"/>
                </a:lnTo>
                <a:close/>
              </a:path>
              <a:path w="725804" h="399414">
                <a:moveTo>
                  <a:pt x="89408" y="361696"/>
                </a:moveTo>
                <a:lnTo>
                  <a:pt x="80264" y="344932"/>
                </a:lnTo>
                <a:lnTo>
                  <a:pt x="63627" y="354076"/>
                </a:lnTo>
                <a:lnTo>
                  <a:pt x="72644" y="370713"/>
                </a:lnTo>
                <a:lnTo>
                  <a:pt x="89408" y="361696"/>
                </a:lnTo>
                <a:close/>
              </a:path>
              <a:path w="725804" h="399414">
                <a:moveTo>
                  <a:pt x="122809" y="343535"/>
                </a:moveTo>
                <a:lnTo>
                  <a:pt x="113792" y="326771"/>
                </a:lnTo>
                <a:lnTo>
                  <a:pt x="97028" y="335788"/>
                </a:lnTo>
                <a:lnTo>
                  <a:pt x="106172" y="352679"/>
                </a:lnTo>
                <a:lnTo>
                  <a:pt x="122809" y="343535"/>
                </a:lnTo>
                <a:close/>
              </a:path>
              <a:path w="725804" h="399414">
                <a:moveTo>
                  <a:pt x="156337" y="325374"/>
                </a:moveTo>
                <a:lnTo>
                  <a:pt x="147320" y="308610"/>
                </a:lnTo>
                <a:lnTo>
                  <a:pt x="130556" y="317754"/>
                </a:lnTo>
                <a:lnTo>
                  <a:pt x="139573" y="334518"/>
                </a:lnTo>
                <a:lnTo>
                  <a:pt x="156337" y="325374"/>
                </a:lnTo>
                <a:close/>
              </a:path>
              <a:path w="725804" h="399414">
                <a:moveTo>
                  <a:pt x="189738" y="307213"/>
                </a:moveTo>
                <a:lnTo>
                  <a:pt x="180721" y="290449"/>
                </a:lnTo>
                <a:lnTo>
                  <a:pt x="163957" y="299466"/>
                </a:lnTo>
                <a:lnTo>
                  <a:pt x="173101" y="316230"/>
                </a:lnTo>
                <a:lnTo>
                  <a:pt x="189738" y="307213"/>
                </a:lnTo>
                <a:close/>
              </a:path>
              <a:path w="725804" h="399414">
                <a:moveTo>
                  <a:pt x="223266" y="289052"/>
                </a:moveTo>
                <a:lnTo>
                  <a:pt x="214249" y="272288"/>
                </a:lnTo>
                <a:lnTo>
                  <a:pt x="197485" y="281432"/>
                </a:lnTo>
                <a:lnTo>
                  <a:pt x="206502" y="298196"/>
                </a:lnTo>
                <a:lnTo>
                  <a:pt x="223266" y="289052"/>
                </a:lnTo>
                <a:close/>
              </a:path>
              <a:path w="725804" h="399414">
                <a:moveTo>
                  <a:pt x="256794" y="271018"/>
                </a:moveTo>
                <a:lnTo>
                  <a:pt x="247777" y="254254"/>
                </a:lnTo>
                <a:lnTo>
                  <a:pt x="231013" y="263271"/>
                </a:lnTo>
                <a:lnTo>
                  <a:pt x="240030" y="280035"/>
                </a:lnTo>
                <a:lnTo>
                  <a:pt x="256794" y="271018"/>
                </a:lnTo>
                <a:close/>
              </a:path>
              <a:path w="725804" h="399414">
                <a:moveTo>
                  <a:pt x="290195" y="252730"/>
                </a:moveTo>
                <a:lnTo>
                  <a:pt x="281178" y="235966"/>
                </a:lnTo>
                <a:lnTo>
                  <a:pt x="264414" y="244983"/>
                </a:lnTo>
                <a:lnTo>
                  <a:pt x="273558" y="261874"/>
                </a:lnTo>
                <a:lnTo>
                  <a:pt x="290195" y="252730"/>
                </a:lnTo>
                <a:close/>
              </a:path>
              <a:path w="725804" h="399414">
                <a:moveTo>
                  <a:pt x="323596" y="234696"/>
                </a:moveTo>
                <a:lnTo>
                  <a:pt x="314579" y="217805"/>
                </a:lnTo>
                <a:lnTo>
                  <a:pt x="297815" y="226949"/>
                </a:lnTo>
                <a:lnTo>
                  <a:pt x="306959" y="243713"/>
                </a:lnTo>
                <a:lnTo>
                  <a:pt x="323596" y="234696"/>
                </a:lnTo>
                <a:close/>
              </a:path>
              <a:path w="725804" h="399414">
                <a:moveTo>
                  <a:pt x="357124" y="216408"/>
                </a:moveTo>
                <a:lnTo>
                  <a:pt x="348107" y="199771"/>
                </a:lnTo>
                <a:lnTo>
                  <a:pt x="331343" y="208788"/>
                </a:lnTo>
                <a:lnTo>
                  <a:pt x="340360" y="225552"/>
                </a:lnTo>
                <a:lnTo>
                  <a:pt x="357124" y="216408"/>
                </a:lnTo>
                <a:close/>
              </a:path>
              <a:path w="725804" h="399414">
                <a:moveTo>
                  <a:pt x="390652" y="198247"/>
                </a:moveTo>
                <a:lnTo>
                  <a:pt x="381635" y="181483"/>
                </a:lnTo>
                <a:lnTo>
                  <a:pt x="364871" y="190627"/>
                </a:lnTo>
                <a:lnTo>
                  <a:pt x="373888" y="207391"/>
                </a:lnTo>
                <a:lnTo>
                  <a:pt x="390652" y="198247"/>
                </a:lnTo>
                <a:close/>
              </a:path>
              <a:path w="725804" h="399414">
                <a:moveTo>
                  <a:pt x="424053" y="180213"/>
                </a:moveTo>
                <a:lnTo>
                  <a:pt x="415036" y="163449"/>
                </a:lnTo>
                <a:lnTo>
                  <a:pt x="398272" y="172466"/>
                </a:lnTo>
                <a:lnTo>
                  <a:pt x="407416" y="189230"/>
                </a:lnTo>
                <a:lnTo>
                  <a:pt x="424053" y="180213"/>
                </a:lnTo>
                <a:close/>
              </a:path>
              <a:path w="725804" h="399414">
                <a:moveTo>
                  <a:pt x="457581" y="161925"/>
                </a:moveTo>
                <a:lnTo>
                  <a:pt x="448437" y="145288"/>
                </a:lnTo>
                <a:lnTo>
                  <a:pt x="431673" y="154305"/>
                </a:lnTo>
                <a:lnTo>
                  <a:pt x="440817" y="171069"/>
                </a:lnTo>
                <a:lnTo>
                  <a:pt x="457581" y="161925"/>
                </a:lnTo>
                <a:close/>
              </a:path>
              <a:path w="725804" h="399414">
                <a:moveTo>
                  <a:pt x="490982" y="143891"/>
                </a:moveTo>
                <a:lnTo>
                  <a:pt x="481965" y="127000"/>
                </a:lnTo>
                <a:lnTo>
                  <a:pt x="465201" y="136144"/>
                </a:lnTo>
                <a:lnTo>
                  <a:pt x="474218" y="152908"/>
                </a:lnTo>
                <a:lnTo>
                  <a:pt x="490982" y="143891"/>
                </a:lnTo>
                <a:close/>
              </a:path>
              <a:path w="725804" h="399414">
                <a:moveTo>
                  <a:pt x="524510" y="125730"/>
                </a:moveTo>
                <a:lnTo>
                  <a:pt x="515493" y="108966"/>
                </a:lnTo>
                <a:lnTo>
                  <a:pt x="498729" y="117983"/>
                </a:lnTo>
                <a:lnTo>
                  <a:pt x="507746" y="134747"/>
                </a:lnTo>
                <a:lnTo>
                  <a:pt x="524510" y="125730"/>
                </a:lnTo>
                <a:close/>
              </a:path>
              <a:path w="725804" h="399414">
                <a:moveTo>
                  <a:pt x="557911" y="107442"/>
                </a:moveTo>
                <a:lnTo>
                  <a:pt x="548894" y="90678"/>
                </a:lnTo>
                <a:lnTo>
                  <a:pt x="532130" y="99822"/>
                </a:lnTo>
                <a:lnTo>
                  <a:pt x="541274" y="116713"/>
                </a:lnTo>
                <a:lnTo>
                  <a:pt x="557911" y="107442"/>
                </a:lnTo>
                <a:close/>
              </a:path>
              <a:path w="725804" h="399414">
                <a:moveTo>
                  <a:pt x="591439" y="89408"/>
                </a:moveTo>
                <a:lnTo>
                  <a:pt x="582422" y="72644"/>
                </a:lnTo>
                <a:lnTo>
                  <a:pt x="565658" y="81661"/>
                </a:lnTo>
                <a:lnTo>
                  <a:pt x="574675" y="98425"/>
                </a:lnTo>
                <a:lnTo>
                  <a:pt x="591439" y="89408"/>
                </a:lnTo>
                <a:close/>
              </a:path>
              <a:path w="725804" h="399414">
                <a:moveTo>
                  <a:pt x="624967" y="71247"/>
                </a:moveTo>
                <a:lnTo>
                  <a:pt x="615823" y="54483"/>
                </a:lnTo>
                <a:lnTo>
                  <a:pt x="599059" y="63500"/>
                </a:lnTo>
                <a:lnTo>
                  <a:pt x="608203" y="80264"/>
                </a:lnTo>
                <a:lnTo>
                  <a:pt x="624967" y="71247"/>
                </a:lnTo>
                <a:close/>
              </a:path>
              <a:path w="725804" h="399414">
                <a:moveTo>
                  <a:pt x="658368" y="53086"/>
                </a:moveTo>
                <a:lnTo>
                  <a:pt x="649338" y="36195"/>
                </a:lnTo>
                <a:lnTo>
                  <a:pt x="632574" y="45466"/>
                </a:lnTo>
                <a:lnTo>
                  <a:pt x="641604" y="62230"/>
                </a:lnTo>
                <a:lnTo>
                  <a:pt x="658368" y="53086"/>
                </a:lnTo>
                <a:close/>
              </a:path>
              <a:path w="725804" h="399414">
                <a:moveTo>
                  <a:pt x="691769" y="34925"/>
                </a:moveTo>
                <a:lnTo>
                  <a:pt x="682752" y="18161"/>
                </a:lnTo>
                <a:lnTo>
                  <a:pt x="665975" y="27178"/>
                </a:lnTo>
                <a:lnTo>
                  <a:pt x="675132" y="43942"/>
                </a:lnTo>
                <a:lnTo>
                  <a:pt x="691769" y="34925"/>
                </a:lnTo>
                <a:close/>
              </a:path>
              <a:path w="725804" h="399414">
                <a:moveTo>
                  <a:pt x="725297" y="16764"/>
                </a:moveTo>
                <a:lnTo>
                  <a:pt x="716280" y="0"/>
                </a:lnTo>
                <a:lnTo>
                  <a:pt x="699516" y="9017"/>
                </a:lnTo>
                <a:lnTo>
                  <a:pt x="708533" y="25908"/>
                </a:lnTo>
                <a:lnTo>
                  <a:pt x="725297" y="1676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43200" y="1143003"/>
            <a:ext cx="34925" cy="34290"/>
          </a:xfrm>
          <a:custGeom>
            <a:avLst/>
            <a:gdLst/>
            <a:ahLst/>
            <a:cxnLst/>
            <a:rect l="l" t="t" r="r" b="b"/>
            <a:pathLst>
              <a:path w="34925" h="34290">
                <a:moveTo>
                  <a:pt x="0" y="34286"/>
                </a:moveTo>
                <a:lnTo>
                  <a:pt x="34300" y="34286"/>
                </a:lnTo>
                <a:lnTo>
                  <a:pt x="34300" y="0"/>
                </a:lnTo>
                <a:lnTo>
                  <a:pt x="0" y="0"/>
                </a:lnTo>
                <a:lnTo>
                  <a:pt x="0" y="34286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1421" y="4219197"/>
            <a:ext cx="34925" cy="34290"/>
          </a:xfrm>
          <a:custGeom>
            <a:avLst/>
            <a:gdLst/>
            <a:ahLst/>
            <a:cxnLst/>
            <a:rect l="l" t="t" r="r" b="b"/>
            <a:pathLst>
              <a:path w="34925" h="34289">
                <a:moveTo>
                  <a:pt x="0" y="34286"/>
                </a:moveTo>
                <a:lnTo>
                  <a:pt x="34301" y="34286"/>
                </a:lnTo>
                <a:lnTo>
                  <a:pt x="34301" y="0"/>
                </a:lnTo>
                <a:lnTo>
                  <a:pt x="0" y="0"/>
                </a:lnTo>
                <a:lnTo>
                  <a:pt x="0" y="34286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01748" y="1115948"/>
            <a:ext cx="734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dirty="0">
                <a:latin typeface="Calibri"/>
                <a:cs typeface="Calibri"/>
              </a:rPr>
              <a:t>f(1,1)</a:t>
            </a:r>
            <a:r>
              <a:rPr sz="1200" b="1" i="1" spc="-4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=</a:t>
            </a:r>
            <a:r>
              <a:rPr sz="1200" b="1" i="1" spc="-45" dirty="0">
                <a:latin typeface="Calibri"/>
                <a:cs typeface="Calibri"/>
              </a:rPr>
              <a:t> </a:t>
            </a:r>
            <a:r>
              <a:rPr sz="1200" b="1" i="1" spc="-25" dirty="0">
                <a:latin typeface="Calibri"/>
                <a:cs typeface="Calibri"/>
              </a:rPr>
              <a:t>103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338072" y="3437402"/>
          <a:ext cx="1044573" cy="800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5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5730"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90"/>
                        </a:lnSpc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730"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69"/>
                        </a:lnSpc>
                        <a:spcBef>
                          <a:spcPts val="20"/>
                        </a:spcBef>
                      </a:pPr>
                      <a:r>
                        <a:rPr sz="800" b="1" i="1" spc="-2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4010025" y="4263644"/>
            <a:ext cx="1123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i="1" spc="-10" dirty="0">
                <a:latin typeface="Calibri"/>
                <a:cs typeface="Calibri"/>
              </a:rPr>
              <a:t>f(2724,2336)</a:t>
            </a:r>
            <a:r>
              <a:rPr sz="1200" b="1" i="1" spc="-15" dirty="0">
                <a:latin typeface="Calibri"/>
                <a:cs typeface="Calibri"/>
              </a:rPr>
              <a:t> </a:t>
            </a:r>
            <a:r>
              <a:rPr sz="1200" b="1" i="1" dirty="0">
                <a:latin typeface="Calibri"/>
                <a:cs typeface="Calibri"/>
              </a:rPr>
              <a:t>=</a:t>
            </a:r>
            <a:r>
              <a:rPr sz="1200" b="1" i="1" spc="35" dirty="0">
                <a:latin typeface="Calibri"/>
                <a:cs typeface="Calibri"/>
              </a:rPr>
              <a:t> </a:t>
            </a:r>
            <a:r>
              <a:rPr sz="1200" b="1" i="1" spc="-25" dirty="0">
                <a:latin typeface="Calibri"/>
                <a:cs typeface="Calibri"/>
              </a:rPr>
              <a:t>88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5644" y="954024"/>
            <a:ext cx="57912" cy="1889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949323" y="731265"/>
            <a:ext cx="1349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Pixel</a:t>
            </a:r>
            <a:r>
              <a:rPr sz="1200" spc="-7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intensity</a:t>
            </a:r>
            <a:r>
              <a:rPr sz="1200" spc="-60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value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874329" y="1296733"/>
            <a:ext cx="309880" cy="323850"/>
            <a:chOff x="1874329" y="1296733"/>
            <a:chExt cx="309880" cy="323850"/>
          </a:xfrm>
        </p:grpSpPr>
        <p:sp>
          <p:nvSpPr>
            <p:cNvPr id="16" name="object 16"/>
            <p:cNvSpPr/>
            <p:nvPr/>
          </p:nvSpPr>
          <p:spPr>
            <a:xfrm>
              <a:off x="1879092" y="1301496"/>
              <a:ext cx="300355" cy="129539"/>
            </a:xfrm>
            <a:custGeom>
              <a:avLst/>
              <a:gdLst/>
              <a:ahLst/>
              <a:cxnLst/>
              <a:rect l="l" t="t" r="r" b="b"/>
              <a:pathLst>
                <a:path w="300355" h="129540">
                  <a:moveTo>
                    <a:pt x="0" y="0"/>
                  </a:moveTo>
                  <a:lnTo>
                    <a:pt x="2539" y="25273"/>
                  </a:lnTo>
                  <a:lnTo>
                    <a:pt x="9525" y="45846"/>
                  </a:lnTo>
                  <a:lnTo>
                    <a:pt x="19812" y="59689"/>
                  </a:lnTo>
                  <a:lnTo>
                    <a:pt x="32384" y="64769"/>
                  </a:lnTo>
                  <a:lnTo>
                    <a:pt x="117728" y="64769"/>
                  </a:lnTo>
                  <a:lnTo>
                    <a:pt x="130301" y="69850"/>
                  </a:lnTo>
                  <a:lnTo>
                    <a:pt x="140588" y="83692"/>
                  </a:lnTo>
                  <a:lnTo>
                    <a:pt x="147574" y="104266"/>
                  </a:lnTo>
                  <a:lnTo>
                    <a:pt x="150113" y="129539"/>
                  </a:lnTo>
                  <a:lnTo>
                    <a:pt x="152653" y="104266"/>
                  </a:lnTo>
                  <a:lnTo>
                    <a:pt x="159638" y="83692"/>
                  </a:lnTo>
                  <a:lnTo>
                    <a:pt x="169925" y="69850"/>
                  </a:lnTo>
                  <a:lnTo>
                    <a:pt x="182499" y="64769"/>
                  </a:lnTo>
                  <a:lnTo>
                    <a:pt x="267843" y="64769"/>
                  </a:lnTo>
                  <a:lnTo>
                    <a:pt x="280415" y="59689"/>
                  </a:lnTo>
                  <a:lnTo>
                    <a:pt x="290702" y="45846"/>
                  </a:lnTo>
                  <a:lnTo>
                    <a:pt x="297688" y="25273"/>
                  </a:lnTo>
                  <a:lnTo>
                    <a:pt x="300227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01012" y="1409750"/>
              <a:ext cx="56515" cy="210820"/>
            </a:xfrm>
            <a:custGeom>
              <a:avLst/>
              <a:gdLst/>
              <a:ahLst/>
              <a:cxnLst/>
              <a:rect l="l" t="t" r="r" b="b"/>
              <a:pathLst>
                <a:path w="56514" h="210819">
                  <a:moveTo>
                    <a:pt x="56388" y="152857"/>
                  </a:moveTo>
                  <a:lnTo>
                    <a:pt x="32893" y="152857"/>
                  </a:lnTo>
                  <a:lnTo>
                    <a:pt x="32893" y="162509"/>
                  </a:lnTo>
                  <a:lnTo>
                    <a:pt x="32880" y="0"/>
                  </a:lnTo>
                  <a:lnTo>
                    <a:pt x="23495" y="0"/>
                  </a:lnTo>
                  <a:lnTo>
                    <a:pt x="23495" y="152857"/>
                  </a:lnTo>
                  <a:lnTo>
                    <a:pt x="0" y="152857"/>
                  </a:lnTo>
                  <a:lnTo>
                    <a:pt x="28194" y="210261"/>
                  </a:lnTo>
                  <a:lnTo>
                    <a:pt x="51689" y="162509"/>
                  </a:lnTo>
                  <a:lnTo>
                    <a:pt x="56388" y="1528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614677" y="1614678"/>
            <a:ext cx="9131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Pixel</a:t>
            </a:r>
            <a:r>
              <a:rPr sz="1200" spc="-8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location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41696" y="2152853"/>
            <a:ext cx="2436495" cy="1033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Arial MT"/>
                <a:cs typeface="Arial MT"/>
              </a:rPr>
              <a:t>In</a:t>
            </a:r>
            <a:r>
              <a:rPr sz="1650" spc="-10" dirty="0"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0000"/>
                </a:solidFill>
                <a:latin typeface="Arial MT"/>
                <a:cs typeface="Arial MT"/>
              </a:rPr>
              <a:t>8-bit</a:t>
            </a:r>
            <a:r>
              <a:rPr sz="16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representation </a:t>
            </a:r>
            <a:r>
              <a:rPr sz="1650" dirty="0">
                <a:latin typeface="Arial MT"/>
                <a:cs typeface="Arial MT"/>
              </a:rPr>
              <a:t>Pixel</a:t>
            </a:r>
            <a:r>
              <a:rPr sz="1650" spc="-3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intensity</a:t>
            </a:r>
            <a:r>
              <a:rPr sz="1650" spc="-75" dirty="0">
                <a:latin typeface="Arial MT"/>
                <a:cs typeface="Arial MT"/>
              </a:rPr>
              <a:t> </a:t>
            </a:r>
            <a:r>
              <a:rPr sz="1650" spc="-10" dirty="0">
                <a:latin typeface="Arial MT"/>
                <a:cs typeface="Arial MT"/>
              </a:rPr>
              <a:t>values </a:t>
            </a:r>
            <a:r>
              <a:rPr sz="1650" dirty="0">
                <a:latin typeface="Arial MT"/>
                <a:cs typeface="Arial MT"/>
              </a:rPr>
              <a:t>change</a:t>
            </a:r>
            <a:r>
              <a:rPr sz="1650" spc="-65" dirty="0">
                <a:latin typeface="Arial MT"/>
                <a:cs typeface="Arial MT"/>
              </a:rPr>
              <a:t> </a:t>
            </a:r>
            <a:r>
              <a:rPr sz="1650" dirty="0">
                <a:latin typeface="Arial MT"/>
                <a:cs typeface="Arial MT"/>
              </a:rPr>
              <a:t>between</a:t>
            </a:r>
            <a:r>
              <a:rPr sz="1650" spc="-50" dirty="0"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0000"/>
                </a:solidFill>
                <a:latin typeface="Arial MT"/>
                <a:cs typeface="Arial MT"/>
              </a:rPr>
              <a:t>0</a:t>
            </a:r>
            <a:r>
              <a:rPr sz="165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0000"/>
                </a:solidFill>
                <a:latin typeface="Arial MT"/>
                <a:cs typeface="Arial MT"/>
              </a:rPr>
              <a:t>(Black) </a:t>
            </a:r>
            <a:r>
              <a:rPr sz="1650" dirty="0">
                <a:latin typeface="Arial MT"/>
                <a:cs typeface="Arial MT"/>
              </a:rPr>
              <a:t>and</a:t>
            </a:r>
            <a:r>
              <a:rPr sz="1650" spc="-30" dirty="0"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0000"/>
                </a:solidFill>
                <a:latin typeface="Arial MT"/>
                <a:cs typeface="Arial MT"/>
              </a:rPr>
              <a:t>255</a:t>
            </a:r>
            <a:r>
              <a:rPr sz="1650" spc="-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0000"/>
                </a:solidFill>
                <a:latin typeface="Arial MT"/>
                <a:cs typeface="Arial MT"/>
              </a:rPr>
              <a:t>(White)</a:t>
            </a:r>
            <a:endParaRPr sz="165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65314" y="2883407"/>
            <a:ext cx="465455" cy="255270"/>
            <a:chOff x="1365314" y="2883407"/>
            <a:chExt cx="465455" cy="255270"/>
          </a:xfrm>
        </p:grpSpPr>
        <p:sp>
          <p:nvSpPr>
            <p:cNvPr id="21" name="object 21"/>
            <p:cNvSpPr/>
            <p:nvPr/>
          </p:nvSpPr>
          <p:spPr>
            <a:xfrm>
              <a:off x="1370076" y="3078479"/>
              <a:ext cx="455930" cy="55244"/>
            </a:xfrm>
            <a:custGeom>
              <a:avLst/>
              <a:gdLst/>
              <a:ahLst/>
              <a:cxnLst/>
              <a:rect l="l" t="t" r="r" b="b"/>
              <a:pathLst>
                <a:path w="455930" h="55244">
                  <a:moveTo>
                    <a:pt x="0" y="54863"/>
                  </a:moveTo>
                  <a:lnTo>
                    <a:pt x="2286" y="44195"/>
                  </a:lnTo>
                  <a:lnTo>
                    <a:pt x="8255" y="35432"/>
                  </a:lnTo>
                  <a:lnTo>
                    <a:pt x="17271" y="29590"/>
                  </a:lnTo>
                  <a:lnTo>
                    <a:pt x="28321" y="27431"/>
                  </a:lnTo>
                  <a:lnTo>
                    <a:pt x="199517" y="27431"/>
                  </a:lnTo>
                  <a:lnTo>
                    <a:pt x="210565" y="25272"/>
                  </a:lnTo>
                  <a:lnTo>
                    <a:pt x="219583" y="19431"/>
                  </a:lnTo>
                  <a:lnTo>
                    <a:pt x="225552" y="10668"/>
                  </a:lnTo>
                  <a:lnTo>
                    <a:pt x="227837" y="0"/>
                  </a:lnTo>
                  <a:lnTo>
                    <a:pt x="230124" y="10668"/>
                  </a:lnTo>
                  <a:lnTo>
                    <a:pt x="236093" y="19431"/>
                  </a:lnTo>
                  <a:lnTo>
                    <a:pt x="245110" y="25272"/>
                  </a:lnTo>
                  <a:lnTo>
                    <a:pt x="256159" y="27431"/>
                  </a:lnTo>
                  <a:lnTo>
                    <a:pt x="427355" y="27431"/>
                  </a:lnTo>
                  <a:lnTo>
                    <a:pt x="438404" y="29590"/>
                  </a:lnTo>
                  <a:lnTo>
                    <a:pt x="447421" y="35432"/>
                  </a:lnTo>
                  <a:lnTo>
                    <a:pt x="453390" y="44195"/>
                  </a:lnTo>
                  <a:lnTo>
                    <a:pt x="455675" y="54863"/>
                  </a:lnTo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8196" y="2883407"/>
              <a:ext cx="56387" cy="182880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1913954" y="2883407"/>
            <a:ext cx="605790" cy="255270"/>
            <a:chOff x="1913954" y="2883407"/>
            <a:chExt cx="605790" cy="255270"/>
          </a:xfrm>
        </p:grpSpPr>
        <p:sp>
          <p:nvSpPr>
            <p:cNvPr id="24" name="object 24"/>
            <p:cNvSpPr/>
            <p:nvPr/>
          </p:nvSpPr>
          <p:spPr>
            <a:xfrm>
              <a:off x="1918716" y="3078479"/>
              <a:ext cx="596265" cy="55244"/>
            </a:xfrm>
            <a:custGeom>
              <a:avLst/>
              <a:gdLst/>
              <a:ahLst/>
              <a:cxnLst/>
              <a:rect l="l" t="t" r="r" b="b"/>
              <a:pathLst>
                <a:path w="596264" h="55244">
                  <a:moveTo>
                    <a:pt x="0" y="54863"/>
                  </a:moveTo>
                  <a:lnTo>
                    <a:pt x="2158" y="44195"/>
                  </a:lnTo>
                  <a:lnTo>
                    <a:pt x="8254" y="35432"/>
                  </a:lnTo>
                  <a:lnTo>
                    <a:pt x="17271" y="29590"/>
                  </a:lnTo>
                  <a:lnTo>
                    <a:pt x="28193" y="27431"/>
                  </a:lnTo>
                  <a:lnTo>
                    <a:pt x="269747" y="27431"/>
                  </a:lnTo>
                  <a:lnTo>
                    <a:pt x="280669" y="25272"/>
                  </a:lnTo>
                  <a:lnTo>
                    <a:pt x="289686" y="19431"/>
                  </a:lnTo>
                  <a:lnTo>
                    <a:pt x="295782" y="10668"/>
                  </a:lnTo>
                  <a:lnTo>
                    <a:pt x="297941" y="0"/>
                  </a:lnTo>
                  <a:lnTo>
                    <a:pt x="300100" y="10668"/>
                  </a:lnTo>
                  <a:lnTo>
                    <a:pt x="306196" y="19431"/>
                  </a:lnTo>
                  <a:lnTo>
                    <a:pt x="315213" y="25272"/>
                  </a:lnTo>
                  <a:lnTo>
                    <a:pt x="326135" y="27431"/>
                  </a:lnTo>
                  <a:lnTo>
                    <a:pt x="567689" y="27431"/>
                  </a:lnTo>
                  <a:lnTo>
                    <a:pt x="578611" y="29590"/>
                  </a:lnTo>
                  <a:lnTo>
                    <a:pt x="587628" y="35432"/>
                  </a:lnTo>
                  <a:lnTo>
                    <a:pt x="593725" y="44195"/>
                  </a:lnTo>
                  <a:lnTo>
                    <a:pt x="595883" y="54863"/>
                  </a:lnTo>
                </a:path>
              </a:pathLst>
            </a:custGeom>
            <a:ln w="952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6940" y="2883407"/>
              <a:ext cx="56387" cy="18440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209547" y="2700908"/>
            <a:ext cx="1356360" cy="616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00"/>
              </a:spcBef>
              <a:tabLst>
                <a:tab pos="777875" algn="l"/>
              </a:tabLst>
            </a:pPr>
            <a:r>
              <a:rPr sz="1200" spc="-20" dirty="0">
                <a:latin typeface="Arial MT"/>
                <a:cs typeface="Arial MT"/>
              </a:rPr>
              <a:t>rows</a:t>
            </a:r>
            <a:r>
              <a:rPr sz="1200" dirty="0">
                <a:latin typeface="Arial MT"/>
                <a:cs typeface="Arial MT"/>
              </a:rPr>
              <a:t>	</a:t>
            </a:r>
            <a:r>
              <a:rPr sz="1200" spc="-10" dirty="0">
                <a:latin typeface="Arial MT"/>
                <a:cs typeface="Arial MT"/>
              </a:rPr>
              <a:t>columns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50" b="1" i="1" spc="-10" dirty="0">
                <a:latin typeface="Calibri"/>
                <a:cs typeface="Calibri"/>
              </a:rPr>
              <a:t>f(645:650,1323:1328)</a:t>
            </a:r>
            <a:r>
              <a:rPr sz="1050" b="1" i="1" spc="-15" dirty="0">
                <a:latin typeface="Calibri"/>
                <a:cs typeface="Calibri"/>
              </a:rPr>
              <a:t> </a:t>
            </a:r>
            <a:r>
              <a:rPr sz="1050" b="1" i="1" spc="-50" dirty="0">
                <a:latin typeface="Calibri"/>
                <a:cs typeface="Calibri"/>
              </a:rPr>
              <a:t>=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5441696" y="589026"/>
            <a:ext cx="2407920" cy="1283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50" b="0" dirty="0">
                <a:latin typeface="Arial MT"/>
                <a:cs typeface="Arial MT"/>
              </a:rPr>
              <a:t>Consider</a:t>
            </a:r>
            <a:r>
              <a:rPr sz="1650" b="0" spc="-75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the</a:t>
            </a:r>
            <a:r>
              <a:rPr sz="1650" b="0" spc="-65" dirty="0">
                <a:latin typeface="Arial MT"/>
                <a:cs typeface="Arial MT"/>
              </a:rPr>
              <a:t> </a:t>
            </a:r>
            <a:r>
              <a:rPr sz="1650" b="0" spc="-10" dirty="0">
                <a:latin typeface="Arial MT"/>
                <a:cs typeface="Arial MT"/>
              </a:rPr>
              <a:t>following </a:t>
            </a:r>
            <a:r>
              <a:rPr sz="1650" b="0" dirty="0">
                <a:latin typeface="Arial MT"/>
                <a:cs typeface="Arial MT"/>
              </a:rPr>
              <a:t>image</a:t>
            </a:r>
            <a:r>
              <a:rPr sz="1650" b="0" spc="-100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(2724x2336</a:t>
            </a:r>
            <a:r>
              <a:rPr sz="1650" b="0" spc="-65" dirty="0">
                <a:latin typeface="Arial MT"/>
                <a:cs typeface="Arial MT"/>
              </a:rPr>
              <a:t> </a:t>
            </a:r>
            <a:r>
              <a:rPr sz="1650" b="0" spc="-10" dirty="0">
                <a:latin typeface="Arial MT"/>
                <a:cs typeface="Arial MT"/>
              </a:rPr>
              <a:t>pixels) </a:t>
            </a:r>
            <a:r>
              <a:rPr sz="1650" b="0" dirty="0">
                <a:latin typeface="Arial MT"/>
                <a:cs typeface="Arial MT"/>
              </a:rPr>
              <a:t>to</a:t>
            </a:r>
            <a:r>
              <a:rPr sz="1650" b="0" spc="-15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be</a:t>
            </a:r>
            <a:r>
              <a:rPr sz="1650" b="0" spc="-35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2D</a:t>
            </a:r>
            <a:r>
              <a:rPr sz="1650" b="0" spc="-25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function</a:t>
            </a:r>
            <a:r>
              <a:rPr sz="1650" b="0" spc="455" dirty="0">
                <a:latin typeface="Arial MT"/>
                <a:cs typeface="Arial MT"/>
              </a:rPr>
              <a:t> </a:t>
            </a:r>
            <a:r>
              <a:rPr sz="1650" b="0" dirty="0">
                <a:latin typeface="Arial MT"/>
                <a:cs typeface="Arial MT"/>
              </a:rPr>
              <a:t>or</a:t>
            </a:r>
            <a:r>
              <a:rPr sz="1650" b="0" spc="-25" dirty="0">
                <a:latin typeface="Arial MT"/>
                <a:cs typeface="Arial MT"/>
              </a:rPr>
              <a:t> </a:t>
            </a:r>
            <a:r>
              <a:rPr sz="1650" b="0" spc="-50" dirty="0">
                <a:latin typeface="Arial MT"/>
                <a:cs typeface="Arial MT"/>
              </a:rPr>
              <a:t>a </a:t>
            </a:r>
            <a:r>
              <a:rPr sz="1650" dirty="0">
                <a:latin typeface="Arial"/>
                <a:cs typeface="Arial"/>
              </a:rPr>
              <a:t>matrix</a:t>
            </a:r>
            <a:r>
              <a:rPr sz="1650" spc="-15" dirty="0">
                <a:latin typeface="Arial"/>
                <a:cs typeface="Arial"/>
              </a:rPr>
              <a:t> </a:t>
            </a:r>
            <a:r>
              <a:rPr sz="1650" b="0" spc="-10" dirty="0">
                <a:latin typeface="Arial MT"/>
                <a:cs typeface="Arial MT"/>
              </a:rPr>
              <a:t>with</a:t>
            </a:r>
            <a:r>
              <a:rPr sz="1650" b="0" spc="-75" dirty="0">
                <a:latin typeface="Arial MT"/>
                <a:cs typeface="Arial MT"/>
              </a:rPr>
              <a:t> </a:t>
            </a:r>
            <a:r>
              <a:rPr sz="1650" dirty="0">
                <a:latin typeface="Arial"/>
                <a:cs typeface="Arial"/>
              </a:rPr>
              <a:t>rows</a:t>
            </a:r>
            <a:r>
              <a:rPr sz="1650" spc="-30" dirty="0">
                <a:latin typeface="Arial"/>
                <a:cs typeface="Arial"/>
              </a:rPr>
              <a:t> </a:t>
            </a:r>
            <a:r>
              <a:rPr sz="1650" b="0" spc="-25" dirty="0">
                <a:latin typeface="Arial MT"/>
                <a:cs typeface="Arial MT"/>
              </a:rPr>
              <a:t>and </a:t>
            </a:r>
            <a:r>
              <a:rPr sz="1650" spc="-10" dirty="0">
                <a:latin typeface="Arial"/>
                <a:cs typeface="Arial"/>
              </a:rPr>
              <a:t>columns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40435" y="112903"/>
            <a:ext cx="36226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From</a:t>
            </a:r>
            <a:r>
              <a:rPr spc="-190" dirty="0"/>
              <a:t> </a:t>
            </a:r>
            <a:r>
              <a:rPr spc="-55" dirty="0"/>
              <a:t>Camera</a:t>
            </a:r>
            <a:r>
              <a:rPr spc="-170" dirty="0"/>
              <a:t> </a:t>
            </a:r>
            <a:r>
              <a:rPr spc="-20" dirty="0"/>
              <a:t>to</a:t>
            </a:r>
            <a:r>
              <a:rPr spc="-140" dirty="0"/>
              <a:t> </a:t>
            </a:r>
            <a:r>
              <a:rPr spc="-45" dirty="0"/>
              <a:t>Digital</a:t>
            </a:r>
            <a:r>
              <a:rPr spc="-145" dirty="0"/>
              <a:t> </a:t>
            </a:r>
            <a:r>
              <a:rPr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851" y="666368"/>
            <a:ext cx="6129020" cy="19900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1496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latin typeface="Calibri"/>
                <a:cs typeface="Calibri"/>
              </a:rPr>
              <a:t>We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can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capture</a:t>
            </a:r>
            <a:r>
              <a:rPr sz="1650" spc="-8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picture</a:t>
            </a:r>
            <a:r>
              <a:rPr sz="1650" spc="-9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using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u="sng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2"/>
              </a:rPr>
              <a:t>sensors</a:t>
            </a:r>
            <a:r>
              <a:rPr sz="1650" spc="-25" dirty="0">
                <a:solidFill>
                  <a:srgbClr val="CC9900"/>
                </a:solidFill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imaging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tools,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such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as</a:t>
            </a:r>
            <a:r>
              <a:rPr sz="1650" dirty="0">
                <a:latin typeface="Calibri"/>
                <a:cs typeface="Calibri"/>
              </a:rPr>
              <a:t> a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camera.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sensors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produce</a:t>
            </a:r>
            <a:r>
              <a:rPr sz="1650" spc="-8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image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form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analog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signal, </a:t>
            </a:r>
            <a:r>
              <a:rPr sz="1650" dirty="0">
                <a:latin typeface="Calibri"/>
                <a:cs typeface="Calibri"/>
              </a:rPr>
              <a:t>which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digitized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to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produce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digital</a:t>
            </a:r>
            <a:r>
              <a:rPr sz="1650" spc="-8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image.</a:t>
            </a:r>
            <a:endParaRPr sz="1650">
              <a:latin typeface="Calibri"/>
              <a:cs typeface="Calibri"/>
            </a:endParaRPr>
          </a:p>
          <a:p>
            <a:pPr marL="12700" marR="17780" indent="314960">
              <a:lnSpc>
                <a:spcPct val="100000"/>
              </a:lnSpc>
              <a:spcBef>
                <a:spcPts val="1600"/>
              </a:spcBef>
            </a:pPr>
            <a:r>
              <a:rPr sz="1650" dirty="0">
                <a:latin typeface="Calibri"/>
                <a:cs typeface="Calibri"/>
              </a:rPr>
              <a:t>A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digital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image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is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20" dirty="0">
                <a:latin typeface="Calibri"/>
                <a:cs typeface="Calibri"/>
              </a:rPr>
              <a:t>two-</a:t>
            </a:r>
            <a:r>
              <a:rPr sz="1650" spc="-10" dirty="0">
                <a:latin typeface="Calibri"/>
                <a:cs typeface="Calibri"/>
              </a:rPr>
              <a:t>dimensional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function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where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and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indicate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the </a:t>
            </a:r>
            <a:r>
              <a:rPr sz="1650" dirty="0">
                <a:latin typeface="Calibri"/>
                <a:cs typeface="Calibri"/>
              </a:rPr>
              <a:t>position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</a:t>
            </a:r>
            <a:r>
              <a:rPr sz="1650" spc="-5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image.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function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holds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9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discrete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value</a:t>
            </a:r>
            <a:r>
              <a:rPr sz="1650" spc="-6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called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the </a:t>
            </a:r>
            <a:r>
              <a:rPr sz="1650" u="sng" spc="-10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3"/>
              </a:rPr>
              <a:t>intensity</a:t>
            </a:r>
            <a:r>
              <a:rPr sz="1650" u="sng" spc="-90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sz="1650" u="sng" dirty="0">
                <a:solidFill>
                  <a:srgbClr val="CC9900"/>
                </a:solidFill>
                <a:uFill>
                  <a:solidFill>
                    <a:srgbClr val="2996E1"/>
                  </a:solidFill>
                </a:uFill>
                <a:latin typeface="Calibri"/>
                <a:cs typeface="Calibri"/>
                <a:hlinkClick r:id="rId3"/>
              </a:rPr>
              <a:t>value</a:t>
            </a:r>
            <a:r>
              <a:rPr sz="1650" dirty="0">
                <a:latin typeface="Calibri"/>
                <a:cs typeface="Calibri"/>
              </a:rPr>
              <a:t>.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Let’s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see</a:t>
            </a:r>
            <a:r>
              <a:rPr sz="1650" spc="-2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example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the</a:t>
            </a:r>
            <a:r>
              <a:rPr sz="1650" spc="-5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visual</a:t>
            </a:r>
            <a:r>
              <a:rPr sz="1650" spc="-6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representation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-25" dirty="0">
                <a:latin typeface="Calibri"/>
                <a:cs typeface="Calibri"/>
              </a:rPr>
              <a:t>of </a:t>
            </a:r>
            <a:r>
              <a:rPr sz="1650" spc="-10" dirty="0">
                <a:latin typeface="Calibri"/>
                <a:cs typeface="Calibri"/>
              </a:rPr>
              <a:t>spatial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coordinates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and</a:t>
            </a:r>
            <a:r>
              <a:rPr sz="1650" spc="-4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amplitude</a:t>
            </a:r>
            <a:r>
              <a:rPr sz="1650" spc="-7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of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digital</a:t>
            </a:r>
            <a:r>
              <a:rPr sz="1650" spc="-75" dirty="0">
                <a:latin typeface="Calibri"/>
                <a:cs typeface="Calibri"/>
              </a:rPr>
              <a:t> </a:t>
            </a:r>
            <a:r>
              <a:rPr sz="1650" spc="-10" dirty="0">
                <a:latin typeface="Calibri"/>
                <a:cs typeface="Calibri"/>
              </a:rPr>
              <a:t>image:</a:t>
            </a:r>
            <a:endParaRPr sz="16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1279" y="1075944"/>
            <a:ext cx="2520696" cy="25222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6111" y="1304544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From</a:t>
            </a:r>
            <a:r>
              <a:rPr spc="-190" dirty="0"/>
              <a:t> </a:t>
            </a:r>
            <a:r>
              <a:rPr spc="-55" dirty="0"/>
              <a:t>Camera</a:t>
            </a:r>
            <a:r>
              <a:rPr spc="-170" dirty="0"/>
              <a:t> </a:t>
            </a:r>
            <a:r>
              <a:rPr spc="-20" dirty="0"/>
              <a:t>to</a:t>
            </a:r>
            <a:r>
              <a:rPr spc="-140" dirty="0"/>
              <a:t> </a:t>
            </a:r>
            <a:r>
              <a:rPr spc="-45" dirty="0"/>
              <a:t>Digital</a:t>
            </a:r>
            <a:r>
              <a:rPr spc="-145" dirty="0"/>
              <a:t> </a:t>
            </a:r>
            <a:r>
              <a:rPr spc="-10" dirty="0"/>
              <a:t>Image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6864" y="1863851"/>
            <a:ext cx="3525012" cy="21945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916" y="1776983"/>
            <a:ext cx="3523488" cy="23530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9"/>
            <a:ext cx="9144000" cy="393700"/>
            <a:chOff x="0" y="4750309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1523" y="4800599"/>
              <a:ext cx="9142730" cy="342900"/>
            </a:xfrm>
            <a:custGeom>
              <a:avLst/>
              <a:gdLst/>
              <a:ahLst/>
              <a:cxnLst/>
              <a:rect l="l" t="t" r="r" b="b"/>
              <a:pathLst>
                <a:path w="9142730" h="342900">
                  <a:moveTo>
                    <a:pt x="9142476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2476" y="342900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9"/>
              <a:ext cx="9142730" cy="48895"/>
            </a:xfrm>
            <a:custGeom>
              <a:avLst/>
              <a:gdLst/>
              <a:ahLst/>
              <a:cxnLst/>
              <a:rect l="l" t="t" r="r" b="b"/>
              <a:pathLst>
                <a:path w="9142730" h="48895">
                  <a:moveTo>
                    <a:pt x="9142476" y="0"/>
                  </a:moveTo>
                  <a:lnTo>
                    <a:pt x="0" y="0"/>
                  </a:lnTo>
                  <a:lnTo>
                    <a:pt x="0" y="48766"/>
                  </a:lnTo>
                  <a:lnTo>
                    <a:pt x="9142476" y="48766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8783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25"/>
              </a:spcBef>
            </a:pPr>
            <a:r>
              <a:rPr sz="3200" spc="-35" dirty="0"/>
              <a:t>From</a:t>
            </a:r>
            <a:r>
              <a:rPr sz="3200" spc="-150" dirty="0"/>
              <a:t> </a:t>
            </a:r>
            <a:r>
              <a:rPr sz="3200" spc="-35" dirty="0"/>
              <a:t>Camera</a:t>
            </a:r>
            <a:r>
              <a:rPr sz="3200" spc="-175" dirty="0"/>
              <a:t> </a:t>
            </a:r>
            <a:r>
              <a:rPr sz="3200" dirty="0"/>
              <a:t>to</a:t>
            </a:r>
            <a:r>
              <a:rPr sz="3200" spc="-130" dirty="0"/>
              <a:t> </a:t>
            </a:r>
            <a:r>
              <a:rPr sz="3200" spc="-30" dirty="0"/>
              <a:t>Digital</a:t>
            </a:r>
            <a:r>
              <a:rPr sz="3200" spc="-165" dirty="0"/>
              <a:t> </a:t>
            </a:r>
            <a:r>
              <a:rPr sz="3200" spc="-10" dirty="0"/>
              <a:t>Image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2081783" y="710183"/>
            <a:ext cx="4980940" cy="3893820"/>
            <a:chOff x="2081783" y="710183"/>
            <a:chExt cx="4980940" cy="38938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81783" y="710183"/>
              <a:ext cx="4866132" cy="38938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18938" y="1628394"/>
              <a:ext cx="570230" cy="806450"/>
            </a:xfrm>
            <a:custGeom>
              <a:avLst/>
              <a:gdLst/>
              <a:ahLst/>
              <a:cxnLst/>
              <a:rect l="l" t="t" r="r" b="b"/>
              <a:pathLst>
                <a:path w="570229" h="806450">
                  <a:moveTo>
                    <a:pt x="0" y="806196"/>
                  </a:moveTo>
                  <a:lnTo>
                    <a:pt x="569976" y="806196"/>
                  </a:lnTo>
                  <a:lnTo>
                    <a:pt x="569976" y="0"/>
                  </a:lnTo>
                  <a:lnTo>
                    <a:pt x="0" y="0"/>
                  </a:lnTo>
                  <a:lnTo>
                    <a:pt x="0" y="806196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88151" y="1997836"/>
              <a:ext cx="65024" cy="6375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52160" y="1988819"/>
              <a:ext cx="1210310" cy="52069"/>
            </a:xfrm>
            <a:custGeom>
              <a:avLst/>
              <a:gdLst/>
              <a:ahLst/>
              <a:cxnLst/>
              <a:rect l="l" t="t" r="r" b="b"/>
              <a:pathLst>
                <a:path w="1210309" h="52069">
                  <a:moveTo>
                    <a:pt x="1209420" y="0"/>
                  </a:moveTo>
                  <a:lnTo>
                    <a:pt x="0" y="30353"/>
                  </a:lnTo>
                  <a:lnTo>
                    <a:pt x="507" y="51562"/>
                  </a:lnTo>
                  <a:lnTo>
                    <a:pt x="1210056" y="21081"/>
                  </a:lnTo>
                  <a:lnTo>
                    <a:pt x="120942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20255" y="1754581"/>
            <a:ext cx="1490980" cy="438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Calibri"/>
                <a:cs typeface="Calibri"/>
              </a:rPr>
              <a:t>We</a:t>
            </a:r>
            <a:r>
              <a:rPr sz="1350" spc="-6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use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sampling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and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20" dirty="0">
                <a:latin typeface="Calibri"/>
                <a:cs typeface="Calibri"/>
              </a:rPr>
              <a:t>quantization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this.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0"/>
              </a:spcBef>
            </a:pPr>
            <a:r>
              <a:rPr sz="3200" spc="-30" dirty="0"/>
              <a:t>Sampling</a:t>
            </a:r>
            <a:r>
              <a:rPr sz="3200" spc="-150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25" dirty="0"/>
              <a:t>Quantization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44" y="1013460"/>
            <a:ext cx="7549896" cy="35219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Sampling</a:t>
            </a:r>
            <a:r>
              <a:rPr spc="-175" dirty="0"/>
              <a:t> </a:t>
            </a:r>
            <a:r>
              <a:rPr spc="-20" dirty="0"/>
              <a:t>and</a:t>
            </a:r>
            <a:r>
              <a:rPr spc="-145" dirty="0"/>
              <a:t> </a:t>
            </a:r>
            <a:r>
              <a:rPr spc="-30" dirty="0"/>
              <a:t>Quantization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0259" y="1246123"/>
            <a:ext cx="6989445" cy="3239135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0"/>
              </a:spcBef>
            </a:pP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Objective</a:t>
            </a:r>
            <a:r>
              <a:rPr sz="1500" spc="-1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–</a:t>
            </a:r>
            <a:endParaRPr sz="1500">
              <a:latin typeface="Calibri Light"/>
              <a:cs typeface="Calibri Light"/>
            </a:endParaRPr>
          </a:p>
          <a:p>
            <a:pPr marL="124460" indent="-111760">
              <a:lnSpc>
                <a:spcPct val="100000"/>
              </a:lnSpc>
              <a:spcBef>
                <a:spcPts val="900"/>
              </a:spcBef>
              <a:buClr>
                <a:srgbClr val="E28312"/>
              </a:buClr>
              <a:buFont typeface="Arial MT"/>
              <a:buChar char="•"/>
              <a:tabLst>
                <a:tab pos="124460" algn="l"/>
              </a:tabLst>
            </a:pPr>
            <a:r>
              <a:rPr sz="1500" spc="-55" dirty="0">
                <a:solidFill>
                  <a:srgbClr val="404040"/>
                </a:solidFill>
                <a:latin typeface="Calibri Light"/>
                <a:cs typeface="Calibri Light"/>
              </a:rPr>
              <a:t>To</a:t>
            </a:r>
            <a:r>
              <a:rPr sz="1500" spc="-8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Calibri Light"/>
                <a:cs typeface="Calibri Light"/>
              </a:rPr>
              <a:t>generate</a:t>
            </a:r>
            <a:r>
              <a:rPr sz="1500" spc="-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digital</a:t>
            </a:r>
            <a:r>
              <a:rPr sz="1500" spc="-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images</a:t>
            </a:r>
            <a:r>
              <a:rPr sz="15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from sensed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data.</a:t>
            </a:r>
            <a:endParaRPr sz="1500">
              <a:latin typeface="Calibri Light"/>
              <a:cs typeface="Calibri Light"/>
            </a:endParaRPr>
          </a:p>
          <a:p>
            <a:pPr marL="81280" marR="5080" indent="-68580">
              <a:lnSpc>
                <a:spcPts val="1600"/>
              </a:lnSpc>
              <a:spcBef>
                <a:spcPts val="1120"/>
              </a:spcBef>
              <a:buFont typeface="Arial MT"/>
              <a:buChar char="•"/>
              <a:tabLst>
                <a:tab pos="81280" algn="l"/>
                <a:tab pos="124460" algn="l"/>
              </a:tabLst>
            </a:pPr>
            <a:r>
              <a:rPr sz="1500" dirty="0">
                <a:latin typeface="Calibri Light"/>
                <a:cs typeface="Calibri Light"/>
              </a:rPr>
              <a:t>	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output</a:t>
            </a:r>
            <a:r>
              <a:rPr sz="1500" spc="-3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r>
              <a:rPr sz="1500" spc="-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most</a:t>
            </a:r>
            <a:r>
              <a:rPr sz="1500" spc="-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sensors</a:t>
            </a:r>
            <a:r>
              <a:rPr sz="1500" spc="-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is</a:t>
            </a:r>
            <a:r>
              <a:rPr sz="1500" spc="-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continuous</a:t>
            </a:r>
            <a:r>
              <a:rPr sz="1500" spc="-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voltage</a:t>
            </a:r>
            <a:r>
              <a:rPr sz="15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Calibri Light"/>
                <a:cs typeface="Calibri Light"/>
              </a:rPr>
              <a:t>waveform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whose</a:t>
            </a:r>
            <a:r>
              <a:rPr sz="1500" spc="-3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amplitude</a:t>
            </a:r>
            <a:r>
              <a:rPr sz="1500" spc="-8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and</a:t>
            </a:r>
            <a:r>
              <a:rPr sz="1500" spc="-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spatial behavior</a:t>
            </a:r>
            <a:r>
              <a:rPr sz="1500" spc="-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are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related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to the</a:t>
            </a:r>
            <a:r>
              <a:rPr sz="1500" spc="-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20" dirty="0">
                <a:solidFill>
                  <a:srgbClr val="404040"/>
                </a:solidFill>
                <a:latin typeface="Calibri Light"/>
                <a:cs typeface="Calibri Light"/>
              </a:rPr>
              <a:t>physical</a:t>
            </a:r>
            <a:r>
              <a:rPr sz="1500" spc="-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phenomenon</a:t>
            </a:r>
            <a:r>
              <a:rPr sz="1500" spc="-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being</a:t>
            </a:r>
            <a:r>
              <a:rPr sz="1500" spc="-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sensed.</a:t>
            </a:r>
            <a:endParaRPr sz="1500">
              <a:latin typeface="Calibri Light"/>
              <a:cs typeface="Calibri Light"/>
            </a:endParaRPr>
          </a:p>
          <a:p>
            <a:pPr marL="124460" indent="-111760">
              <a:lnSpc>
                <a:spcPct val="100000"/>
              </a:lnSpc>
              <a:spcBef>
                <a:spcPts val="780"/>
              </a:spcBef>
              <a:buClr>
                <a:srgbClr val="E28312"/>
              </a:buClr>
              <a:buFont typeface="Arial MT"/>
              <a:buChar char="•"/>
              <a:tabLst>
                <a:tab pos="124460" algn="l"/>
              </a:tabLst>
            </a:pP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We</a:t>
            </a:r>
            <a:r>
              <a:rPr sz="1500" spc="-4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need</a:t>
            </a:r>
            <a:r>
              <a:rPr sz="1500" spc="-6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to</a:t>
            </a:r>
            <a:r>
              <a:rPr sz="1500" spc="-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convert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1500" spc="-6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continuous</a:t>
            </a:r>
            <a:r>
              <a:rPr sz="1500" spc="-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sensed</a:t>
            </a:r>
            <a:r>
              <a:rPr sz="1500" spc="-5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data</a:t>
            </a:r>
            <a:r>
              <a:rPr sz="1500" spc="-8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into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dirty="0">
                <a:solidFill>
                  <a:srgbClr val="404040"/>
                </a:solidFill>
                <a:latin typeface="Calibri Light"/>
                <a:cs typeface="Calibri Light"/>
              </a:rPr>
              <a:t>a</a:t>
            </a:r>
            <a:r>
              <a:rPr sz="1500" spc="-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digital</a:t>
            </a:r>
            <a:r>
              <a:rPr sz="1500" spc="-10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format.</a:t>
            </a:r>
            <a:endParaRPr sz="15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00" spc="-20" dirty="0">
                <a:solidFill>
                  <a:srgbClr val="404040"/>
                </a:solidFill>
                <a:latin typeface="Calibri Light"/>
                <a:cs typeface="Calibri Light"/>
              </a:rPr>
              <a:t>Techniques</a:t>
            </a:r>
            <a:r>
              <a:rPr sz="1500" spc="-1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1500" spc="-50" dirty="0">
                <a:solidFill>
                  <a:srgbClr val="404040"/>
                </a:solidFill>
                <a:latin typeface="Calibri Light"/>
                <a:cs typeface="Calibri Light"/>
              </a:rPr>
              <a:t>–</a:t>
            </a:r>
            <a:endParaRPr sz="1500">
              <a:latin typeface="Calibri Light"/>
              <a:cs typeface="Calibri Light"/>
            </a:endParaRPr>
          </a:p>
          <a:p>
            <a:pPr marL="239395" indent="-182880">
              <a:lnSpc>
                <a:spcPct val="100000"/>
              </a:lnSpc>
              <a:spcBef>
                <a:spcPts val="905"/>
              </a:spcBef>
              <a:buClr>
                <a:srgbClr val="000000"/>
              </a:buClr>
              <a:buAutoNum type="arabicPeriod"/>
              <a:tabLst>
                <a:tab pos="239395" algn="l"/>
              </a:tabLst>
            </a:pP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Sampling</a:t>
            </a:r>
            <a:endParaRPr sz="1500">
              <a:latin typeface="Calibri Light"/>
              <a:cs typeface="Calibri Light"/>
            </a:endParaRPr>
          </a:p>
          <a:p>
            <a:pPr marL="239395" indent="-182880">
              <a:lnSpc>
                <a:spcPct val="100000"/>
              </a:lnSpc>
              <a:spcBef>
                <a:spcPts val="900"/>
              </a:spcBef>
              <a:buClr>
                <a:srgbClr val="000000"/>
              </a:buClr>
              <a:buAutoNum type="arabicPeriod"/>
              <a:tabLst>
                <a:tab pos="239395" algn="l"/>
              </a:tabLst>
            </a:pPr>
            <a:r>
              <a:rPr sz="1500" spc="-10" dirty="0">
                <a:solidFill>
                  <a:srgbClr val="404040"/>
                </a:solidFill>
                <a:latin typeface="Calibri Light"/>
                <a:cs typeface="Calibri Light"/>
              </a:rPr>
              <a:t>Quantization</a:t>
            </a:r>
            <a:endParaRPr sz="1500">
              <a:latin typeface="Calibri Light"/>
              <a:cs typeface="Calibri Light"/>
            </a:endParaRPr>
          </a:p>
          <a:p>
            <a:pPr marL="34925">
              <a:lnSpc>
                <a:spcPct val="100000"/>
              </a:lnSpc>
              <a:spcBef>
                <a:spcPts val="1295"/>
              </a:spcBef>
            </a:pPr>
            <a:r>
              <a:rPr sz="1500" spc="-10" dirty="0">
                <a:latin typeface="Calibri Light"/>
                <a:cs typeface="Calibri Light"/>
              </a:rPr>
              <a:t>Sampling</a:t>
            </a:r>
            <a:r>
              <a:rPr sz="1500" spc="-60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and</a:t>
            </a:r>
            <a:r>
              <a:rPr sz="1500" spc="-55" dirty="0">
                <a:latin typeface="Calibri Light"/>
                <a:cs typeface="Calibri Light"/>
              </a:rPr>
              <a:t> </a:t>
            </a:r>
            <a:r>
              <a:rPr sz="1500" spc="-25" dirty="0">
                <a:latin typeface="Calibri Light"/>
                <a:cs typeface="Calibri Light"/>
              </a:rPr>
              <a:t>quantization</a:t>
            </a:r>
            <a:r>
              <a:rPr sz="1500" spc="-80" dirty="0">
                <a:latin typeface="Calibri Light"/>
                <a:cs typeface="Calibri Light"/>
              </a:rPr>
              <a:t> </a:t>
            </a:r>
            <a:r>
              <a:rPr sz="1500" spc="-20" dirty="0">
                <a:latin typeface="Calibri Light"/>
                <a:cs typeface="Calibri Light"/>
              </a:rPr>
              <a:t>operations</a:t>
            </a:r>
            <a:r>
              <a:rPr sz="1500" spc="-90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are</a:t>
            </a:r>
            <a:r>
              <a:rPr sz="1500" spc="-40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part</a:t>
            </a:r>
            <a:r>
              <a:rPr sz="1500" spc="-60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of</a:t>
            </a:r>
            <a:r>
              <a:rPr sz="1500" spc="5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the</a:t>
            </a:r>
            <a:r>
              <a:rPr sz="1500" spc="-45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image</a:t>
            </a:r>
            <a:r>
              <a:rPr sz="1500" spc="-50" dirty="0">
                <a:latin typeface="Calibri Light"/>
                <a:cs typeface="Calibri Light"/>
              </a:rPr>
              <a:t> </a:t>
            </a:r>
            <a:r>
              <a:rPr sz="1500" spc="-20" dirty="0">
                <a:latin typeface="Calibri Light"/>
                <a:cs typeface="Calibri Light"/>
              </a:rPr>
              <a:t>processing</a:t>
            </a:r>
            <a:r>
              <a:rPr sz="1500" spc="-15" dirty="0">
                <a:latin typeface="Calibri Light"/>
                <a:cs typeface="Calibri Light"/>
              </a:rPr>
              <a:t> </a:t>
            </a:r>
            <a:r>
              <a:rPr sz="1500" spc="-20" dirty="0">
                <a:latin typeface="Calibri Light"/>
                <a:cs typeface="Calibri Light"/>
              </a:rPr>
              <a:t>method</a:t>
            </a:r>
            <a:r>
              <a:rPr sz="1500" spc="-80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that</a:t>
            </a:r>
            <a:r>
              <a:rPr sz="1500" spc="-50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converts</a:t>
            </a:r>
            <a:endParaRPr sz="1500">
              <a:latin typeface="Calibri Light"/>
              <a:cs typeface="Calibri Light"/>
            </a:endParaRPr>
          </a:p>
          <a:p>
            <a:pPr marL="34925">
              <a:lnSpc>
                <a:spcPct val="100000"/>
              </a:lnSpc>
            </a:pPr>
            <a:r>
              <a:rPr sz="1500" spc="-20" dirty="0">
                <a:latin typeface="Calibri Light"/>
                <a:cs typeface="Calibri Light"/>
              </a:rPr>
              <a:t>continuous</a:t>
            </a:r>
            <a:r>
              <a:rPr sz="1500" spc="-110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voltage</a:t>
            </a:r>
            <a:r>
              <a:rPr sz="1500" spc="-20" dirty="0">
                <a:latin typeface="Calibri Light"/>
                <a:cs typeface="Calibri Light"/>
              </a:rPr>
              <a:t> signals</a:t>
            </a:r>
            <a:r>
              <a:rPr sz="1500" spc="-70" dirty="0">
                <a:latin typeface="Calibri Light"/>
                <a:cs typeface="Calibri Light"/>
              </a:rPr>
              <a:t> </a:t>
            </a:r>
            <a:r>
              <a:rPr sz="1500" spc="-20" dirty="0">
                <a:latin typeface="Calibri Light"/>
                <a:cs typeface="Calibri Light"/>
              </a:rPr>
              <a:t>obtained</a:t>
            </a:r>
            <a:r>
              <a:rPr sz="1500" spc="-50" dirty="0">
                <a:latin typeface="Calibri Light"/>
                <a:cs typeface="Calibri Light"/>
              </a:rPr>
              <a:t> </a:t>
            </a:r>
            <a:r>
              <a:rPr sz="1500" spc="-20" dirty="0">
                <a:latin typeface="Calibri Light"/>
                <a:cs typeface="Calibri Light"/>
              </a:rPr>
              <a:t>from sensors</a:t>
            </a:r>
            <a:r>
              <a:rPr sz="1500" spc="-55" dirty="0">
                <a:latin typeface="Calibri Light"/>
                <a:cs typeface="Calibri Light"/>
              </a:rPr>
              <a:t> </a:t>
            </a:r>
            <a:r>
              <a:rPr sz="1500" dirty="0">
                <a:latin typeface="Calibri Light"/>
                <a:cs typeface="Calibri Light"/>
              </a:rPr>
              <a:t>into</a:t>
            </a:r>
            <a:r>
              <a:rPr sz="1500" spc="-20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digital</a:t>
            </a:r>
            <a:r>
              <a:rPr sz="1500" spc="-50" dirty="0">
                <a:latin typeface="Calibri Light"/>
                <a:cs typeface="Calibri Light"/>
              </a:rPr>
              <a:t> </a:t>
            </a:r>
            <a:r>
              <a:rPr sz="1500" spc="-10" dirty="0">
                <a:latin typeface="Calibri Light"/>
                <a:cs typeface="Calibri Light"/>
              </a:rPr>
              <a:t>images.</a:t>
            </a:r>
            <a:endParaRPr sz="15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0"/>
              </a:spcBef>
            </a:pPr>
            <a:r>
              <a:rPr sz="3200" spc="-30" dirty="0"/>
              <a:t>Sampling</a:t>
            </a:r>
            <a:r>
              <a:rPr sz="3200" spc="-150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25" dirty="0"/>
              <a:t>Quantization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1160" y="1103375"/>
            <a:ext cx="593293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0"/>
              </a:spcBef>
            </a:pPr>
            <a:r>
              <a:rPr sz="3200" spc="-30" dirty="0"/>
              <a:t>Sampling</a:t>
            </a:r>
            <a:r>
              <a:rPr sz="3200" spc="-150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25" dirty="0"/>
              <a:t>Quantization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139" y="1360932"/>
            <a:ext cx="2679192" cy="22158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14671" y="1327403"/>
            <a:ext cx="4035552" cy="24886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9"/>
            <a:ext cx="9144000" cy="393700"/>
            <a:chOff x="0" y="4750309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1523" y="4800599"/>
              <a:ext cx="9142730" cy="342900"/>
            </a:xfrm>
            <a:custGeom>
              <a:avLst/>
              <a:gdLst/>
              <a:ahLst/>
              <a:cxnLst/>
              <a:rect l="l" t="t" r="r" b="b"/>
              <a:pathLst>
                <a:path w="9142730" h="342900">
                  <a:moveTo>
                    <a:pt x="9142476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2476" y="342900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9"/>
              <a:ext cx="9142730" cy="48895"/>
            </a:xfrm>
            <a:custGeom>
              <a:avLst/>
              <a:gdLst/>
              <a:ahLst/>
              <a:cxnLst/>
              <a:rect l="l" t="t" r="r" b="b"/>
              <a:pathLst>
                <a:path w="9142730" h="48895">
                  <a:moveTo>
                    <a:pt x="9142476" y="0"/>
                  </a:moveTo>
                  <a:lnTo>
                    <a:pt x="0" y="0"/>
                  </a:lnTo>
                  <a:lnTo>
                    <a:pt x="0" y="48766"/>
                  </a:lnTo>
                  <a:lnTo>
                    <a:pt x="9142476" y="48766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831" y="1011936"/>
            <a:ext cx="4511040" cy="285140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48096" y="1250696"/>
            <a:ext cx="3116580" cy="2084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5"/>
              </a:spcBef>
              <a:buClr>
                <a:srgbClr val="221F1F"/>
              </a:buClr>
              <a:buFont typeface="Arial MT"/>
              <a:buChar char="•"/>
              <a:tabLst>
                <a:tab pos="228600" algn="l"/>
              </a:tabLst>
            </a:pP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An</a:t>
            </a:r>
            <a:r>
              <a:rPr sz="1350" spc="-5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image may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be</a:t>
            </a:r>
            <a:r>
              <a:rPr sz="1350" spc="-5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continuous</a:t>
            </a:r>
            <a:r>
              <a:rPr sz="1350" spc="-5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with</a:t>
            </a:r>
            <a:r>
              <a:rPr sz="1350" spc="-1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respect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sz="135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35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221F1F"/>
                </a:solidFill>
                <a:latin typeface="Times New Roman"/>
                <a:cs typeface="Times New Roman"/>
              </a:rPr>
              <a:t>x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-</a:t>
            </a:r>
            <a:r>
              <a:rPr sz="135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sz="1350" spc="-5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i="1" spc="-25" dirty="0">
                <a:solidFill>
                  <a:srgbClr val="221F1F"/>
                </a:solidFill>
                <a:latin typeface="Times New Roman"/>
                <a:cs typeface="Times New Roman"/>
              </a:rPr>
              <a:t>y</a:t>
            </a:r>
            <a:r>
              <a:rPr sz="1350" spc="-25" dirty="0">
                <a:solidFill>
                  <a:srgbClr val="221F1F"/>
                </a:solidFill>
                <a:latin typeface="Times New Roman"/>
                <a:cs typeface="Times New Roman"/>
              </a:rPr>
              <a:t>-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coordinates,</a:t>
            </a:r>
            <a:r>
              <a:rPr sz="135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also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Times New Roman"/>
                <a:cs typeface="Times New Roman"/>
              </a:rPr>
              <a:t>in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amplitude.</a:t>
            </a:r>
            <a:endParaRPr sz="1350">
              <a:latin typeface="Times New Roman"/>
              <a:cs typeface="Times New Roman"/>
            </a:endParaRPr>
          </a:p>
          <a:p>
            <a:pPr marL="228600" marR="187960" indent="-21653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28600" algn="l"/>
              </a:tabLst>
            </a:pPr>
            <a:r>
              <a:rPr sz="1350" spc="-20" dirty="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sz="1350" spc="-7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digitize</a:t>
            </a:r>
            <a:r>
              <a:rPr sz="135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it,</a:t>
            </a:r>
            <a:r>
              <a:rPr sz="135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we</a:t>
            </a:r>
            <a:r>
              <a:rPr sz="1350" spc="-3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have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to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sample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Times New Roman"/>
                <a:cs typeface="Times New Roman"/>
              </a:rPr>
              <a:t>the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function</a:t>
            </a:r>
            <a:r>
              <a:rPr sz="1350" spc="-2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in</a:t>
            </a:r>
            <a:r>
              <a:rPr sz="1350" spc="-2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both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coordinates</a:t>
            </a:r>
            <a:r>
              <a:rPr sz="1350" spc="-5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and</a:t>
            </a:r>
            <a:r>
              <a:rPr sz="1350" spc="-3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also</a:t>
            </a:r>
            <a:r>
              <a:rPr sz="1350" spc="-25" dirty="0">
                <a:solidFill>
                  <a:srgbClr val="221F1F"/>
                </a:solidFill>
                <a:latin typeface="Times New Roman"/>
                <a:cs typeface="Times New Roman"/>
              </a:rPr>
              <a:t> in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amplitude.</a:t>
            </a:r>
            <a:endParaRPr sz="1350">
              <a:latin typeface="Times New Roman"/>
              <a:cs typeface="Times New Roman"/>
            </a:endParaRPr>
          </a:p>
          <a:p>
            <a:pPr marL="228600" indent="-215900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28600" algn="l"/>
              </a:tabLst>
            </a:pP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Digitizing</a:t>
            </a:r>
            <a:r>
              <a:rPr sz="1350" spc="-4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350" spc="-7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coordinate</a:t>
            </a:r>
            <a:r>
              <a:rPr sz="1350" spc="-8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values</a:t>
            </a:r>
            <a:r>
              <a:rPr sz="1350" spc="-6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is</a:t>
            </a:r>
            <a:r>
              <a:rPr sz="1350" spc="-4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called</a:t>
            </a:r>
            <a:endParaRPr sz="13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  <a:spcBef>
                <a:spcPts val="5"/>
              </a:spcBef>
            </a:pP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sampling.</a:t>
            </a:r>
            <a:endParaRPr sz="1350">
              <a:latin typeface="Times New Roman"/>
              <a:cs typeface="Times New Roman"/>
            </a:endParaRPr>
          </a:p>
          <a:p>
            <a:pPr marL="228600" marR="137795" indent="-216535">
              <a:lnSpc>
                <a:spcPct val="100000"/>
              </a:lnSpc>
              <a:buClr>
                <a:srgbClr val="000000"/>
              </a:buClr>
              <a:buFont typeface="Arial MT"/>
              <a:buChar char="•"/>
              <a:tabLst>
                <a:tab pos="228600" algn="l"/>
              </a:tabLst>
            </a:pP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Digitizing</a:t>
            </a:r>
            <a:r>
              <a:rPr sz="1350" spc="-50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the</a:t>
            </a:r>
            <a:r>
              <a:rPr sz="1350" spc="-7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amplitude</a:t>
            </a:r>
            <a:r>
              <a:rPr sz="1350" spc="-4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values</a:t>
            </a:r>
            <a:r>
              <a:rPr sz="1350" spc="-8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221F1F"/>
                </a:solidFill>
                <a:latin typeface="Times New Roman"/>
                <a:cs typeface="Times New Roman"/>
              </a:rPr>
              <a:t>is</a:t>
            </a:r>
            <a:r>
              <a:rPr sz="1350" spc="-45" dirty="0">
                <a:solidFill>
                  <a:srgbClr val="221F1F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Times New Roman"/>
                <a:cs typeface="Times New Roman"/>
              </a:rPr>
              <a:t>called quantization.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/>
              <a:t>Sampling</a:t>
            </a:r>
            <a:r>
              <a:rPr sz="1800" spc="-70" dirty="0"/>
              <a:t> </a:t>
            </a:r>
            <a:r>
              <a:rPr sz="1800" spc="-25" dirty="0"/>
              <a:t>and</a:t>
            </a:r>
            <a:endParaRPr sz="1800"/>
          </a:p>
          <a:p>
            <a:pPr marL="12700">
              <a:lnSpc>
                <a:spcPct val="100000"/>
              </a:lnSpc>
            </a:pPr>
            <a:r>
              <a:rPr sz="1800" spc="-10" dirty="0"/>
              <a:t>Quantization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6111" y="1304544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Sampling</a:t>
            </a:r>
            <a:r>
              <a:rPr spc="-175" dirty="0"/>
              <a:t> </a:t>
            </a:r>
            <a:r>
              <a:rPr spc="-20" dirty="0"/>
              <a:t>and</a:t>
            </a:r>
            <a:r>
              <a:rPr spc="-155" dirty="0"/>
              <a:t> </a:t>
            </a:r>
            <a:r>
              <a:rPr spc="-30" dirty="0"/>
              <a:t>Quantization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8216" y="1813560"/>
            <a:ext cx="5716524" cy="22006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0"/>
              </a:spcBef>
            </a:pPr>
            <a:r>
              <a:rPr sz="3200" spc="-30" dirty="0"/>
              <a:t>Sampling</a:t>
            </a:r>
            <a:r>
              <a:rPr sz="3200" spc="-150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25" dirty="0"/>
              <a:t>Quantization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416" y="832103"/>
            <a:ext cx="4789932" cy="373684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30"/>
              </a:spcBef>
            </a:pPr>
            <a:r>
              <a:rPr sz="3200" spc="-30" dirty="0"/>
              <a:t>Sampling</a:t>
            </a:r>
            <a:r>
              <a:rPr sz="3200" spc="-150" dirty="0"/>
              <a:t> </a:t>
            </a:r>
            <a:r>
              <a:rPr sz="3200" dirty="0"/>
              <a:t>and</a:t>
            </a:r>
            <a:r>
              <a:rPr sz="3200" spc="-150" dirty="0"/>
              <a:t> </a:t>
            </a:r>
            <a:r>
              <a:rPr sz="3200" spc="-25" dirty="0"/>
              <a:t>Quantization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312" y="1447800"/>
            <a:ext cx="7903464" cy="23225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Spatial</a:t>
            </a:r>
            <a:r>
              <a:rPr spc="-105" dirty="0"/>
              <a:t> </a:t>
            </a:r>
            <a:r>
              <a:rPr spc="-30" dirty="0"/>
              <a:t>Resolution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4984" y="1353311"/>
            <a:ext cx="3819144" cy="295351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600200"/>
            <a:ext cx="3480816" cy="2139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83277" y="4419091"/>
            <a:ext cx="19380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Calibri"/>
                <a:cs typeface="Calibri"/>
              </a:rPr>
              <a:t>DPI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stands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Dots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per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Inch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6111" y="1304544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Intensity </a:t>
            </a:r>
            <a:r>
              <a:rPr spc="-30" dirty="0"/>
              <a:t>Resolution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1746504"/>
            <a:ext cx="70408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08076" y="777240"/>
            <a:ext cx="8292465" cy="3749040"/>
            <a:chOff x="608076" y="777240"/>
            <a:chExt cx="8292465" cy="3749040"/>
          </a:xfrm>
        </p:grpSpPr>
        <p:sp>
          <p:nvSpPr>
            <p:cNvPr id="6" name="object 6"/>
            <p:cNvSpPr/>
            <p:nvPr/>
          </p:nvSpPr>
          <p:spPr>
            <a:xfrm>
              <a:off x="896112" y="1304544"/>
              <a:ext cx="7475220" cy="0"/>
            </a:xfrm>
            <a:custGeom>
              <a:avLst/>
              <a:gdLst/>
              <a:ahLst/>
              <a:cxnLst/>
              <a:rect l="l" t="t" r="r" b="b"/>
              <a:pathLst>
                <a:path w="7475220">
                  <a:moveTo>
                    <a:pt x="0" y="0"/>
                  </a:moveTo>
                  <a:lnTo>
                    <a:pt x="7475219" y="0"/>
                  </a:lnTo>
                </a:path>
              </a:pathLst>
            </a:custGeom>
            <a:ln w="6350">
              <a:solidFill>
                <a:srgbClr val="7D7D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8076" y="777240"/>
              <a:ext cx="8292083" cy="37490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26414" y="116840"/>
            <a:ext cx="3329304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spc="-45" dirty="0"/>
              <a:t>Intensity</a:t>
            </a:r>
            <a:r>
              <a:rPr sz="3200" spc="-110" dirty="0"/>
              <a:t> </a:t>
            </a:r>
            <a:r>
              <a:rPr sz="3200" spc="-10" dirty="0"/>
              <a:t>Resolution</a:t>
            </a:r>
            <a:endParaRPr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750308"/>
            <a:ext cx="9144000" cy="393700"/>
            <a:chOff x="0" y="4750308"/>
            <a:chExt cx="9144000" cy="393700"/>
          </a:xfrm>
        </p:grpSpPr>
        <p:sp>
          <p:nvSpPr>
            <p:cNvPr id="3" name="object 3"/>
            <p:cNvSpPr/>
            <p:nvPr/>
          </p:nvSpPr>
          <p:spPr>
            <a:xfrm>
              <a:off x="0" y="4800599"/>
              <a:ext cx="9144000" cy="342900"/>
            </a:xfrm>
            <a:custGeom>
              <a:avLst/>
              <a:gdLst/>
              <a:ahLst/>
              <a:cxnLst/>
              <a:rect l="l" t="t" r="r" b="b"/>
              <a:pathLst>
                <a:path w="9144000" h="342900">
                  <a:moveTo>
                    <a:pt x="914400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9144000" y="3429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750308"/>
              <a:ext cx="9144000" cy="50800"/>
            </a:xfrm>
            <a:custGeom>
              <a:avLst/>
              <a:gdLst/>
              <a:ahLst/>
              <a:cxnLst/>
              <a:rect l="l" t="t" r="r" b="b"/>
              <a:pathLst>
                <a:path w="9144000" h="50800">
                  <a:moveTo>
                    <a:pt x="9144000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9144000" y="50291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896111" y="1304544"/>
            <a:ext cx="7475220" cy="0"/>
          </a:xfrm>
          <a:custGeom>
            <a:avLst/>
            <a:gdLst/>
            <a:ahLst/>
            <a:cxnLst/>
            <a:rect l="l" t="t" r="r" b="b"/>
            <a:pathLst>
              <a:path w="7475220">
                <a:moveTo>
                  <a:pt x="0" y="0"/>
                </a:moveTo>
                <a:lnTo>
                  <a:pt x="7475219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749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Spatial</a:t>
            </a:r>
            <a:r>
              <a:rPr spc="-125" dirty="0"/>
              <a:t> </a:t>
            </a:r>
            <a:r>
              <a:rPr spc="-20" dirty="0"/>
              <a:t>and</a:t>
            </a:r>
            <a:r>
              <a:rPr spc="-120" dirty="0"/>
              <a:t> </a:t>
            </a:r>
            <a:r>
              <a:rPr spc="-60" dirty="0"/>
              <a:t>Intensity</a:t>
            </a:r>
            <a:r>
              <a:rPr spc="-100" dirty="0"/>
              <a:t> </a:t>
            </a:r>
            <a:r>
              <a:rPr spc="-10" dirty="0"/>
              <a:t>Resolution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" y="1431036"/>
            <a:ext cx="4736592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961" y="602360"/>
            <a:ext cx="6060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Some</a:t>
            </a:r>
            <a:r>
              <a:rPr spc="-200" dirty="0"/>
              <a:t> </a:t>
            </a:r>
            <a:r>
              <a:rPr spc="-60" dirty="0"/>
              <a:t>ways</a:t>
            </a:r>
            <a:r>
              <a:rPr spc="-195" dirty="0"/>
              <a:t> </a:t>
            </a:r>
            <a:r>
              <a:rPr spc="-20" dirty="0"/>
              <a:t>to</a:t>
            </a:r>
            <a:r>
              <a:rPr spc="-165" dirty="0"/>
              <a:t> </a:t>
            </a:r>
            <a:r>
              <a:rPr spc="-55" dirty="0"/>
              <a:t>display</a:t>
            </a:r>
            <a:r>
              <a:rPr spc="-165" dirty="0"/>
              <a:t> </a:t>
            </a:r>
            <a:r>
              <a:rPr spc="-20" dirty="0"/>
              <a:t>and</a:t>
            </a:r>
            <a:r>
              <a:rPr spc="-130" dirty="0"/>
              <a:t> </a:t>
            </a:r>
            <a:r>
              <a:rPr spc="-65" dirty="0"/>
              <a:t>resize</a:t>
            </a:r>
            <a:r>
              <a:rPr spc="-204" dirty="0"/>
              <a:t> </a:t>
            </a:r>
            <a:r>
              <a:rPr dirty="0"/>
              <a:t>images</a:t>
            </a:r>
            <a:r>
              <a:rPr spc="20" dirty="0"/>
              <a:t> </a:t>
            </a:r>
            <a:r>
              <a:rPr spc="-10" dirty="0"/>
              <a:t>in</a:t>
            </a:r>
            <a:r>
              <a:rPr spc="-140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pc="-10" dirty="0"/>
              <a:t>Link:</a:t>
            </a:r>
          </a:p>
          <a:p>
            <a:pPr marL="12700" marR="5080">
              <a:lnSpc>
                <a:spcPts val="2700"/>
              </a:lnSpc>
              <a:spcBef>
                <a:spcPts val="240"/>
              </a:spcBef>
            </a:pPr>
            <a:r>
              <a:rPr u="sng" spc="-3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2"/>
              </a:rPr>
              <a:t>https://www.askpython.com/python/examples/display-images-</a:t>
            </a:r>
            <a:r>
              <a:rPr u="sng" spc="-25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2"/>
              </a:rPr>
              <a:t>using-</a:t>
            </a:r>
            <a:r>
              <a:rPr u="sng" spc="-1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2"/>
              </a:rPr>
              <a:t>python</a:t>
            </a:r>
            <a:r>
              <a:rPr spc="-10" dirty="0">
                <a:solidFill>
                  <a:srgbClr val="CC9900"/>
                </a:solidFill>
              </a:rPr>
              <a:t> </a:t>
            </a:r>
            <a:r>
              <a:rPr spc="-10" dirty="0"/>
              <a:t>Link:</a:t>
            </a: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u="sng" spc="-3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https://www.dopinger.com/blog/how-</a:t>
            </a:r>
            <a:r>
              <a:rPr u="sng" spc="-25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to-</a:t>
            </a:r>
            <a:r>
              <a:rPr u="sng" spc="-4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resize-</a:t>
            </a:r>
            <a:r>
              <a:rPr u="sng" spc="-25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an-</a:t>
            </a:r>
            <a:r>
              <a:rPr u="sng" spc="-2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image-</a:t>
            </a:r>
            <a:r>
              <a:rPr u="sng" spc="-25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in-</a:t>
            </a:r>
            <a:r>
              <a:rPr u="sng" spc="-10" dirty="0">
                <a:solidFill>
                  <a:srgbClr val="CC9900"/>
                </a:solidFill>
                <a:uFill>
                  <a:solidFill>
                    <a:srgbClr val="8A8A8A"/>
                  </a:solidFill>
                </a:uFill>
                <a:hlinkClick r:id="rId3"/>
              </a:rPr>
              <a:t>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891</Words>
  <Application>Microsoft Office PowerPoint</Application>
  <PresentationFormat>On-screen Show (16:9)</PresentationFormat>
  <Paragraphs>108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MT</vt:lpstr>
      <vt:lpstr>Calibri</vt:lpstr>
      <vt:lpstr>Calibri Light</vt:lpstr>
      <vt:lpstr>Times New Roman</vt:lpstr>
      <vt:lpstr>Office Theme</vt:lpstr>
      <vt:lpstr>Intro to Digital Images and their Processing</vt:lpstr>
      <vt:lpstr>Image – Digital Image</vt:lpstr>
      <vt:lpstr>PowerPoint Presentation</vt:lpstr>
      <vt:lpstr>Types of an image</vt:lpstr>
      <vt:lpstr>Bitmap image</vt:lpstr>
      <vt:lpstr>Grayscale Image – 8 bit</vt:lpstr>
      <vt:lpstr>RGB – 24 bit</vt:lpstr>
      <vt:lpstr>How a computer sees the numbers 0 to 255</vt:lpstr>
      <vt:lpstr>Image as a Matrix</vt:lpstr>
      <vt:lpstr>Consider the following image (2724x2336 pixels) to be 2D function or a matrix with rows and columns</vt:lpstr>
      <vt:lpstr>From Camera to Digital Image</vt:lpstr>
      <vt:lpstr>From Camera to Digital Image</vt:lpstr>
      <vt:lpstr>From Camera to Digital Image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Sampling and Quantization</vt:lpstr>
      <vt:lpstr>Spatial Resolution</vt:lpstr>
      <vt:lpstr>Intensity Resolution</vt:lpstr>
      <vt:lpstr>Intensity Resolution</vt:lpstr>
      <vt:lpstr>Spatial and Intensity Resolution</vt:lpstr>
      <vt:lpstr>Some ways to display and resize images in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Introduction!</dc:title>
  <dc:creator>Admin</dc:creator>
  <cp:lastModifiedBy> </cp:lastModifiedBy>
  <cp:revision>2</cp:revision>
  <dcterms:created xsi:type="dcterms:W3CDTF">2025-02-23T08:34:06Z</dcterms:created>
  <dcterms:modified xsi:type="dcterms:W3CDTF">2025-07-28T05:34:44Z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2025-02-23T00:00:00Z</vt:filetime>
  </property>
  <property fmtid="{D5CDD505-2E9C-101B-9397-08002B2CF9AE}" pid="5" name="Producer">
    <vt:lpwstr>Microsoft® PowerPoint® 2019</vt:lpwstr>
  </property>
</Properties>
</file>